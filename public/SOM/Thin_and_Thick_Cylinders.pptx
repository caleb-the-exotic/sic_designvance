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E2A"/>
    <a:srgbClr val="001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667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CF38E-18F5-5C16-C600-FEE54D6B4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3427D-A616-42A8-3B37-8497A5378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7A083-F341-71CF-7B59-5A2DC55542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59CA9A-629E-C057-CF99-782ADD3CD6C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41463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8E16-6A73-1AAF-0DBA-4BA42E461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62657-CB48-27F7-18B6-4FB5DD6A3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D93D2-7922-19F3-E565-7D510FAE5F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114F91-DE4D-C028-CD6C-BDC56FEAF7D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28075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73D48-597F-68AA-AB21-417E6ABA3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1E824-8127-94FE-BC39-9B1C4C62D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B0B5E-4230-2122-E7BF-374A0083E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36B286-2F45-F7A7-5287-4DBC3142D8E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00141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5DE7-1923-4272-0B9B-EE6C80EAF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3BB5C-45EE-1813-D17A-91C021786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12455-109A-1EE3-B1DA-88BBB2EE15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5E444-4FB9-5181-3B48-72B1DADDC20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47018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0B92-D5F1-374F-D9F0-AFC9329C0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92001-783E-05F0-3C2D-2D3621F5B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C23A1-C5B5-E00E-E5CA-163EBDFBD7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07482E-595C-01D9-7091-5B2DDCA7553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22816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5554-E852-2032-CA87-0E7C1D053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90364-7A6F-3ABB-C348-32B1FFB2A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C5496-9DE7-98C7-81F7-92A7442746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D65F62-A103-008E-74D7-CFBB18457D5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97704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EBDC-2048-FA59-1D5E-743B5B3C6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ECA5A-6BD4-3B9F-0C29-F51FB8081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70E26-5C52-222E-E78C-F3CF1B287E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E7F0B4-245A-E980-0988-DD8EDB22EE1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35479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4DD17-E0EC-D962-4833-5848A8216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67798-A842-8DD3-4780-F9C97ABE6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339E9-58F4-8D60-8508-E4E87D176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A75113-ED9F-D9F5-9A27-8B6B707D7EA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46147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DF55-1989-75CF-08E0-FE2EBDAD6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7CB53-6A88-43A8-9D0E-3AE0C14B4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5C33F-6E09-744C-8731-441E562542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439EFF-457F-51BF-F912-00E05F62561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88174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8DEE3-8DCC-F44E-4679-DFFAA3462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021CB-C148-7581-C9F7-963289881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BA884-414B-CE55-4C6A-A1C3E01AE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01DB6-BE1A-9F8F-B478-1184459C331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50078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002060"/>
            </a:gs>
            <a:gs pos="100000">
              <a:srgbClr val="000E2A"/>
            </a:gs>
          </a:gsLst>
          <a:lin ang="2700000" scaled="0"/>
        </a:gradFill>
        <a:effectLst/>
      </p:bgPr>
    </p:bg>
    <p:spTree>
      <p:nvGrpSpPr>
        <p:cNvPr id="1" name=""/>
        <p:cNvGrpSpPr/>
        <p:nvPr/>
      </p:nvGrpSpPr>
      <p:grpSpPr>
        <a:xfrm>
          <a:off x="0" y="0"/>
          <a:ext cx="0" cy="0"/>
          <a:chOff x="0" y="0"/>
          <a:chExt cx="0" cy="0"/>
        </a:xfrm>
      </p:grpSpPr>
      <p:sp>
        <p:nvSpPr>
          <p:cNvPr id="4" name="Text 2"/>
          <p:cNvSpPr txBox="1"/>
          <p:nvPr/>
        </p:nvSpPr>
        <p:spPr>
          <a:xfrm>
            <a:off x="731520" y="1828800"/>
            <a:ext cx="8229600" cy="365760"/>
          </a:xfrm>
          <a:prstGeom prst="rect">
            <a:avLst/>
          </a:prstGeom>
          <a:noFill/>
          <a:ln/>
        </p:spPr>
        <p:txBody>
          <a:bodyPr wrap="square" lIns="0" tIns="0" rIns="0" bIns="0" rtlCol="0" anchor="ctr"/>
          <a:lstStyle/>
          <a:p>
            <a:pPr marL="0" indent="0">
              <a:buNone/>
            </a:pPr>
            <a:r>
              <a:rPr lang="en-US" b="1" kern="0" spc="300" dirty="0">
                <a:solidFill>
                  <a:schemeClr val="bg1"/>
                </a:solidFill>
                <a:latin typeface="Calibri" pitchFamily="34" charset="0"/>
                <a:ea typeface="Calibri" pitchFamily="34" charset="-122"/>
                <a:cs typeface="Calibri" pitchFamily="34" charset="-120"/>
              </a:rPr>
              <a:t>STRENGTH OF MATERIALS</a:t>
            </a:r>
            <a:endParaRPr lang="en-US" dirty="0">
              <a:solidFill>
                <a:schemeClr val="bg1"/>
              </a:solidFill>
            </a:endParaRPr>
          </a:p>
        </p:txBody>
      </p:sp>
      <p:sp>
        <p:nvSpPr>
          <p:cNvPr id="5" name="Text 3"/>
          <p:cNvSpPr txBox="1"/>
          <p:nvPr/>
        </p:nvSpPr>
        <p:spPr>
          <a:xfrm>
            <a:off x="731520" y="2240280"/>
            <a:ext cx="96012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Thin and Thick Cylinders</a:t>
            </a:r>
            <a:endParaRPr lang="en-US" sz="4600" dirty="0"/>
          </a:p>
        </p:txBody>
      </p:sp>
      <p:sp>
        <p:nvSpPr>
          <p:cNvPr id="6" name="Text 4"/>
          <p:cNvSpPr txBox="1"/>
          <p:nvPr/>
        </p:nvSpPr>
        <p:spPr>
          <a:xfrm>
            <a:off x="731520" y="3299460"/>
            <a:ext cx="10355580" cy="64008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Pressure vessel classification, hoop &amp; longitudinal stress, dimensional changes, and Lame's theory for thick cylinders</a:t>
            </a:r>
            <a:endParaRPr lang="en-US" sz="1600" i="1" dirty="0"/>
          </a:p>
        </p:txBody>
      </p:sp>
      <p:sp>
        <p:nvSpPr>
          <p:cNvPr id="7" name="Shape 5"/>
          <p:cNvSpPr/>
          <p:nvPr/>
        </p:nvSpPr>
        <p:spPr>
          <a:xfrm>
            <a:off x="531495" y="4591050"/>
            <a:ext cx="2148840" cy="502920"/>
          </a:xfrm>
          <a:prstGeom prst="roundRect">
            <a:avLst>
              <a:gd name="adj" fmla="val 50909"/>
            </a:avLst>
          </a:prstGeom>
          <a:solidFill>
            <a:srgbClr val="2A3573"/>
          </a:solidFill>
          <a:ln w="9525">
            <a:solidFill>
              <a:srgbClr val="CADCFC"/>
            </a:solidFill>
            <a:prstDash val="solid"/>
          </a:ln>
        </p:spPr>
      </p:sp>
      <p:sp>
        <p:nvSpPr>
          <p:cNvPr id="8" name="Text 6"/>
          <p:cNvSpPr txBox="1"/>
          <p:nvPr/>
        </p:nvSpPr>
        <p:spPr>
          <a:xfrm>
            <a:off x="531495" y="4591050"/>
            <a:ext cx="2148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Classification</a:t>
            </a:r>
            <a:endParaRPr lang="en-US" sz="1400" b="1" dirty="0"/>
          </a:p>
        </p:txBody>
      </p:sp>
      <p:sp>
        <p:nvSpPr>
          <p:cNvPr id="9" name="Shape 7"/>
          <p:cNvSpPr/>
          <p:nvPr/>
        </p:nvSpPr>
        <p:spPr>
          <a:xfrm>
            <a:off x="2790063" y="4591050"/>
            <a:ext cx="2148840" cy="502920"/>
          </a:xfrm>
          <a:prstGeom prst="roundRect">
            <a:avLst>
              <a:gd name="adj" fmla="val 50909"/>
            </a:avLst>
          </a:prstGeom>
          <a:solidFill>
            <a:srgbClr val="2A3573"/>
          </a:solidFill>
          <a:ln w="9525">
            <a:solidFill>
              <a:srgbClr val="CADCFC"/>
            </a:solidFill>
            <a:prstDash val="solid"/>
          </a:ln>
        </p:spPr>
      </p:sp>
      <p:sp>
        <p:nvSpPr>
          <p:cNvPr id="10" name="Text 8"/>
          <p:cNvSpPr txBox="1"/>
          <p:nvPr/>
        </p:nvSpPr>
        <p:spPr>
          <a:xfrm>
            <a:off x="2790063" y="4591050"/>
            <a:ext cx="2148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Thin-Shell Stresses</a:t>
            </a:r>
            <a:endParaRPr lang="en-US" sz="1400" b="1" dirty="0"/>
          </a:p>
        </p:txBody>
      </p:sp>
      <p:sp>
        <p:nvSpPr>
          <p:cNvPr id="11" name="Shape 9"/>
          <p:cNvSpPr/>
          <p:nvPr/>
        </p:nvSpPr>
        <p:spPr>
          <a:xfrm>
            <a:off x="5048631" y="4591050"/>
            <a:ext cx="2148840" cy="502920"/>
          </a:xfrm>
          <a:prstGeom prst="roundRect">
            <a:avLst>
              <a:gd name="adj" fmla="val 50909"/>
            </a:avLst>
          </a:prstGeom>
          <a:solidFill>
            <a:srgbClr val="2A3573"/>
          </a:solidFill>
          <a:ln w="9525">
            <a:solidFill>
              <a:srgbClr val="CADCFC"/>
            </a:solidFill>
            <a:prstDash val="solid"/>
          </a:ln>
        </p:spPr>
      </p:sp>
      <p:sp>
        <p:nvSpPr>
          <p:cNvPr id="12" name="Text 10"/>
          <p:cNvSpPr txBox="1"/>
          <p:nvPr/>
        </p:nvSpPr>
        <p:spPr>
          <a:xfrm>
            <a:off x="5048631" y="4591050"/>
            <a:ext cx="2148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Hoop &amp; Longitudinal Stress</a:t>
            </a:r>
            <a:endParaRPr lang="en-US" sz="1400" b="1" dirty="0"/>
          </a:p>
        </p:txBody>
      </p:sp>
      <p:sp>
        <p:nvSpPr>
          <p:cNvPr id="13" name="Shape 11"/>
          <p:cNvSpPr/>
          <p:nvPr/>
        </p:nvSpPr>
        <p:spPr>
          <a:xfrm>
            <a:off x="7307199" y="4591050"/>
            <a:ext cx="2148840" cy="502920"/>
          </a:xfrm>
          <a:prstGeom prst="roundRect">
            <a:avLst>
              <a:gd name="adj" fmla="val 50909"/>
            </a:avLst>
          </a:prstGeom>
          <a:solidFill>
            <a:srgbClr val="2A3573"/>
          </a:solidFill>
          <a:ln w="9525">
            <a:solidFill>
              <a:srgbClr val="CADCFC"/>
            </a:solidFill>
            <a:prstDash val="solid"/>
          </a:ln>
        </p:spPr>
      </p:sp>
      <p:sp>
        <p:nvSpPr>
          <p:cNvPr id="14" name="Text 12"/>
          <p:cNvSpPr txBox="1"/>
          <p:nvPr/>
        </p:nvSpPr>
        <p:spPr>
          <a:xfrm>
            <a:off x="7307199" y="4591050"/>
            <a:ext cx="2148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Dimensional Change</a:t>
            </a:r>
            <a:endParaRPr lang="en-US" sz="1400" b="1" dirty="0"/>
          </a:p>
        </p:txBody>
      </p:sp>
      <p:sp>
        <p:nvSpPr>
          <p:cNvPr id="15" name="Shape 13"/>
          <p:cNvSpPr/>
          <p:nvPr/>
        </p:nvSpPr>
        <p:spPr>
          <a:xfrm>
            <a:off x="9565767" y="4591050"/>
            <a:ext cx="2148840" cy="502920"/>
          </a:xfrm>
          <a:prstGeom prst="roundRect">
            <a:avLst>
              <a:gd name="adj" fmla="val 50909"/>
            </a:avLst>
          </a:prstGeom>
          <a:solidFill>
            <a:srgbClr val="2A3573"/>
          </a:solidFill>
          <a:ln w="9525">
            <a:solidFill>
              <a:srgbClr val="CADCFC"/>
            </a:solidFill>
            <a:prstDash val="solid"/>
          </a:ln>
        </p:spPr>
      </p:sp>
      <p:sp>
        <p:nvSpPr>
          <p:cNvPr id="16" name="Text 14"/>
          <p:cNvSpPr txBox="1"/>
          <p:nvPr/>
        </p:nvSpPr>
        <p:spPr>
          <a:xfrm>
            <a:off x="9565767" y="4591050"/>
            <a:ext cx="2148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Lame's Theory</a:t>
            </a: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1</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Classification of Cylinders</a:t>
            </a:r>
            <a:endParaRPr lang="en-US" sz="2800" dirty="0"/>
          </a:p>
        </p:txBody>
      </p:sp>
      <p:sp>
        <p:nvSpPr>
          <p:cNvPr id="5" name="Shape 3"/>
          <p:cNvSpPr/>
          <p:nvPr/>
        </p:nvSpPr>
        <p:spPr>
          <a:xfrm>
            <a:off x="548640" y="1554480"/>
            <a:ext cx="5394960" cy="4480560"/>
          </a:xfrm>
          <a:prstGeom prst="roundRect">
            <a:avLst>
              <a:gd name="adj" fmla="val 2041"/>
            </a:avLst>
          </a:prstGeom>
          <a:solidFill>
            <a:srgbClr val="F4F7FD"/>
          </a:solidFill>
          <a:ln/>
        </p:spPr>
      </p:sp>
      <p:sp>
        <p:nvSpPr>
          <p:cNvPr id="6" name="Shape 4"/>
          <p:cNvSpPr/>
          <p:nvPr/>
        </p:nvSpPr>
        <p:spPr>
          <a:xfrm>
            <a:off x="822960" y="1828800"/>
            <a:ext cx="457200" cy="457200"/>
          </a:xfrm>
          <a:prstGeom prst="ellipse">
            <a:avLst/>
          </a:prstGeom>
          <a:solidFill>
            <a:srgbClr val="1E2761"/>
          </a:solidFill>
          <a:ln/>
        </p:spPr>
      </p:sp>
      <p:sp>
        <p:nvSpPr>
          <p:cNvPr id="7" name="Text 5"/>
          <p:cNvSpPr txBox="1"/>
          <p:nvPr/>
        </p:nvSpPr>
        <p:spPr>
          <a:xfrm>
            <a:off x="822960" y="1828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463040" y="1847088"/>
            <a:ext cx="4206240"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According to Dimensions</a:t>
            </a:r>
            <a:endParaRPr lang="en-US" sz="1800" dirty="0"/>
          </a:p>
        </p:txBody>
      </p:sp>
      <p:sp>
        <p:nvSpPr>
          <p:cNvPr id="9" name="Text 7"/>
          <p:cNvSpPr txBox="1"/>
          <p:nvPr/>
        </p:nvSpPr>
        <p:spPr>
          <a:xfrm>
            <a:off x="822960" y="2423160"/>
            <a:ext cx="4846320" cy="54864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Vessels are classified by wall thickness t relative to shell diameter d.</a:t>
            </a:r>
            <a:endParaRPr lang="en-US" sz="1300" dirty="0"/>
          </a:p>
        </p:txBody>
      </p:sp>
      <p:sp>
        <p:nvSpPr>
          <p:cNvPr id="10" name="Shape 8"/>
          <p:cNvSpPr/>
          <p:nvPr/>
        </p:nvSpPr>
        <p:spPr>
          <a:xfrm>
            <a:off x="822960" y="3017520"/>
            <a:ext cx="4846320" cy="868680"/>
          </a:xfrm>
          <a:prstGeom prst="roundRect">
            <a:avLst>
              <a:gd name="adj" fmla="val 8421"/>
            </a:avLst>
          </a:prstGeom>
          <a:solidFill>
            <a:srgbClr val="FFFFFF"/>
          </a:solidFill>
          <a:ln/>
        </p:spPr>
      </p:sp>
      <p:sp>
        <p:nvSpPr>
          <p:cNvPr id="11" name="Text 9"/>
          <p:cNvSpPr txBox="1"/>
          <p:nvPr/>
        </p:nvSpPr>
        <p:spPr>
          <a:xfrm>
            <a:off x="987552" y="3090672"/>
            <a:ext cx="451713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Thin Shell</a:t>
            </a:r>
            <a:endParaRPr lang="en-US" sz="1050" dirty="0"/>
          </a:p>
        </p:txBody>
      </p:sp>
      <p:sp>
        <p:nvSpPr>
          <p:cNvPr id="12" name="Text 10"/>
          <p:cNvSpPr txBox="1"/>
          <p:nvPr/>
        </p:nvSpPr>
        <p:spPr>
          <a:xfrm>
            <a:off x="2764079" y="3314101"/>
            <a:ext cx="265481"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t</a:t>
            </a:r>
            <a:endParaRPr lang="en-US" sz="1804" dirty="0"/>
          </a:p>
        </p:txBody>
      </p:sp>
      <p:sp>
        <p:nvSpPr>
          <p:cNvPr id="13" name="Shape 11"/>
          <p:cNvSpPr/>
          <p:nvPr/>
        </p:nvSpPr>
        <p:spPr>
          <a:xfrm>
            <a:off x="2800655" y="3604565"/>
            <a:ext cx="192329" cy="0"/>
          </a:xfrm>
          <a:prstGeom prst="line">
            <a:avLst/>
          </a:prstGeom>
          <a:noFill/>
          <a:ln w="15875">
            <a:solidFill>
              <a:srgbClr val="1E2761"/>
            </a:solidFill>
            <a:prstDash val="solid"/>
          </a:ln>
        </p:spPr>
      </p:sp>
      <p:sp>
        <p:nvSpPr>
          <p:cNvPr id="14" name="Text 12"/>
          <p:cNvSpPr txBox="1"/>
          <p:nvPr/>
        </p:nvSpPr>
        <p:spPr>
          <a:xfrm>
            <a:off x="2764079" y="3625596"/>
            <a:ext cx="265481"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d</a:t>
            </a:r>
            <a:endParaRPr lang="en-US" sz="1804" dirty="0"/>
          </a:p>
        </p:txBody>
      </p:sp>
      <p:sp>
        <p:nvSpPr>
          <p:cNvPr id="15" name="Text 13"/>
          <p:cNvSpPr txBox="1"/>
          <p:nvPr/>
        </p:nvSpPr>
        <p:spPr>
          <a:xfrm>
            <a:off x="3093568" y="3442462"/>
            <a:ext cx="167640" cy="329692"/>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Math" pitchFamily="34" charset="0"/>
                <a:ea typeface="Cambria Math" pitchFamily="34" charset="-122"/>
                <a:cs typeface="Cambria Math" pitchFamily="34" charset="-120"/>
              </a:rPr>
              <a:t>≤</a:t>
            </a:r>
            <a:endParaRPr lang="en-US" sz="2200" dirty="0"/>
          </a:p>
        </p:txBody>
      </p:sp>
      <p:sp>
        <p:nvSpPr>
          <p:cNvPr id="16" name="Text 14"/>
          <p:cNvSpPr txBox="1"/>
          <p:nvPr/>
        </p:nvSpPr>
        <p:spPr>
          <a:xfrm>
            <a:off x="3325216" y="3314101"/>
            <a:ext cx="402946"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1</a:t>
            </a:r>
            <a:endParaRPr lang="en-US" sz="1804" dirty="0"/>
          </a:p>
        </p:txBody>
      </p:sp>
      <p:sp>
        <p:nvSpPr>
          <p:cNvPr id="17" name="Shape 15"/>
          <p:cNvSpPr/>
          <p:nvPr/>
        </p:nvSpPr>
        <p:spPr>
          <a:xfrm>
            <a:off x="3361792" y="3604565"/>
            <a:ext cx="329794" cy="0"/>
          </a:xfrm>
          <a:prstGeom prst="line">
            <a:avLst/>
          </a:prstGeom>
          <a:noFill/>
          <a:ln w="15875">
            <a:solidFill>
              <a:srgbClr val="1E2761"/>
            </a:solidFill>
            <a:prstDash val="solid"/>
          </a:ln>
        </p:spPr>
      </p:sp>
      <p:sp>
        <p:nvSpPr>
          <p:cNvPr id="18" name="Text 16"/>
          <p:cNvSpPr txBox="1"/>
          <p:nvPr/>
        </p:nvSpPr>
        <p:spPr>
          <a:xfrm>
            <a:off x="3325216" y="3625596"/>
            <a:ext cx="402946"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15</a:t>
            </a:r>
            <a:endParaRPr lang="en-US" sz="1804" dirty="0"/>
          </a:p>
        </p:txBody>
      </p:sp>
      <p:sp>
        <p:nvSpPr>
          <p:cNvPr id="19" name="Shape 17"/>
          <p:cNvSpPr/>
          <p:nvPr/>
        </p:nvSpPr>
        <p:spPr>
          <a:xfrm>
            <a:off x="822960" y="3977640"/>
            <a:ext cx="4846320" cy="868680"/>
          </a:xfrm>
          <a:prstGeom prst="roundRect">
            <a:avLst>
              <a:gd name="adj" fmla="val 8421"/>
            </a:avLst>
          </a:prstGeom>
          <a:solidFill>
            <a:srgbClr val="FFFFFF"/>
          </a:solidFill>
          <a:ln/>
        </p:spPr>
      </p:sp>
      <p:sp>
        <p:nvSpPr>
          <p:cNvPr id="20" name="Text 18"/>
          <p:cNvSpPr txBox="1"/>
          <p:nvPr/>
        </p:nvSpPr>
        <p:spPr>
          <a:xfrm>
            <a:off x="987552" y="4050792"/>
            <a:ext cx="451713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Thick Shell</a:t>
            </a:r>
            <a:endParaRPr lang="en-US" sz="1050" dirty="0"/>
          </a:p>
        </p:txBody>
      </p:sp>
      <p:sp>
        <p:nvSpPr>
          <p:cNvPr id="21" name="Text 19"/>
          <p:cNvSpPr txBox="1"/>
          <p:nvPr/>
        </p:nvSpPr>
        <p:spPr>
          <a:xfrm>
            <a:off x="1914754" y="4323375"/>
            <a:ext cx="240487"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t</a:t>
            </a:r>
            <a:endParaRPr lang="en-US" sz="1476" dirty="0"/>
          </a:p>
        </p:txBody>
      </p:sp>
      <p:sp>
        <p:nvSpPr>
          <p:cNvPr id="22" name="Shape 20"/>
          <p:cNvSpPr/>
          <p:nvPr/>
        </p:nvSpPr>
        <p:spPr>
          <a:xfrm>
            <a:off x="1951330" y="4564685"/>
            <a:ext cx="167335" cy="0"/>
          </a:xfrm>
          <a:prstGeom prst="line">
            <a:avLst/>
          </a:prstGeom>
          <a:noFill/>
          <a:ln w="15875">
            <a:solidFill>
              <a:srgbClr val="1E2761"/>
            </a:solidFill>
            <a:prstDash val="solid"/>
          </a:ln>
        </p:spPr>
      </p:sp>
      <p:sp>
        <p:nvSpPr>
          <p:cNvPr id="23" name="Text 21"/>
          <p:cNvSpPr txBox="1"/>
          <p:nvPr/>
        </p:nvSpPr>
        <p:spPr>
          <a:xfrm>
            <a:off x="1914754" y="4585716"/>
            <a:ext cx="240487"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d</a:t>
            </a:r>
            <a:endParaRPr lang="en-US" sz="1476" dirty="0"/>
          </a:p>
        </p:txBody>
      </p:sp>
      <p:sp>
        <p:nvSpPr>
          <p:cNvPr id="24" name="Text 22"/>
          <p:cNvSpPr txBox="1"/>
          <p:nvPr/>
        </p:nvSpPr>
        <p:spPr>
          <a:xfrm>
            <a:off x="2219249" y="4432554"/>
            <a:ext cx="13716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&gt;</a:t>
            </a:r>
            <a:endParaRPr lang="en-US" sz="1800" dirty="0"/>
          </a:p>
        </p:txBody>
      </p:sp>
      <p:sp>
        <p:nvSpPr>
          <p:cNvPr id="25" name="Text 23"/>
          <p:cNvSpPr txBox="1"/>
          <p:nvPr/>
        </p:nvSpPr>
        <p:spPr>
          <a:xfrm>
            <a:off x="2420417" y="4323375"/>
            <a:ext cx="352958"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1</a:t>
            </a:r>
            <a:endParaRPr lang="en-US" sz="1476" dirty="0"/>
          </a:p>
        </p:txBody>
      </p:sp>
      <p:sp>
        <p:nvSpPr>
          <p:cNvPr id="26" name="Shape 24"/>
          <p:cNvSpPr/>
          <p:nvPr/>
        </p:nvSpPr>
        <p:spPr>
          <a:xfrm>
            <a:off x="2456993" y="4564685"/>
            <a:ext cx="279806" cy="0"/>
          </a:xfrm>
          <a:prstGeom prst="line">
            <a:avLst/>
          </a:prstGeom>
          <a:noFill/>
          <a:ln w="15875">
            <a:solidFill>
              <a:srgbClr val="1E2761"/>
            </a:solidFill>
            <a:prstDash val="solid"/>
          </a:ln>
        </p:spPr>
      </p:sp>
      <p:sp>
        <p:nvSpPr>
          <p:cNvPr id="27" name="Text 25"/>
          <p:cNvSpPr txBox="1"/>
          <p:nvPr/>
        </p:nvSpPr>
        <p:spPr>
          <a:xfrm>
            <a:off x="2420417" y="4585716"/>
            <a:ext cx="352958"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15</a:t>
            </a:r>
            <a:endParaRPr lang="en-US" sz="1476" dirty="0"/>
          </a:p>
        </p:txBody>
      </p:sp>
      <p:sp>
        <p:nvSpPr>
          <p:cNvPr id="28" name="Text 26"/>
          <p:cNvSpPr txBox="1"/>
          <p:nvPr/>
        </p:nvSpPr>
        <p:spPr>
          <a:xfrm>
            <a:off x="2837383" y="4432554"/>
            <a:ext cx="68580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  (or</a:t>
            </a:r>
            <a:endParaRPr lang="en-US" sz="1800" dirty="0"/>
          </a:p>
        </p:txBody>
      </p:sp>
      <p:sp>
        <p:nvSpPr>
          <p:cNvPr id="29" name="Text 27"/>
          <p:cNvSpPr txBox="1"/>
          <p:nvPr/>
        </p:nvSpPr>
        <p:spPr>
          <a:xfrm>
            <a:off x="3587191" y="4323375"/>
            <a:ext cx="240487"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d</a:t>
            </a:r>
            <a:endParaRPr lang="en-US" sz="1476" dirty="0"/>
          </a:p>
        </p:txBody>
      </p:sp>
      <p:sp>
        <p:nvSpPr>
          <p:cNvPr id="30" name="Shape 28"/>
          <p:cNvSpPr/>
          <p:nvPr/>
        </p:nvSpPr>
        <p:spPr>
          <a:xfrm>
            <a:off x="3623767" y="4564685"/>
            <a:ext cx="167335" cy="0"/>
          </a:xfrm>
          <a:prstGeom prst="line">
            <a:avLst/>
          </a:prstGeom>
          <a:noFill/>
          <a:ln w="15875">
            <a:solidFill>
              <a:srgbClr val="1E2761"/>
            </a:solidFill>
            <a:prstDash val="solid"/>
          </a:ln>
        </p:spPr>
      </p:sp>
      <p:sp>
        <p:nvSpPr>
          <p:cNvPr id="31" name="Text 29"/>
          <p:cNvSpPr txBox="1"/>
          <p:nvPr/>
        </p:nvSpPr>
        <p:spPr>
          <a:xfrm>
            <a:off x="3587191" y="4585716"/>
            <a:ext cx="240487"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t</a:t>
            </a:r>
            <a:endParaRPr lang="en-US" sz="1476" dirty="0"/>
          </a:p>
        </p:txBody>
      </p:sp>
      <p:sp>
        <p:nvSpPr>
          <p:cNvPr id="32" name="Text 30"/>
          <p:cNvSpPr txBox="1"/>
          <p:nvPr/>
        </p:nvSpPr>
        <p:spPr>
          <a:xfrm>
            <a:off x="3891686" y="4432554"/>
            <a:ext cx="68580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&gt; 15)</a:t>
            </a:r>
            <a:endParaRPr lang="en-US" sz="1800" dirty="0"/>
          </a:p>
        </p:txBody>
      </p:sp>
      <p:sp>
        <p:nvSpPr>
          <p:cNvPr id="33" name="Text 31"/>
          <p:cNvSpPr txBox="1"/>
          <p:nvPr/>
        </p:nvSpPr>
        <p:spPr>
          <a:xfrm>
            <a:off x="822960" y="4983480"/>
            <a:ext cx="4846320" cy="9144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761"/>
                </a:solidFill>
                <a:latin typeface="Calibri" pitchFamily="34" charset="0"/>
                <a:ea typeface="Calibri" pitchFamily="34" charset="-122"/>
                <a:cs typeface="Calibri" pitchFamily="34" charset="-120"/>
              </a:rPr>
              <a:t>Thin shell: wall thickness is small compared to diameter — stress is assumed uniform across the wall.</a:t>
            </a:r>
            <a:endParaRPr lang="en-US" sz="1250" dirty="0"/>
          </a:p>
          <a:p>
            <a:pPr marL="342900" indent="-342900">
              <a:buSzPct val="100000"/>
              <a:buChar char="•"/>
            </a:pPr>
            <a:r>
              <a:rPr lang="en-US" sz="1250" dirty="0">
                <a:solidFill>
                  <a:srgbClr val="1E2761"/>
                </a:solidFill>
                <a:latin typeface="Calibri" pitchFamily="34" charset="0"/>
                <a:ea typeface="Calibri" pitchFamily="34" charset="-122"/>
                <a:cs typeface="Calibri" pitchFamily="34" charset="-120"/>
              </a:rPr>
              <a:t>Thick shell: wall thickness is significant — stress varies across the wall thickness (analysed using Lame's theory).</a:t>
            </a:r>
            <a:endParaRPr lang="en-US" sz="1250" dirty="0"/>
          </a:p>
        </p:txBody>
      </p:sp>
      <p:sp>
        <p:nvSpPr>
          <p:cNvPr id="34" name="Shape 32"/>
          <p:cNvSpPr/>
          <p:nvPr/>
        </p:nvSpPr>
        <p:spPr>
          <a:xfrm>
            <a:off x="6172200" y="1554480"/>
            <a:ext cx="5468112" cy="4480560"/>
          </a:xfrm>
          <a:prstGeom prst="roundRect">
            <a:avLst>
              <a:gd name="adj" fmla="val 2041"/>
            </a:avLst>
          </a:prstGeom>
          <a:solidFill>
            <a:srgbClr val="F4F7FD"/>
          </a:solidFill>
          <a:ln/>
        </p:spPr>
      </p:sp>
      <p:sp>
        <p:nvSpPr>
          <p:cNvPr id="35" name="Shape 33"/>
          <p:cNvSpPr/>
          <p:nvPr/>
        </p:nvSpPr>
        <p:spPr>
          <a:xfrm>
            <a:off x="6446520" y="1828800"/>
            <a:ext cx="457200" cy="457200"/>
          </a:xfrm>
          <a:prstGeom prst="ellipse">
            <a:avLst/>
          </a:prstGeom>
          <a:solidFill>
            <a:srgbClr val="1E2761"/>
          </a:solidFill>
          <a:ln/>
        </p:spPr>
      </p:sp>
      <p:sp>
        <p:nvSpPr>
          <p:cNvPr id="36" name="Text 34"/>
          <p:cNvSpPr txBox="1"/>
          <p:nvPr/>
        </p:nvSpPr>
        <p:spPr>
          <a:xfrm>
            <a:off x="6446520" y="1828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37" name="Text 35"/>
          <p:cNvSpPr txBox="1"/>
          <p:nvPr/>
        </p:nvSpPr>
        <p:spPr>
          <a:xfrm>
            <a:off x="7086600" y="1847088"/>
            <a:ext cx="4279392" cy="457200"/>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According to End Construction</a:t>
            </a:r>
            <a:endParaRPr lang="en-US" sz="1800" dirty="0"/>
          </a:p>
        </p:txBody>
      </p:sp>
      <p:sp>
        <p:nvSpPr>
          <p:cNvPr id="38" name="Shape 36"/>
          <p:cNvSpPr/>
          <p:nvPr/>
        </p:nvSpPr>
        <p:spPr>
          <a:xfrm>
            <a:off x="6446520" y="2514600"/>
            <a:ext cx="4919472" cy="1554480"/>
          </a:xfrm>
          <a:prstGeom prst="roundRect">
            <a:avLst>
              <a:gd name="adj" fmla="val 4706"/>
            </a:avLst>
          </a:prstGeom>
          <a:solidFill>
            <a:srgbClr val="FFFFFF"/>
          </a:solidFill>
          <a:ln w="12700">
            <a:solidFill>
              <a:srgbClr val="CADCFC"/>
            </a:solidFill>
            <a:prstDash val="solid"/>
          </a:ln>
        </p:spPr>
      </p:sp>
      <p:sp>
        <p:nvSpPr>
          <p:cNvPr id="39" name="Text 37"/>
          <p:cNvSpPr txBox="1"/>
          <p:nvPr/>
        </p:nvSpPr>
        <p:spPr>
          <a:xfrm>
            <a:off x="6629400" y="2651760"/>
            <a:ext cx="4553712" cy="320040"/>
          </a:xfrm>
          <a:prstGeom prst="rect">
            <a:avLst/>
          </a:prstGeom>
          <a:noFill/>
          <a:ln/>
        </p:spPr>
        <p:txBody>
          <a:bodyPr wrap="square" lIns="0" tIns="0" rIns="0" bIns="0" rtlCol="0" anchor="ctr"/>
          <a:lstStyle/>
          <a:p>
            <a:pPr marL="0" indent="0">
              <a:buNone/>
            </a:pPr>
            <a:r>
              <a:rPr lang="en-US" sz="1400" b="1" dirty="0">
                <a:solidFill>
                  <a:srgbClr val="C97B1D"/>
                </a:solidFill>
                <a:latin typeface="Calibri" pitchFamily="34" charset="0"/>
                <a:ea typeface="Calibri" pitchFamily="34" charset="-122"/>
                <a:cs typeface="Calibri" pitchFamily="34" charset="-120"/>
              </a:rPr>
              <a:t>Open End</a:t>
            </a:r>
            <a:endParaRPr lang="en-US" sz="1400" dirty="0"/>
          </a:p>
        </p:txBody>
      </p:sp>
      <p:sp>
        <p:nvSpPr>
          <p:cNvPr id="40" name="Text 38"/>
          <p:cNvSpPr txBox="1"/>
          <p:nvPr/>
        </p:nvSpPr>
        <p:spPr>
          <a:xfrm>
            <a:off x="6629400" y="2999232"/>
            <a:ext cx="4553712" cy="91440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Only circumferential (hoop) stress is induced by the fluid pressure.</a:t>
            </a:r>
            <a:endParaRPr lang="en-US" sz="1250" dirty="0"/>
          </a:p>
        </p:txBody>
      </p:sp>
      <p:sp>
        <p:nvSpPr>
          <p:cNvPr id="41" name="Shape 39"/>
          <p:cNvSpPr/>
          <p:nvPr/>
        </p:nvSpPr>
        <p:spPr>
          <a:xfrm>
            <a:off x="6446520" y="4251960"/>
            <a:ext cx="4919472" cy="1554480"/>
          </a:xfrm>
          <a:prstGeom prst="roundRect">
            <a:avLst>
              <a:gd name="adj" fmla="val 4706"/>
            </a:avLst>
          </a:prstGeom>
          <a:solidFill>
            <a:srgbClr val="FFFFFF"/>
          </a:solidFill>
          <a:ln w="12700">
            <a:solidFill>
              <a:srgbClr val="CADCFC"/>
            </a:solidFill>
            <a:prstDash val="solid"/>
          </a:ln>
        </p:spPr>
      </p:sp>
      <p:sp>
        <p:nvSpPr>
          <p:cNvPr id="42" name="Text 40"/>
          <p:cNvSpPr txBox="1"/>
          <p:nvPr/>
        </p:nvSpPr>
        <p:spPr>
          <a:xfrm>
            <a:off x="6629400" y="4389120"/>
            <a:ext cx="4553712" cy="320040"/>
          </a:xfrm>
          <a:prstGeom prst="rect">
            <a:avLst/>
          </a:prstGeom>
          <a:noFill/>
          <a:ln/>
        </p:spPr>
        <p:txBody>
          <a:bodyPr wrap="square" lIns="0" tIns="0" rIns="0" bIns="0" rtlCol="0" anchor="ctr"/>
          <a:lstStyle/>
          <a:p>
            <a:pPr marL="0" indent="0">
              <a:buNone/>
            </a:pPr>
            <a:r>
              <a:rPr lang="en-US" sz="1400" b="1" dirty="0">
                <a:solidFill>
                  <a:srgbClr val="C97B1D"/>
                </a:solidFill>
                <a:latin typeface="Calibri" pitchFamily="34" charset="0"/>
                <a:ea typeface="Calibri" pitchFamily="34" charset="-122"/>
                <a:cs typeface="Calibri" pitchFamily="34" charset="-120"/>
              </a:rPr>
              <a:t>Closed End</a:t>
            </a:r>
            <a:endParaRPr lang="en-US" sz="1400" dirty="0"/>
          </a:p>
        </p:txBody>
      </p:sp>
      <p:sp>
        <p:nvSpPr>
          <p:cNvPr id="43" name="Text 41"/>
          <p:cNvSpPr txBox="1"/>
          <p:nvPr/>
        </p:nvSpPr>
        <p:spPr>
          <a:xfrm>
            <a:off x="6629400" y="4736592"/>
            <a:ext cx="4553712" cy="91440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Both circumferential (hoop) stress and longitudinal stress are induced in addition to each other.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2</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Stresses in a Thin Cylindrical Shell due to Internal Pressure</a:t>
            </a:r>
            <a:endParaRPr lang="en-US" sz="2800" dirty="0"/>
          </a:p>
        </p:txBody>
      </p:sp>
      <p:sp>
        <p:nvSpPr>
          <p:cNvPr id="5" name="Text 3"/>
          <p:cNvSpPr txBox="1"/>
          <p:nvPr/>
        </p:nvSpPr>
        <p:spPr>
          <a:xfrm>
            <a:off x="548640" y="1508760"/>
            <a:ext cx="548640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Assumptions in the Analysis</a:t>
            </a:r>
            <a:endParaRPr lang="en-US" sz="1700" dirty="0"/>
          </a:p>
        </p:txBody>
      </p:sp>
      <p:sp>
        <p:nvSpPr>
          <p:cNvPr id="6" name="Shape 4"/>
          <p:cNvSpPr/>
          <p:nvPr/>
        </p:nvSpPr>
        <p:spPr>
          <a:xfrm>
            <a:off x="548640" y="2011680"/>
            <a:ext cx="365760" cy="365760"/>
          </a:xfrm>
          <a:prstGeom prst="ellipse">
            <a:avLst/>
          </a:prstGeom>
          <a:solidFill>
            <a:srgbClr val="1E2761"/>
          </a:solidFill>
          <a:ln/>
        </p:spPr>
      </p:sp>
      <p:sp>
        <p:nvSpPr>
          <p:cNvPr id="7" name="Text 5"/>
          <p:cNvSpPr txBox="1"/>
          <p:nvPr/>
        </p:nvSpPr>
        <p:spPr>
          <a:xfrm>
            <a:off x="548640" y="2011680"/>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51560" y="1993392"/>
            <a:ext cx="4983480" cy="54864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The effect of curvature of the cylinder wall is neglected.</a:t>
            </a:r>
            <a:endParaRPr lang="en-US" sz="1250" dirty="0"/>
          </a:p>
        </p:txBody>
      </p:sp>
      <p:sp>
        <p:nvSpPr>
          <p:cNvPr id="9" name="Shape 7"/>
          <p:cNvSpPr/>
          <p:nvPr/>
        </p:nvSpPr>
        <p:spPr>
          <a:xfrm>
            <a:off x="548640" y="2724912"/>
            <a:ext cx="365760" cy="365760"/>
          </a:xfrm>
          <a:prstGeom prst="ellipse">
            <a:avLst/>
          </a:prstGeom>
          <a:solidFill>
            <a:srgbClr val="1E2761"/>
          </a:solidFill>
          <a:ln/>
        </p:spPr>
      </p:sp>
      <p:sp>
        <p:nvSpPr>
          <p:cNvPr id="10" name="Text 8"/>
          <p:cNvSpPr txBox="1"/>
          <p:nvPr/>
        </p:nvSpPr>
        <p:spPr>
          <a:xfrm>
            <a:off x="548640" y="2724912"/>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051560" y="2706624"/>
            <a:ext cx="4983480" cy="54864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Tensile stresses are uniformly distributed over the section of the walls.</a:t>
            </a:r>
            <a:endParaRPr lang="en-US" sz="1250" dirty="0"/>
          </a:p>
        </p:txBody>
      </p:sp>
      <p:sp>
        <p:nvSpPr>
          <p:cNvPr id="12" name="Shape 10"/>
          <p:cNvSpPr/>
          <p:nvPr/>
        </p:nvSpPr>
        <p:spPr>
          <a:xfrm>
            <a:off x="548640" y="3438144"/>
            <a:ext cx="365760" cy="365760"/>
          </a:xfrm>
          <a:prstGeom prst="ellipse">
            <a:avLst/>
          </a:prstGeom>
          <a:solidFill>
            <a:srgbClr val="1E2761"/>
          </a:solidFill>
          <a:ln/>
        </p:spPr>
      </p:sp>
      <p:sp>
        <p:nvSpPr>
          <p:cNvPr id="13" name="Text 11"/>
          <p:cNvSpPr txBox="1"/>
          <p:nvPr/>
        </p:nvSpPr>
        <p:spPr>
          <a:xfrm>
            <a:off x="548640" y="3438144"/>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051560" y="3419856"/>
            <a:ext cx="4983480" cy="54864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The effect of the restraining action of the heads at the ends of the vessel is neglected.</a:t>
            </a:r>
            <a:endParaRPr lang="en-US" sz="1250" dirty="0"/>
          </a:p>
        </p:txBody>
      </p:sp>
      <p:sp>
        <p:nvSpPr>
          <p:cNvPr id="15" name="Text 13"/>
          <p:cNvSpPr txBox="1"/>
          <p:nvPr/>
        </p:nvSpPr>
        <p:spPr>
          <a:xfrm>
            <a:off x="548640" y="4242816"/>
            <a:ext cx="548640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Modes of Failure Under Internal Pressure</a:t>
            </a:r>
            <a:endParaRPr lang="en-US" sz="1700" dirty="0"/>
          </a:p>
        </p:txBody>
      </p:sp>
      <p:sp>
        <p:nvSpPr>
          <p:cNvPr id="16" name="Text 14"/>
          <p:cNvSpPr txBox="1"/>
          <p:nvPr/>
        </p:nvSpPr>
        <p:spPr>
          <a:xfrm>
            <a:off x="548640" y="4608576"/>
            <a:ext cx="5486400" cy="11887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761"/>
                </a:solidFill>
                <a:latin typeface="Calibri" pitchFamily="34" charset="0"/>
                <a:ea typeface="Calibri" pitchFamily="34" charset="-122"/>
                <a:cs typeface="Calibri" pitchFamily="34" charset="-120"/>
              </a:rPr>
              <a:t>Failure along the longitudinal section (circumferentially) — resisted by hoop stress.</a:t>
            </a:r>
            <a:endParaRPr lang="en-US" sz="1250" dirty="0"/>
          </a:p>
          <a:p>
            <a:pPr marL="342900" indent="-342900">
              <a:buSzPct val="100000"/>
              <a:buChar char="•"/>
            </a:pPr>
            <a:r>
              <a:rPr lang="en-US" sz="1250" dirty="0">
                <a:solidFill>
                  <a:srgbClr val="1E2761"/>
                </a:solidFill>
                <a:latin typeface="Calibri" pitchFamily="34" charset="0"/>
                <a:ea typeface="Calibri" pitchFamily="34" charset="-122"/>
                <a:cs typeface="Calibri" pitchFamily="34" charset="-120"/>
              </a:rPr>
              <a:t>Failure across the transverse section, splitting the cylinder into two shells (longitudinally) — resisted by longitudinal stress.</a:t>
            </a:r>
            <a:endParaRPr lang="en-US" sz="1250" dirty="0"/>
          </a:p>
        </p:txBody>
      </p:sp>
      <p:sp>
        <p:nvSpPr>
          <p:cNvPr id="17" name="Text 15"/>
          <p:cNvSpPr txBox="1"/>
          <p:nvPr/>
        </p:nvSpPr>
        <p:spPr>
          <a:xfrm>
            <a:off x="6400800" y="1508760"/>
            <a:ext cx="521208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Three Types of Stress Developed</a:t>
            </a:r>
            <a:endParaRPr lang="en-US" sz="1700" dirty="0"/>
          </a:p>
        </p:txBody>
      </p:sp>
      <p:sp>
        <p:nvSpPr>
          <p:cNvPr id="18" name="Shape 16"/>
          <p:cNvSpPr/>
          <p:nvPr/>
        </p:nvSpPr>
        <p:spPr>
          <a:xfrm>
            <a:off x="6400800" y="2011680"/>
            <a:ext cx="5212080" cy="1051560"/>
          </a:xfrm>
          <a:prstGeom prst="roundRect">
            <a:avLst>
              <a:gd name="adj" fmla="val 6957"/>
            </a:avLst>
          </a:prstGeom>
          <a:solidFill>
            <a:srgbClr val="CADCFC"/>
          </a:solidFill>
          <a:ln/>
        </p:spPr>
      </p:sp>
      <p:sp>
        <p:nvSpPr>
          <p:cNvPr id="19" name="Text 17"/>
          <p:cNvSpPr txBox="1"/>
          <p:nvPr/>
        </p:nvSpPr>
        <p:spPr>
          <a:xfrm>
            <a:off x="6629400" y="2121408"/>
            <a:ext cx="47548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Hoop / Circumferential Stress (σθ)</a:t>
            </a:r>
            <a:endParaRPr lang="en-US" sz="1400" dirty="0"/>
          </a:p>
        </p:txBody>
      </p:sp>
      <p:sp>
        <p:nvSpPr>
          <p:cNvPr id="20" name="Text 18"/>
          <p:cNvSpPr txBox="1"/>
          <p:nvPr/>
        </p:nvSpPr>
        <p:spPr>
          <a:xfrm>
            <a:off x="6629400" y="2514600"/>
            <a:ext cx="475488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Acts tangentially to the circumference of the shell.</a:t>
            </a:r>
            <a:endParaRPr lang="en-US" sz="1200" dirty="0"/>
          </a:p>
        </p:txBody>
      </p:sp>
      <p:sp>
        <p:nvSpPr>
          <p:cNvPr id="21" name="Shape 19"/>
          <p:cNvSpPr/>
          <p:nvPr/>
        </p:nvSpPr>
        <p:spPr>
          <a:xfrm>
            <a:off x="6400800" y="3218688"/>
            <a:ext cx="5212080" cy="1051560"/>
          </a:xfrm>
          <a:prstGeom prst="roundRect">
            <a:avLst>
              <a:gd name="adj" fmla="val 6957"/>
            </a:avLst>
          </a:prstGeom>
          <a:solidFill>
            <a:srgbClr val="CADCFC"/>
          </a:solidFill>
          <a:ln/>
        </p:spPr>
      </p:sp>
      <p:sp>
        <p:nvSpPr>
          <p:cNvPr id="22" name="Text 20"/>
          <p:cNvSpPr txBox="1"/>
          <p:nvPr/>
        </p:nvSpPr>
        <p:spPr>
          <a:xfrm>
            <a:off x="6629400" y="3328416"/>
            <a:ext cx="47548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Longitudinal Stress (σL)</a:t>
            </a:r>
            <a:endParaRPr lang="en-US" sz="1400" dirty="0"/>
          </a:p>
        </p:txBody>
      </p:sp>
      <p:sp>
        <p:nvSpPr>
          <p:cNvPr id="23" name="Text 21"/>
          <p:cNvSpPr txBox="1"/>
          <p:nvPr/>
        </p:nvSpPr>
        <p:spPr>
          <a:xfrm>
            <a:off x="6629400" y="3721608"/>
            <a:ext cx="475488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Acts parallel to the longitudinal axis of the shell.</a:t>
            </a:r>
            <a:endParaRPr lang="en-US" sz="1200" dirty="0"/>
          </a:p>
        </p:txBody>
      </p:sp>
      <p:sp>
        <p:nvSpPr>
          <p:cNvPr id="24" name="Shape 22"/>
          <p:cNvSpPr/>
          <p:nvPr/>
        </p:nvSpPr>
        <p:spPr>
          <a:xfrm>
            <a:off x="6400800" y="4425696"/>
            <a:ext cx="5212080" cy="1051560"/>
          </a:xfrm>
          <a:prstGeom prst="roundRect">
            <a:avLst>
              <a:gd name="adj" fmla="val 6957"/>
            </a:avLst>
          </a:prstGeom>
          <a:solidFill>
            <a:srgbClr val="EDEDED"/>
          </a:solidFill>
          <a:ln/>
        </p:spPr>
      </p:sp>
      <p:sp>
        <p:nvSpPr>
          <p:cNvPr id="25" name="Text 23"/>
          <p:cNvSpPr txBox="1"/>
          <p:nvPr/>
        </p:nvSpPr>
        <p:spPr>
          <a:xfrm>
            <a:off x="6629400" y="4535424"/>
            <a:ext cx="475488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Radial Stress</a:t>
            </a:r>
            <a:endParaRPr lang="en-US" sz="1400" dirty="0"/>
          </a:p>
        </p:txBody>
      </p:sp>
      <p:sp>
        <p:nvSpPr>
          <p:cNvPr id="26" name="Text 24"/>
          <p:cNvSpPr txBox="1"/>
          <p:nvPr/>
        </p:nvSpPr>
        <p:spPr>
          <a:xfrm>
            <a:off x="6629400" y="4928616"/>
            <a:ext cx="4754880" cy="45720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Too small in a thin shell — neglected in the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3</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Circumferential or Hoop Stress</a:t>
            </a:r>
            <a:endParaRPr lang="en-US" sz="2800" dirty="0"/>
          </a:p>
        </p:txBody>
      </p:sp>
      <p:sp>
        <p:nvSpPr>
          <p:cNvPr id="5" name="Text 3"/>
          <p:cNvSpPr txBox="1"/>
          <p:nvPr/>
        </p:nvSpPr>
        <p:spPr>
          <a:xfrm>
            <a:off x="548640" y="1463040"/>
            <a:ext cx="11064240" cy="54864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Tensile stress acting tangentially to the circumference (on the longitudinal section) of a thin cylindrical shell subjected to internal pressure.</a:t>
            </a:r>
            <a:endParaRPr lang="en-US" sz="1400" dirty="0"/>
          </a:p>
        </p:txBody>
      </p:sp>
      <p:sp>
        <p:nvSpPr>
          <p:cNvPr id="6" name="Shape 4"/>
          <p:cNvSpPr/>
          <p:nvPr/>
        </p:nvSpPr>
        <p:spPr>
          <a:xfrm>
            <a:off x="548640" y="2148840"/>
            <a:ext cx="5212080" cy="2331720"/>
          </a:xfrm>
          <a:prstGeom prst="roundRect">
            <a:avLst>
              <a:gd name="adj" fmla="val 3922"/>
            </a:avLst>
          </a:prstGeom>
          <a:solidFill>
            <a:srgbClr val="F4F7FD"/>
          </a:solidFill>
          <a:ln/>
        </p:spPr>
      </p:sp>
      <p:sp>
        <p:nvSpPr>
          <p:cNvPr id="7" name="Text 5"/>
          <p:cNvSpPr txBox="1"/>
          <p:nvPr/>
        </p:nvSpPr>
        <p:spPr>
          <a:xfrm>
            <a:off x="777240" y="2313432"/>
            <a:ext cx="475488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Notation</a:t>
            </a:r>
            <a:endParaRPr lang="en-US" sz="1500" dirty="0"/>
          </a:p>
        </p:txBody>
      </p:sp>
      <p:sp>
        <p:nvSpPr>
          <p:cNvPr id="8" name="Text 6"/>
          <p:cNvSpPr txBox="1"/>
          <p:nvPr/>
        </p:nvSpPr>
        <p:spPr>
          <a:xfrm>
            <a:off x="777240" y="2697480"/>
            <a:ext cx="4754880" cy="169164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1E2761"/>
                </a:solidFill>
                <a:latin typeface="Calibri" pitchFamily="34" charset="0"/>
                <a:ea typeface="Calibri" pitchFamily="34" charset="-122"/>
                <a:cs typeface="Calibri" pitchFamily="34" charset="-120"/>
              </a:rPr>
              <a:t>P = intensity of internal pressure</a:t>
            </a:r>
            <a:endParaRPr lang="en-US" sz="1250" dirty="0"/>
          </a:p>
          <a:p>
            <a:pPr marL="342900" indent="-342900">
              <a:spcAft>
                <a:spcPts val="500"/>
              </a:spcAft>
              <a:buSzPct val="100000"/>
              <a:buChar char="•"/>
            </a:pPr>
            <a:r>
              <a:rPr lang="en-US" sz="1250" dirty="0">
                <a:solidFill>
                  <a:srgbClr val="1E2761"/>
                </a:solidFill>
                <a:latin typeface="Calibri" pitchFamily="34" charset="0"/>
                <a:ea typeface="Calibri" pitchFamily="34" charset="-122"/>
                <a:cs typeface="Calibri" pitchFamily="34" charset="-120"/>
              </a:rPr>
              <a:t>d = internal diameter of shell</a:t>
            </a:r>
            <a:endParaRPr lang="en-US" sz="1250" dirty="0"/>
          </a:p>
          <a:p>
            <a:pPr marL="342900" indent="-342900">
              <a:spcAft>
                <a:spcPts val="500"/>
              </a:spcAft>
              <a:buSzPct val="100000"/>
              <a:buChar char="•"/>
            </a:pPr>
            <a:r>
              <a:rPr lang="en-US" sz="1250" dirty="0">
                <a:solidFill>
                  <a:srgbClr val="1E2761"/>
                </a:solidFill>
                <a:latin typeface="Calibri" pitchFamily="34" charset="0"/>
                <a:ea typeface="Calibri" pitchFamily="34" charset="-122"/>
                <a:cs typeface="Calibri" pitchFamily="34" charset="-120"/>
              </a:rPr>
              <a:t>l = length of the cylindrical shell</a:t>
            </a:r>
            <a:endParaRPr lang="en-US" sz="1250" dirty="0"/>
          </a:p>
          <a:p>
            <a:pPr marL="342900" indent="-342900">
              <a:spcAft>
                <a:spcPts val="500"/>
              </a:spcAft>
              <a:buSzPct val="100000"/>
              <a:buChar char="•"/>
            </a:pPr>
            <a:r>
              <a:rPr lang="en-US" sz="1250" dirty="0">
                <a:solidFill>
                  <a:srgbClr val="1E2761"/>
                </a:solidFill>
                <a:latin typeface="Calibri" pitchFamily="34" charset="0"/>
                <a:ea typeface="Calibri" pitchFamily="34" charset="-122"/>
                <a:cs typeface="Calibri" pitchFamily="34" charset="-120"/>
              </a:rPr>
              <a:t>t = thickness of the shell</a:t>
            </a:r>
            <a:endParaRPr lang="en-US" sz="1250" dirty="0"/>
          </a:p>
          <a:p>
            <a:pPr marL="342900" indent="-342900">
              <a:buSzPct val="100000"/>
              <a:buChar char="•"/>
            </a:pPr>
            <a:r>
              <a:rPr lang="en-US" sz="1250" dirty="0">
                <a:solidFill>
                  <a:srgbClr val="1E2761"/>
                </a:solidFill>
                <a:latin typeface="Calibri" pitchFamily="34" charset="0"/>
                <a:ea typeface="Calibri" pitchFamily="34" charset="-122"/>
                <a:cs typeface="Calibri" pitchFamily="34" charset="-120"/>
              </a:rPr>
              <a:t>σθ = circumferential (hoop) stress</a:t>
            </a:r>
            <a:endParaRPr lang="en-US" sz="1250" dirty="0"/>
          </a:p>
        </p:txBody>
      </p:sp>
      <p:sp>
        <p:nvSpPr>
          <p:cNvPr id="9" name="Text 7"/>
          <p:cNvSpPr txBox="1"/>
          <p:nvPr/>
        </p:nvSpPr>
        <p:spPr>
          <a:xfrm>
            <a:off x="5989320" y="2148840"/>
            <a:ext cx="562356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Derivation</a:t>
            </a:r>
            <a:endParaRPr lang="en-US" sz="1500" dirty="0"/>
          </a:p>
        </p:txBody>
      </p:sp>
      <p:sp>
        <p:nvSpPr>
          <p:cNvPr id="10" name="Text 8"/>
          <p:cNvSpPr txBox="1"/>
          <p:nvPr/>
        </p:nvSpPr>
        <p:spPr>
          <a:xfrm>
            <a:off x="5989320" y="2514600"/>
            <a:ext cx="562356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Bursting force on a longitudinal section = pressure × projected area:</a:t>
            </a:r>
            <a:endParaRPr lang="en-US" sz="1200" dirty="0"/>
          </a:p>
        </p:txBody>
      </p:sp>
      <p:sp>
        <p:nvSpPr>
          <p:cNvPr id="11" name="Shape 9"/>
          <p:cNvSpPr/>
          <p:nvPr/>
        </p:nvSpPr>
        <p:spPr>
          <a:xfrm>
            <a:off x="5989320" y="2862072"/>
            <a:ext cx="5623560" cy="548640"/>
          </a:xfrm>
          <a:prstGeom prst="roundRect">
            <a:avLst>
              <a:gd name="adj" fmla="val 13333"/>
            </a:avLst>
          </a:prstGeom>
          <a:solidFill>
            <a:srgbClr val="FFFFFF"/>
          </a:solidFill>
          <a:ln/>
        </p:spPr>
      </p:sp>
      <p:sp>
        <p:nvSpPr>
          <p:cNvPr id="12" name="Text 10"/>
          <p:cNvSpPr txBox="1"/>
          <p:nvPr/>
        </p:nvSpPr>
        <p:spPr>
          <a:xfrm>
            <a:off x="7315200" y="3023997"/>
            <a:ext cx="29718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Bursting force = P × d × l</a:t>
            </a:r>
            <a:endParaRPr lang="en-US" sz="1500" dirty="0"/>
          </a:p>
        </p:txBody>
      </p:sp>
      <p:sp>
        <p:nvSpPr>
          <p:cNvPr id="13" name="Text 11"/>
          <p:cNvSpPr txBox="1"/>
          <p:nvPr/>
        </p:nvSpPr>
        <p:spPr>
          <a:xfrm>
            <a:off x="5989320" y="3520440"/>
            <a:ext cx="562356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Resisting force in the shell walls (two sections of area t × l):</a:t>
            </a:r>
            <a:endParaRPr lang="en-US" sz="1200" dirty="0"/>
          </a:p>
        </p:txBody>
      </p:sp>
      <p:sp>
        <p:nvSpPr>
          <p:cNvPr id="14" name="Shape 12"/>
          <p:cNvSpPr/>
          <p:nvPr/>
        </p:nvSpPr>
        <p:spPr>
          <a:xfrm>
            <a:off x="5989320" y="3867912"/>
            <a:ext cx="5623560" cy="548640"/>
          </a:xfrm>
          <a:prstGeom prst="roundRect">
            <a:avLst>
              <a:gd name="adj" fmla="val 13333"/>
            </a:avLst>
          </a:prstGeom>
          <a:solidFill>
            <a:srgbClr val="FFFFFF"/>
          </a:solidFill>
          <a:ln/>
        </p:spPr>
      </p:sp>
      <p:sp>
        <p:nvSpPr>
          <p:cNvPr id="15" name="Text 13"/>
          <p:cNvSpPr txBox="1"/>
          <p:nvPr/>
        </p:nvSpPr>
        <p:spPr>
          <a:xfrm>
            <a:off x="7143750" y="4029837"/>
            <a:ext cx="33147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Resisting force = σθ × 2t × l</a:t>
            </a:r>
            <a:endParaRPr lang="en-US" sz="1500" dirty="0"/>
          </a:p>
        </p:txBody>
      </p:sp>
      <p:sp>
        <p:nvSpPr>
          <p:cNvPr id="16" name="Shape 14"/>
          <p:cNvSpPr/>
          <p:nvPr/>
        </p:nvSpPr>
        <p:spPr>
          <a:xfrm>
            <a:off x="548640" y="4709160"/>
            <a:ext cx="11091672" cy="1417320"/>
          </a:xfrm>
          <a:prstGeom prst="roundRect">
            <a:avLst>
              <a:gd name="adj" fmla="val 6452"/>
            </a:avLst>
          </a:prstGeom>
          <a:gradFill>
            <a:gsLst>
              <a:gs pos="0">
                <a:srgbClr val="002060"/>
              </a:gs>
              <a:gs pos="100000">
                <a:srgbClr val="000E2A"/>
              </a:gs>
            </a:gsLst>
            <a:lin ang="2700000" scaled="0"/>
          </a:gradFill>
          <a:ln/>
        </p:spPr>
      </p:sp>
      <p:sp>
        <p:nvSpPr>
          <p:cNvPr id="17" name="Text 15"/>
          <p:cNvSpPr txBox="1"/>
          <p:nvPr/>
        </p:nvSpPr>
        <p:spPr>
          <a:xfrm>
            <a:off x="822960" y="4846320"/>
            <a:ext cx="5029200" cy="2743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Equating bursting force = resisting force:</a:t>
            </a:r>
            <a:endParaRPr lang="en-US" sz="1200" dirty="0"/>
          </a:p>
        </p:txBody>
      </p:sp>
      <p:sp>
        <p:nvSpPr>
          <p:cNvPr id="18" name="Shape 16"/>
          <p:cNvSpPr/>
          <p:nvPr/>
        </p:nvSpPr>
        <p:spPr>
          <a:xfrm>
            <a:off x="822960" y="5138928"/>
            <a:ext cx="5029200" cy="868680"/>
          </a:xfrm>
          <a:prstGeom prst="roundRect">
            <a:avLst>
              <a:gd name="adj" fmla="val 8421"/>
            </a:avLst>
          </a:prstGeom>
          <a:solidFill>
            <a:srgbClr val="FFFFFF"/>
          </a:solidFill>
          <a:ln/>
        </p:spPr>
      </p:sp>
      <p:sp>
        <p:nvSpPr>
          <p:cNvPr id="19" name="Text 17"/>
          <p:cNvSpPr txBox="1"/>
          <p:nvPr/>
        </p:nvSpPr>
        <p:spPr>
          <a:xfrm>
            <a:off x="987552" y="5212080"/>
            <a:ext cx="470001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Hoop Stress</a:t>
            </a:r>
            <a:endParaRPr lang="en-US" sz="1050" dirty="0"/>
          </a:p>
        </p:txBody>
      </p:sp>
      <p:sp>
        <p:nvSpPr>
          <p:cNvPr id="20" name="Text 18"/>
          <p:cNvSpPr txBox="1"/>
          <p:nvPr/>
        </p:nvSpPr>
        <p:spPr>
          <a:xfrm>
            <a:off x="2690546" y="5440045"/>
            <a:ext cx="670560" cy="329692"/>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Math" pitchFamily="34" charset="0"/>
                <a:ea typeface="Cambria Math" pitchFamily="34" charset="-122"/>
                <a:cs typeface="Cambria Math" pitchFamily="34" charset="-120"/>
              </a:rPr>
              <a:t>σθ =</a:t>
            </a:r>
            <a:endParaRPr lang="en-US" sz="2200" dirty="0"/>
          </a:p>
        </p:txBody>
      </p:sp>
      <p:sp>
        <p:nvSpPr>
          <p:cNvPr id="21" name="Text 19"/>
          <p:cNvSpPr txBox="1"/>
          <p:nvPr/>
        </p:nvSpPr>
        <p:spPr>
          <a:xfrm>
            <a:off x="3425114" y="5311684"/>
            <a:ext cx="540410"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P d</a:t>
            </a:r>
            <a:endParaRPr lang="en-US" sz="1804" dirty="0"/>
          </a:p>
        </p:txBody>
      </p:sp>
      <p:sp>
        <p:nvSpPr>
          <p:cNvPr id="22" name="Shape 20"/>
          <p:cNvSpPr/>
          <p:nvPr/>
        </p:nvSpPr>
        <p:spPr>
          <a:xfrm>
            <a:off x="3461690" y="5602148"/>
            <a:ext cx="467258" cy="0"/>
          </a:xfrm>
          <a:prstGeom prst="line">
            <a:avLst/>
          </a:prstGeom>
          <a:noFill/>
          <a:ln w="15875">
            <a:solidFill>
              <a:srgbClr val="1E2761"/>
            </a:solidFill>
            <a:prstDash val="solid"/>
          </a:ln>
        </p:spPr>
      </p:sp>
      <p:sp>
        <p:nvSpPr>
          <p:cNvPr id="23" name="Text 21"/>
          <p:cNvSpPr txBox="1"/>
          <p:nvPr/>
        </p:nvSpPr>
        <p:spPr>
          <a:xfrm>
            <a:off x="3425114" y="5623179"/>
            <a:ext cx="540410"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2t</a:t>
            </a:r>
            <a:endParaRPr lang="en-US" sz="1804" dirty="0"/>
          </a:p>
        </p:txBody>
      </p:sp>
      <p:sp>
        <p:nvSpPr>
          <p:cNvPr id="24" name="Shape 22"/>
          <p:cNvSpPr/>
          <p:nvPr/>
        </p:nvSpPr>
        <p:spPr>
          <a:xfrm>
            <a:off x="6309360" y="5138928"/>
            <a:ext cx="5029200" cy="868680"/>
          </a:xfrm>
          <a:prstGeom prst="roundRect">
            <a:avLst>
              <a:gd name="adj" fmla="val 8421"/>
            </a:avLst>
          </a:prstGeom>
          <a:solidFill>
            <a:srgbClr val="FFFFFF"/>
          </a:solidFill>
          <a:ln/>
        </p:spPr>
      </p:sp>
      <p:sp>
        <p:nvSpPr>
          <p:cNvPr id="25" name="Text 23"/>
          <p:cNvSpPr txBox="1"/>
          <p:nvPr/>
        </p:nvSpPr>
        <p:spPr>
          <a:xfrm>
            <a:off x="6473952" y="5212080"/>
            <a:ext cx="470001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Required Thickness</a:t>
            </a:r>
            <a:endParaRPr lang="en-US" sz="1050" dirty="0"/>
          </a:p>
        </p:txBody>
      </p:sp>
      <p:sp>
        <p:nvSpPr>
          <p:cNvPr id="26" name="Text 24"/>
          <p:cNvSpPr txBox="1"/>
          <p:nvPr/>
        </p:nvSpPr>
        <p:spPr>
          <a:xfrm>
            <a:off x="8260766" y="5440045"/>
            <a:ext cx="502920" cy="329692"/>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Math" pitchFamily="34" charset="0"/>
                <a:ea typeface="Cambria Math" pitchFamily="34" charset="-122"/>
                <a:cs typeface="Cambria Math" pitchFamily="34" charset="-120"/>
              </a:rPr>
              <a:t>t =</a:t>
            </a:r>
            <a:endParaRPr lang="en-US" sz="2200" dirty="0"/>
          </a:p>
        </p:txBody>
      </p:sp>
      <p:sp>
        <p:nvSpPr>
          <p:cNvPr id="27" name="Text 25"/>
          <p:cNvSpPr txBox="1"/>
          <p:nvPr/>
        </p:nvSpPr>
        <p:spPr>
          <a:xfrm>
            <a:off x="8827694" y="5311684"/>
            <a:ext cx="540410"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P d</a:t>
            </a:r>
            <a:endParaRPr lang="en-US" sz="1804" dirty="0"/>
          </a:p>
        </p:txBody>
      </p:sp>
      <p:sp>
        <p:nvSpPr>
          <p:cNvPr id="28" name="Shape 26"/>
          <p:cNvSpPr/>
          <p:nvPr/>
        </p:nvSpPr>
        <p:spPr>
          <a:xfrm>
            <a:off x="8864270" y="5602148"/>
            <a:ext cx="467258" cy="0"/>
          </a:xfrm>
          <a:prstGeom prst="line">
            <a:avLst/>
          </a:prstGeom>
          <a:noFill/>
          <a:ln w="15875">
            <a:solidFill>
              <a:srgbClr val="1E2761"/>
            </a:solidFill>
            <a:prstDash val="solid"/>
          </a:ln>
        </p:spPr>
      </p:sp>
      <p:sp>
        <p:nvSpPr>
          <p:cNvPr id="29" name="Text 27"/>
          <p:cNvSpPr txBox="1"/>
          <p:nvPr/>
        </p:nvSpPr>
        <p:spPr>
          <a:xfrm>
            <a:off x="8827694" y="5623179"/>
            <a:ext cx="540410"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2σθ</a:t>
            </a:r>
            <a:endParaRPr lang="en-US" sz="180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4</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Longitudinal Stress</a:t>
            </a:r>
            <a:endParaRPr lang="en-US" sz="2800" dirty="0"/>
          </a:p>
        </p:txBody>
      </p:sp>
      <p:sp>
        <p:nvSpPr>
          <p:cNvPr id="5" name="Text 3"/>
          <p:cNvSpPr txBox="1"/>
          <p:nvPr/>
        </p:nvSpPr>
        <p:spPr>
          <a:xfrm>
            <a:off x="548640" y="1463040"/>
            <a:ext cx="11064240" cy="59436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Tensile stress acting parallel to the longitudinal axis, on the transverse (circumferential) section of a closed thin cylindrical shell subjected to internal pressure.</a:t>
            </a:r>
            <a:endParaRPr lang="en-US" sz="1400" dirty="0"/>
          </a:p>
        </p:txBody>
      </p:sp>
      <p:sp>
        <p:nvSpPr>
          <p:cNvPr id="6" name="Text 4"/>
          <p:cNvSpPr txBox="1"/>
          <p:nvPr/>
        </p:nvSpPr>
        <p:spPr>
          <a:xfrm>
            <a:off x="548640" y="2194560"/>
            <a:ext cx="562356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Derivation</a:t>
            </a:r>
            <a:endParaRPr lang="en-US" sz="1500" dirty="0"/>
          </a:p>
        </p:txBody>
      </p:sp>
      <p:sp>
        <p:nvSpPr>
          <p:cNvPr id="7" name="Text 5"/>
          <p:cNvSpPr txBox="1"/>
          <p:nvPr/>
        </p:nvSpPr>
        <p:spPr>
          <a:xfrm>
            <a:off x="548640" y="2560320"/>
            <a:ext cx="5623560" cy="36576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Bursting force on the transverse section = pressure × cross-sectional area:</a:t>
            </a:r>
            <a:endParaRPr lang="en-US" sz="1200" dirty="0"/>
          </a:p>
        </p:txBody>
      </p:sp>
      <p:sp>
        <p:nvSpPr>
          <p:cNvPr id="8" name="Shape 6"/>
          <p:cNvSpPr/>
          <p:nvPr/>
        </p:nvSpPr>
        <p:spPr>
          <a:xfrm>
            <a:off x="548640" y="2944368"/>
            <a:ext cx="5623560" cy="548640"/>
          </a:xfrm>
          <a:prstGeom prst="roundRect">
            <a:avLst>
              <a:gd name="adj" fmla="val 13333"/>
            </a:avLst>
          </a:prstGeom>
          <a:solidFill>
            <a:srgbClr val="F4F7FD"/>
          </a:solidFill>
          <a:ln/>
        </p:spPr>
      </p:sp>
      <p:sp>
        <p:nvSpPr>
          <p:cNvPr id="9" name="Text 7"/>
          <p:cNvSpPr txBox="1"/>
          <p:nvPr/>
        </p:nvSpPr>
        <p:spPr>
          <a:xfrm>
            <a:off x="2637129" y="3089910"/>
            <a:ext cx="12573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Force = P ×</a:t>
            </a:r>
            <a:endParaRPr lang="en-US" sz="1500" dirty="0"/>
          </a:p>
        </p:txBody>
      </p:sp>
      <p:sp>
        <p:nvSpPr>
          <p:cNvPr id="10" name="Text 8"/>
          <p:cNvSpPr txBox="1"/>
          <p:nvPr/>
        </p:nvSpPr>
        <p:spPr>
          <a:xfrm>
            <a:off x="3763899" y="3011500"/>
            <a:ext cx="221742"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π</a:t>
            </a:r>
            <a:endParaRPr lang="en-US" sz="1230" dirty="0"/>
          </a:p>
        </p:txBody>
      </p:sp>
      <p:sp>
        <p:nvSpPr>
          <p:cNvPr id="11" name="Shape 9"/>
          <p:cNvSpPr/>
          <p:nvPr/>
        </p:nvSpPr>
        <p:spPr>
          <a:xfrm>
            <a:off x="3800475" y="3215945"/>
            <a:ext cx="148590" cy="0"/>
          </a:xfrm>
          <a:prstGeom prst="line">
            <a:avLst/>
          </a:prstGeom>
          <a:noFill/>
          <a:ln w="15875">
            <a:solidFill>
              <a:srgbClr val="1E2761"/>
            </a:solidFill>
            <a:prstDash val="solid"/>
          </a:ln>
        </p:spPr>
      </p:sp>
      <p:sp>
        <p:nvSpPr>
          <p:cNvPr id="12" name="Text 10"/>
          <p:cNvSpPr txBox="1"/>
          <p:nvPr/>
        </p:nvSpPr>
        <p:spPr>
          <a:xfrm>
            <a:off x="3763899" y="3236976"/>
            <a:ext cx="221742"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4</a:t>
            </a:r>
            <a:endParaRPr lang="en-US" sz="1230" dirty="0"/>
          </a:p>
        </p:txBody>
      </p:sp>
      <p:sp>
        <p:nvSpPr>
          <p:cNvPr id="13" name="Text 11"/>
          <p:cNvSpPr txBox="1"/>
          <p:nvPr/>
        </p:nvSpPr>
        <p:spPr>
          <a:xfrm>
            <a:off x="4049649" y="3106293"/>
            <a:ext cx="2286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d²</a:t>
            </a:r>
            <a:endParaRPr lang="en-US" sz="1500" dirty="0"/>
          </a:p>
        </p:txBody>
      </p:sp>
      <p:sp>
        <p:nvSpPr>
          <p:cNvPr id="14" name="Text 12"/>
          <p:cNvSpPr txBox="1"/>
          <p:nvPr/>
        </p:nvSpPr>
        <p:spPr>
          <a:xfrm>
            <a:off x="548640" y="3611880"/>
            <a:ext cx="5623560" cy="3200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Resisting force in the shell wall (area π d t):</a:t>
            </a:r>
            <a:endParaRPr lang="en-US" sz="1200" dirty="0"/>
          </a:p>
        </p:txBody>
      </p:sp>
      <p:sp>
        <p:nvSpPr>
          <p:cNvPr id="15" name="Shape 13"/>
          <p:cNvSpPr/>
          <p:nvPr/>
        </p:nvSpPr>
        <p:spPr>
          <a:xfrm>
            <a:off x="548640" y="3959352"/>
            <a:ext cx="5623560" cy="548640"/>
          </a:xfrm>
          <a:prstGeom prst="roundRect">
            <a:avLst>
              <a:gd name="adj" fmla="val 13333"/>
            </a:avLst>
          </a:prstGeom>
          <a:solidFill>
            <a:srgbClr val="F4F7FD"/>
          </a:solidFill>
          <a:ln/>
        </p:spPr>
      </p:sp>
      <p:sp>
        <p:nvSpPr>
          <p:cNvPr id="16" name="Text 14"/>
          <p:cNvSpPr txBox="1"/>
          <p:nvPr/>
        </p:nvSpPr>
        <p:spPr>
          <a:xfrm>
            <a:off x="1760220" y="4121277"/>
            <a:ext cx="32004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Resisting force = σL × π d t</a:t>
            </a:r>
            <a:endParaRPr lang="en-US" sz="1500" dirty="0"/>
          </a:p>
        </p:txBody>
      </p:sp>
      <p:sp>
        <p:nvSpPr>
          <p:cNvPr id="17" name="Shape 15"/>
          <p:cNvSpPr/>
          <p:nvPr/>
        </p:nvSpPr>
        <p:spPr>
          <a:xfrm>
            <a:off x="6446520" y="2194560"/>
            <a:ext cx="5193792" cy="2331720"/>
          </a:xfrm>
          <a:prstGeom prst="roundRect">
            <a:avLst>
              <a:gd name="adj" fmla="val 3922"/>
            </a:avLst>
          </a:prstGeom>
          <a:gradFill>
            <a:gsLst>
              <a:gs pos="0">
                <a:srgbClr val="002060"/>
              </a:gs>
              <a:gs pos="100000">
                <a:srgbClr val="000E2A"/>
              </a:gs>
            </a:gsLst>
            <a:lin ang="2700000" scaled="0"/>
          </a:gradFill>
          <a:ln/>
        </p:spPr>
      </p:sp>
      <p:sp>
        <p:nvSpPr>
          <p:cNvPr id="18" name="Shape 16"/>
          <p:cNvSpPr/>
          <p:nvPr/>
        </p:nvSpPr>
        <p:spPr>
          <a:xfrm>
            <a:off x="6720840" y="2423160"/>
            <a:ext cx="4645152" cy="822960"/>
          </a:xfrm>
          <a:prstGeom prst="roundRect">
            <a:avLst>
              <a:gd name="adj" fmla="val 8889"/>
            </a:avLst>
          </a:prstGeom>
          <a:solidFill>
            <a:srgbClr val="FFFFFF"/>
          </a:solidFill>
          <a:ln/>
        </p:spPr>
      </p:sp>
      <p:sp>
        <p:nvSpPr>
          <p:cNvPr id="19" name="Text 17"/>
          <p:cNvSpPr txBox="1"/>
          <p:nvPr/>
        </p:nvSpPr>
        <p:spPr>
          <a:xfrm>
            <a:off x="6885432" y="2496312"/>
            <a:ext cx="431596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Longitudinal Stress</a:t>
            </a:r>
            <a:endParaRPr lang="en-US" sz="1050" dirty="0"/>
          </a:p>
        </p:txBody>
      </p:sp>
      <p:sp>
        <p:nvSpPr>
          <p:cNvPr id="20" name="Text 18"/>
          <p:cNvSpPr txBox="1"/>
          <p:nvPr/>
        </p:nvSpPr>
        <p:spPr>
          <a:xfrm>
            <a:off x="8413547" y="2741422"/>
            <a:ext cx="670560" cy="329692"/>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Math" pitchFamily="34" charset="0"/>
                <a:ea typeface="Cambria Math" pitchFamily="34" charset="-122"/>
                <a:cs typeface="Cambria Math" pitchFamily="34" charset="-120"/>
              </a:rPr>
              <a:t>σL =</a:t>
            </a:r>
            <a:endParaRPr lang="en-US" sz="2200" dirty="0"/>
          </a:p>
        </p:txBody>
      </p:sp>
      <p:sp>
        <p:nvSpPr>
          <p:cNvPr id="21" name="Text 19"/>
          <p:cNvSpPr txBox="1"/>
          <p:nvPr/>
        </p:nvSpPr>
        <p:spPr>
          <a:xfrm>
            <a:off x="9148115" y="2613061"/>
            <a:ext cx="540410"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P d</a:t>
            </a:r>
            <a:endParaRPr lang="en-US" sz="1804" dirty="0"/>
          </a:p>
        </p:txBody>
      </p:sp>
      <p:sp>
        <p:nvSpPr>
          <p:cNvPr id="22" name="Shape 20"/>
          <p:cNvSpPr/>
          <p:nvPr/>
        </p:nvSpPr>
        <p:spPr>
          <a:xfrm>
            <a:off x="9184691" y="2903525"/>
            <a:ext cx="467258" cy="0"/>
          </a:xfrm>
          <a:prstGeom prst="line">
            <a:avLst/>
          </a:prstGeom>
          <a:noFill/>
          <a:ln w="15875">
            <a:solidFill>
              <a:srgbClr val="1E2761"/>
            </a:solidFill>
            <a:prstDash val="solid"/>
          </a:ln>
        </p:spPr>
      </p:sp>
      <p:sp>
        <p:nvSpPr>
          <p:cNvPr id="23" name="Text 21"/>
          <p:cNvSpPr txBox="1"/>
          <p:nvPr/>
        </p:nvSpPr>
        <p:spPr>
          <a:xfrm>
            <a:off x="9148115" y="2924556"/>
            <a:ext cx="540410"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4t</a:t>
            </a:r>
            <a:endParaRPr lang="en-US" sz="1804" dirty="0"/>
          </a:p>
        </p:txBody>
      </p:sp>
      <p:sp>
        <p:nvSpPr>
          <p:cNvPr id="24" name="Shape 22"/>
          <p:cNvSpPr/>
          <p:nvPr/>
        </p:nvSpPr>
        <p:spPr>
          <a:xfrm>
            <a:off x="6720840" y="3337560"/>
            <a:ext cx="4645152" cy="822960"/>
          </a:xfrm>
          <a:prstGeom prst="roundRect">
            <a:avLst>
              <a:gd name="adj" fmla="val 8889"/>
            </a:avLst>
          </a:prstGeom>
          <a:solidFill>
            <a:srgbClr val="FFFFFF"/>
          </a:solidFill>
          <a:ln/>
        </p:spPr>
      </p:sp>
      <p:sp>
        <p:nvSpPr>
          <p:cNvPr id="25" name="Text 23"/>
          <p:cNvSpPr txBox="1"/>
          <p:nvPr/>
        </p:nvSpPr>
        <p:spPr>
          <a:xfrm>
            <a:off x="6885432" y="3410712"/>
            <a:ext cx="431596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Required Thickness</a:t>
            </a:r>
            <a:endParaRPr lang="en-US" sz="1050" dirty="0"/>
          </a:p>
        </p:txBody>
      </p:sp>
      <p:sp>
        <p:nvSpPr>
          <p:cNvPr id="26" name="Text 24"/>
          <p:cNvSpPr txBox="1"/>
          <p:nvPr/>
        </p:nvSpPr>
        <p:spPr>
          <a:xfrm>
            <a:off x="8611667" y="3640582"/>
            <a:ext cx="502920" cy="329692"/>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Math" pitchFamily="34" charset="0"/>
                <a:ea typeface="Cambria Math" pitchFamily="34" charset="-122"/>
                <a:cs typeface="Cambria Math" pitchFamily="34" charset="-120"/>
              </a:rPr>
              <a:t>t =</a:t>
            </a:r>
            <a:endParaRPr lang="en-US" sz="2200" dirty="0"/>
          </a:p>
        </p:txBody>
      </p:sp>
      <p:sp>
        <p:nvSpPr>
          <p:cNvPr id="27" name="Text 25"/>
          <p:cNvSpPr txBox="1"/>
          <p:nvPr/>
        </p:nvSpPr>
        <p:spPr>
          <a:xfrm>
            <a:off x="9178595" y="3512221"/>
            <a:ext cx="540410" cy="270347"/>
          </a:xfrm>
          <a:prstGeom prst="rect">
            <a:avLst/>
          </a:prstGeom>
          <a:noFill/>
          <a:ln/>
        </p:spPr>
        <p:txBody>
          <a:bodyPr wrap="square" lIns="0" tIns="0" rIns="0" bIns="0" rtlCol="0" anchor="b"/>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P d</a:t>
            </a:r>
            <a:endParaRPr lang="en-US" sz="1804" dirty="0"/>
          </a:p>
        </p:txBody>
      </p:sp>
      <p:sp>
        <p:nvSpPr>
          <p:cNvPr id="28" name="Shape 26"/>
          <p:cNvSpPr/>
          <p:nvPr/>
        </p:nvSpPr>
        <p:spPr>
          <a:xfrm>
            <a:off x="9215171" y="3802685"/>
            <a:ext cx="467258" cy="0"/>
          </a:xfrm>
          <a:prstGeom prst="line">
            <a:avLst/>
          </a:prstGeom>
          <a:noFill/>
          <a:ln w="15875">
            <a:solidFill>
              <a:srgbClr val="1E2761"/>
            </a:solidFill>
            <a:prstDash val="solid"/>
          </a:ln>
        </p:spPr>
      </p:sp>
      <p:sp>
        <p:nvSpPr>
          <p:cNvPr id="29" name="Text 27"/>
          <p:cNvSpPr txBox="1"/>
          <p:nvPr/>
        </p:nvSpPr>
        <p:spPr>
          <a:xfrm>
            <a:off x="9178595" y="3823716"/>
            <a:ext cx="540410" cy="270347"/>
          </a:xfrm>
          <a:prstGeom prst="rect">
            <a:avLst/>
          </a:prstGeom>
          <a:noFill/>
          <a:ln/>
        </p:spPr>
        <p:txBody>
          <a:bodyPr wrap="square" lIns="0" tIns="0" rIns="0" bIns="0" rtlCol="0" anchor="t"/>
          <a:lstStyle/>
          <a:p>
            <a:pPr marL="0" indent="0" algn="ctr">
              <a:buNone/>
            </a:pPr>
            <a:r>
              <a:rPr lang="en-US" sz="1804" b="1" dirty="0">
                <a:solidFill>
                  <a:srgbClr val="1E2761"/>
                </a:solidFill>
                <a:latin typeface="Cambria Math" pitchFamily="34" charset="0"/>
                <a:ea typeface="Cambria Math" pitchFamily="34" charset="-122"/>
                <a:cs typeface="Cambria Math" pitchFamily="34" charset="-120"/>
              </a:rPr>
              <a:t>4σL</a:t>
            </a:r>
            <a:endParaRPr lang="en-US" sz="1804" dirty="0"/>
          </a:p>
        </p:txBody>
      </p:sp>
      <p:sp>
        <p:nvSpPr>
          <p:cNvPr id="30" name="Shape 28"/>
          <p:cNvSpPr/>
          <p:nvPr/>
        </p:nvSpPr>
        <p:spPr>
          <a:xfrm>
            <a:off x="548640" y="4754880"/>
            <a:ext cx="5486400" cy="1371600"/>
          </a:xfrm>
          <a:prstGeom prst="roundRect">
            <a:avLst>
              <a:gd name="adj" fmla="val 6667"/>
            </a:avLst>
          </a:prstGeom>
          <a:solidFill>
            <a:srgbClr val="F4F7FD"/>
          </a:solidFill>
          <a:ln/>
        </p:spPr>
      </p:sp>
      <p:sp>
        <p:nvSpPr>
          <p:cNvPr id="31" name="Text 29"/>
          <p:cNvSpPr txBox="1"/>
          <p:nvPr/>
        </p:nvSpPr>
        <p:spPr>
          <a:xfrm>
            <a:off x="777240" y="4892040"/>
            <a:ext cx="5029200" cy="32004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With circumferential joint efficiency ηc:</a:t>
            </a:r>
            <a:endParaRPr lang="en-US" sz="1250" dirty="0"/>
          </a:p>
        </p:txBody>
      </p:sp>
      <p:sp>
        <p:nvSpPr>
          <p:cNvPr id="32" name="Shape 30"/>
          <p:cNvSpPr/>
          <p:nvPr/>
        </p:nvSpPr>
        <p:spPr>
          <a:xfrm>
            <a:off x="777240" y="5212080"/>
            <a:ext cx="5029200" cy="777240"/>
          </a:xfrm>
          <a:prstGeom prst="roundRect">
            <a:avLst>
              <a:gd name="adj" fmla="val 9412"/>
            </a:avLst>
          </a:prstGeom>
          <a:solidFill>
            <a:srgbClr val="FFFFFF"/>
          </a:solidFill>
          <a:ln/>
        </p:spPr>
      </p:sp>
      <p:sp>
        <p:nvSpPr>
          <p:cNvPr id="33" name="Text 31"/>
          <p:cNvSpPr txBox="1"/>
          <p:nvPr/>
        </p:nvSpPr>
        <p:spPr>
          <a:xfrm>
            <a:off x="2652674" y="5465826"/>
            <a:ext cx="41148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t =</a:t>
            </a:r>
            <a:endParaRPr lang="en-US" sz="1800" dirty="0"/>
          </a:p>
        </p:txBody>
      </p:sp>
      <p:sp>
        <p:nvSpPr>
          <p:cNvPr id="34" name="Text 32"/>
          <p:cNvSpPr txBox="1"/>
          <p:nvPr/>
        </p:nvSpPr>
        <p:spPr>
          <a:xfrm>
            <a:off x="3128162" y="5356647"/>
            <a:ext cx="802843"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P d</a:t>
            </a:r>
            <a:endParaRPr lang="en-US" sz="1476" dirty="0"/>
          </a:p>
        </p:txBody>
      </p:sp>
      <p:sp>
        <p:nvSpPr>
          <p:cNvPr id="35" name="Shape 33"/>
          <p:cNvSpPr/>
          <p:nvPr/>
        </p:nvSpPr>
        <p:spPr>
          <a:xfrm>
            <a:off x="3164738" y="5597957"/>
            <a:ext cx="729691" cy="0"/>
          </a:xfrm>
          <a:prstGeom prst="line">
            <a:avLst/>
          </a:prstGeom>
          <a:noFill/>
          <a:ln w="15875">
            <a:solidFill>
              <a:srgbClr val="1E2761"/>
            </a:solidFill>
            <a:prstDash val="solid"/>
          </a:ln>
        </p:spPr>
      </p:sp>
      <p:sp>
        <p:nvSpPr>
          <p:cNvPr id="36" name="Text 34"/>
          <p:cNvSpPr txBox="1"/>
          <p:nvPr/>
        </p:nvSpPr>
        <p:spPr>
          <a:xfrm>
            <a:off x="3128162" y="5618988"/>
            <a:ext cx="802843"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4σL ηc</a:t>
            </a:r>
            <a:endParaRPr lang="en-US" sz="1476" dirty="0"/>
          </a:p>
        </p:txBody>
      </p:sp>
      <p:sp>
        <p:nvSpPr>
          <p:cNvPr id="37" name="Shape 35"/>
          <p:cNvSpPr/>
          <p:nvPr/>
        </p:nvSpPr>
        <p:spPr>
          <a:xfrm>
            <a:off x="6263640" y="4754880"/>
            <a:ext cx="5376672" cy="1371600"/>
          </a:xfrm>
          <a:prstGeom prst="roundRect">
            <a:avLst>
              <a:gd name="adj" fmla="val 6667"/>
            </a:avLst>
          </a:prstGeom>
          <a:solidFill>
            <a:srgbClr val="C97B1D"/>
          </a:solidFill>
          <a:ln/>
        </p:spPr>
      </p:sp>
      <p:sp>
        <p:nvSpPr>
          <p:cNvPr id="38" name="Text 36"/>
          <p:cNvSpPr txBox="1"/>
          <p:nvPr/>
        </p:nvSpPr>
        <p:spPr>
          <a:xfrm>
            <a:off x="6492240" y="4882896"/>
            <a:ext cx="48463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Key Relation</a:t>
            </a:r>
            <a:endParaRPr lang="en-US" sz="1250" dirty="0"/>
          </a:p>
        </p:txBody>
      </p:sp>
      <p:sp>
        <p:nvSpPr>
          <p:cNvPr id="39" name="Text 37"/>
          <p:cNvSpPr txBox="1"/>
          <p:nvPr/>
        </p:nvSpPr>
        <p:spPr>
          <a:xfrm>
            <a:off x="6492240" y="5175504"/>
            <a:ext cx="3246120" cy="8686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Longitudinal stress is half the hoop stress. So, design of a pressure vessel is based on the maximum stress minus the hoop stress.</a:t>
            </a:r>
            <a:endParaRPr lang="en-US" sz="1150" dirty="0"/>
          </a:p>
        </p:txBody>
      </p:sp>
      <p:sp>
        <p:nvSpPr>
          <p:cNvPr id="40" name="Text 38"/>
          <p:cNvSpPr txBox="1"/>
          <p:nvPr/>
        </p:nvSpPr>
        <p:spPr>
          <a:xfrm>
            <a:off x="9917125" y="5468747"/>
            <a:ext cx="518160" cy="25476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Math" pitchFamily="34" charset="0"/>
                <a:ea typeface="Cambria Math" pitchFamily="34" charset="-122"/>
                <a:cs typeface="Cambria Math" pitchFamily="34" charset="-120"/>
              </a:rPr>
              <a:t>σL =</a:t>
            </a:r>
            <a:endParaRPr lang="en-US" sz="1700" dirty="0"/>
          </a:p>
        </p:txBody>
      </p:sp>
      <p:sp>
        <p:nvSpPr>
          <p:cNvPr id="41" name="Text 39"/>
          <p:cNvSpPr txBox="1"/>
          <p:nvPr/>
        </p:nvSpPr>
        <p:spPr>
          <a:xfrm>
            <a:off x="10499293" y="5364363"/>
            <a:ext cx="340462" cy="208905"/>
          </a:xfrm>
          <a:prstGeom prst="rect">
            <a:avLst/>
          </a:prstGeom>
          <a:noFill/>
          <a:ln/>
        </p:spPr>
        <p:txBody>
          <a:bodyPr wrap="square" lIns="0" tIns="0" rIns="0" bIns="0" rtlCol="0" anchor="b"/>
          <a:lstStyle/>
          <a:p>
            <a:pPr marL="0" indent="0" algn="ctr">
              <a:buNone/>
            </a:pPr>
            <a:r>
              <a:rPr lang="en-US" sz="1394" b="1" dirty="0">
                <a:solidFill>
                  <a:srgbClr val="FFFFFF"/>
                </a:solidFill>
                <a:latin typeface="Cambria Math" pitchFamily="34" charset="0"/>
                <a:ea typeface="Cambria Math" pitchFamily="34" charset="-122"/>
                <a:cs typeface="Cambria Math" pitchFamily="34" charset="-120"/>
              </a:rPr>
              <a:t>σθ</a:t>
            </a:r>
            <a:endParaRPr lang="en-US" sz="1394" dirty="0"/>
          </a:p>
        </p:txBody>
      </p:sp>
      <p:sp>
        <p:nvSpPr>
          <p:cNvPr id="42" name="Shape 40"/>
          <p:cNvSpPr/>
          <p:nvPr/>
        </p:nvSpPr>
        <p:spPr>
          <a:xfrm>
            <a:off x="10535869" y="5593385"/>
            <a:ext cx="267310" cy="0"/>
          </a:xfrm>
          <a:prstGeom prst="line">
            <a:avLst/>
          </a:prstGeom>
          <a:noFill/>
          <a:ln w="15875">
            <a:solidFill>
              <a:srgbClr val="FFFFFF"/>
            </a:solidFill>
            <a:prstDash val="solid"/>
          </a:ln>
        </p:spPr>
      </p:sp>
      <p:sp>
        <p:nvSpPr>
          <p:cNvPr id="43" name="Text 41"/>
          <p:cNvSpPr txBox="1"/>
          <p:nvPr/>
        </p:nvSpPr>
        <p:spPr>
          <a:xfrm>
            <a:off x="10499293" y="5614416"/>
            <a:ext cx="340462" cy="208905"/>
          </a:xfrm>
          <a:prstGeom prst="rect">
            <a:avLst/>
          </a:prstGeom>
          <a:noFill/>
          <a:ln/>
        </p:spPr>
        <p:txBody>
          <a:bodyPr wrap="square" lIns="0" tIns="0" rIns="0" bIns="0" rtlCol="0" anchor="t"/>
          <a:lstStyle/>
          <a:p>
            <a:pPr marL="0" indent="0" algn="ctr">
              <a:buNone/>
            </a:pPr>
            <a:r>
              <a:rPr lang="en-US" sz="1394" b="1" dirty="0">
                <a:solidFill>
                  <a:srgbClr val="FFFFFF"/>
                </a:solidFill>
                <a:latin typeface="Cambria Math" pitchFamily="34" charset="0"/>
                <a:ea typeface="Cambria Math" pitchFamily="34" charset="-122"/>
                <a:cs typeface="Cambria Math" pitchFamily="34" charset="-120"/>
              </a:rPr>
              <a:t>2</a:t>
            </a:r>
            <a:endParaRPr lang="en-US" sz="139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5 · PART 1</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Effect of Internal Pressure on Dimensions — Strains</a:t>
            </a:r>
            <a:endParaRPr lang="en-US" sz="2800" dirty="0"/>
          </a:p>
        </p:txBody>
      </p:sp>
      <p:sp>
        <p:nvSpPr>
          <p:cNvPr id="5" name="Text 3"/>
          <p:cNvSpPr txBox="1"/>
          <p:nvPr/>
        </p:nvSpPr>
        <p:spPr>
          <a:xfrm>
            <a:off x="548640" y="1417320"/>
            <a:ext cx="11064240" cy="365760"/>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Internal pressure changes both the diameter and length of a thin cylindrical shell. E = Young's modulus, ν = Poisson's ratio.</a:t>
            </a:r>
            <a:endParaRPr lang="en-US" sz="1300" dirty="0"/>
          </a:p>
        </p:txBody>
      </p:sp>
      <p:sp>
        <p:nvSpPr>
          <p:cNvPr id="6" name="Shape 4"/>
          <p:cNvSpPr/>
          <p:nvPr/>
        </p:nvSpPr>
        <p:spPr>
          <a:xfrm>
            <a:off x="548640" y="1874520"/>
            <a:ext cx="5440680" cy="4480560"/>
          </a:xfrm>
          <a:prstGeom prst="roundRect">
            <a:avLst>
              <a:gd name="adj" fmla="val 2041"/>
            </a:avLst>
          </a:prstGeom>
          <a:solidFill>
            <a:srgbClr val="F4F7FD"/>
          </a:solidFill>
          <a:ln/>
        </p:spPr>
      </p:sp>
      <p:sp>
        <p:nvSpPr>
          <p:cNvPr id="7" name="Shape 5"/>
          <p:cNvSpPr/>
          <p:nvPr/>
        </p:nvSpPr>
        <p:spPr>
          <a:xfrm>
            <a:off x="804672" y="2093976"/>
            <a:ext cx="384048" cy="384048"/>
          </a:xfrm>
          <a:prstGeom prst="ellipse">
            <a:avLst/>
          </a:prstGeom>
          <a:solidFill>
            <a:srgbClr val="1E2761"/>
          </a:solidFill>
          <a:ln/>
        </p:spPr>
      </p:sp>
      <p:sp>
        <p:nvSpPr>
          <p:cNvPr id="8" name="Text 6"/>
          <p:cNvSpPr txBox="1"/>
          <p:nvPr/>
        </p:nvSpPr>
        <p:spPr>
          <a:xfrm>
            <a:off x="804672" y="2093976"/>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371600" y="2112264"/>
            <a:ext cx="434340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Hoop (Circumferential) Strain</a:t>
            </a:r>
            <a:endParaRPr lang="en-US" sz="1450" dirty="0"/>
          </a:p>
        </p:txBody>
      </p:sp>
      <p:sp>
        <p:nvSpPr>
          <p:cNvPr id="10" name="Shape 8"/>
          <p:cNvSpPr/>
          <p:nvPr/>
        </p:nvSpPr>
        <p:spPr>
          <a:xfrm>
            <a:off x="822960" y="2651760"/>
            <a:ext cx="4892040" cy="658368"/>
          </a:xfrm>
          <a:prstGeom prst="roundRect">
            <a:avLst>
              <a:gd name="adj" fmla="val 11111"/>
            </a:avLst>
          </a:prstGeom>
          <a:solidFill>
            <a:srgbClr val="FFFFFF"/>
          </a:solidFill>
          <a:ln/>
        </p:spPr>
      </p:sp>
      <p:sp>
        <p:nvSpPr>
          <p:cNvPr id="11" name="Text 9"/>
          <p:cNvSpPr txBox="1"/>
          <p:nvPr/>
        </p:nvSpPr>
        <p:spPr>
          <a:xfrm>
            <a:off x="2457450" y="286854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θ =</a:t>
            </a:r>
            <a:endParaRPr lang="en-US" sz="1500" dirty="0"/>
          </a:p>
        </p:txBody>
      </p:sp>
      <p:sp>
        <p:nvSpPr>
          <p:cNvPr id="12" name="Text 10"/>
          <p:cNvSpPr txBox="1"/>
          <p:nvPr/>
        </p:nvSpPr>
        <p:spPr>
          <a:xfrm>
            <a:off x="2978658" y="2773756"/>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σθ</a:t>
            </a:r>
            <a:endParaRPr lang="en-US" sz="1230" dirty="0"/>
          </a:p>
        </p:txBody>
      </p:sp>
      <p:sp>
        <p:nvSpPr>
          <p:cNvPr id="13" name="Shape 11"/>
          <p:cNvSpPr/>
          <p:nvPr/>
        </p:nvSpPr>
        <p:spPr>
          <a:xfrm>
            <a:off x="3015234" y="2978201"/>
            <a:ext cx="242316" cy="0"/>
          </a:xfrm>
          <a:prstGeom prst="line">
            <a:avLst/>
          </a:prstGeom>
          <a:noFill/>
          <a:ln w="15875">
            <a:solidFill>
              <a:srgbClr val="1E2761"/>
            </a:solidFill>
            <a:prstDash val="solid"/>
          </a:ln>
        </p:spPr>
      </p:sp>
      <p:sp>
        <p:nvSpPr>
          <p:cNvPr id="14" name="Text 12"/>
          <p:cNvSpPr txBox="1"/>
          <p:nvPr/>
        </p:nvSpPr>
        <p:spPr>
          <a:xfrm>
            <a:off x="2978658" y="2999232"/>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E</a:t>
            </a:r>
            <a:endParaRPr lang="en-US" sz="1230" dirty="0"/>
          </a:p>
        </p:txBody>
      </p:sp>
      <p:sp>
        <p:nvSpPr>
          <p:cNvPr id="15" name="Text 13"/>
          <p:cNvSpPr txBox="1"/>
          <p:nvPr/>
        </p:nvSpPr>
        <p:spPr>
          <a:xfrm>
            <a:off x="3358134" y="2868549"/>
            <a:ext cx="3429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 ν</a:t>
            </a:r>
            <a:endParaRPr lang="en-US" sz="1500" dirty="0"/>
          </a:p>
        </p:txBody>
      </p:sp>
      <p:sp>
        <p:nvSpPr>
          <p:cNvPr id="16" name="Text 14"/>
          <p:cNvSpPr txBox="1"/>
          <p:nvPr/>
        </p:nvSpPr>
        <p:spPr>
          <a:xfrm>
            <a:off x="3765042" y="2773756"/>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σL</a:t>
            </a:r>
            <a:endParaRPr lang="en-US" sz="1230" dirty="0"/>
          </a:p>
        </p:txBody>
      </p:sp>
      <p:sp>
        <p:nvSpPr>
          <p:cNvPr id="17" name="Shape 15"/>
          <p:cNvSpPr/>
          <p:nvPr/>
        </p:nvSpPr>
        <p:spPr>
          <a:xfrm>
            <a:off x="3801618" y="2978201"/>
            <a:ext cx="242316" cy="0"/>
          </a:xfrm>
          <a:prstGeom prst="line">
            <a:avLst/>
          </a:prstGeom>
          <a:noFill/>
          <a:ln w="15875">
            <a:solidFill>
              <a:srgbClr val="1E2761"/>
            </a:solidFill>
            <a:prstDash val="solid"/>
          </a:ln>
        </p:spPr>
      </p:sp>
      <p:sp>
        <p:nvSpPr>
          <p:cNvPr id="18" name="Text 16"/>
          <p:cNvSpPr txBox="1"/>
          <p:nvPr/>
        </p:nvSpPr>
        <p:spPr>
          <a:xfrm>
            <a:off x="3765042" y="2999232"/>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E</a:t>
            </a:r>
            <a:endParaRPr lang="en-US" sz="1230" dirty="0"/>
          </a:p>
        </p:txBody>
      </p:sp>
      <p:sp>
        <p:nvSpPr>
          <p:cNvPr id="19" name="Shape 17"/>
          <p:cNvSpPr/>
          <p:nvPr/>
        </p:nvSpPr>
        <p:spPr>
          <a:xfrm>
            <a:off x="822960" y="3383280"/>
            <a:ext cx="4892040" cy="658368"/>
          </a:xfrm>
          <a:prstGeom prst="roundRect">
            <a:avLst>
              <a:gd name="adj" fmla="val 11111"/>
            </a:avLst>
          </a:prstGeom>
          <a:solidFill>
            <a:srgbClr val="FFFFFF"/>
          </a:solidFill>
          <a:ln/>
        </p:spPr>
      </p:sp>
      <p:sp>
        <p:nvSpPr>
          <p:cNvPr id="20" name="Text 18"/>
          <p:cNvSpPr txBox="1"/>
          <p:nvPr/>
        </p:nvSpPr>
        <p:spPr>
          <a:xfrm>
            <a:off x="2311146" y="360006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θ =</a:t>
            </a:r>
            <a:endParaRPr lang="en-US" sz="1500" dirty="0"/>
          </a:p>
        </p:txBody>
      </p:sp>
      <p:sp>
        <p:nvSpPr>
          <p:cNvPr id="21" name="Text 19"/>
          <p:cNvSpPr txBox="1"/>
          <p:nvPr/>
        </p:nvSpPr>
        <p:spPr>
          <a:xfrm>
            <a:off x="2832354" y="3505276"/>
            <a:ext cx="409194"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P d</a:t>
            </a:r>
            <a:endParaRPr lang="en-US" sz="1230" dirty="0"/>
          </a:p>
        </p:txBody>
      </p:sp>
      <p:sp>
        <p:nvSpPr>
          <p:cNvPr id="22" name="Shape 20"/>
          <p:cNvSpPr/>
          <p:nvPr/>
        </p:nvSpPr>
        <p:spPr>
          <a:xfrm>
            <a:off x="2868930" y="3709721"/>
            <a:ext cx="336042" cy="0"/>
          </a:xfrm>
          <a:prstGeom prst="line">
            <a:avLst/>
          </a:prstGeom>
          <a:noFill/>
          <a:ln w="15875">
            <a:solidFill>
              <a:srgbClr val="1E2761"/>
            </a:solidFill>
            <a:prstDash val="solid"/>
          </a:ln>
        </p:spPr>
      </p:sp>
      <p:sp>
        <p:nvSpPr>
          <p:cNvPr id="23" name="Text 21"/>
          <p:cNvSpPr txBox="1"/>
          <p:nvPr/>
        </p:nvSpPr>
        <p:spPr>
          <a:xfrm>
            <a:off x="2832354" y="3730752"/>
            <a:ext cx="409194" cy="184328"/>
          </a:xfrm>
          <a:prstGeom prst="rect">
            <a:avLst/>
          </a:prstGeom>
          <a:noFill/>
          <a:ln/>
        </p:spPr>
        <p:txBody>
          <a:bodyPr wrap="square" lIns="0" tIns="0" rIns="0" bIns="0" rtlCol="0" anchor="t"/>
          <a:lstStyle/>
          <a:p>
            <a:pPr marL="0" indent="0" algn="ctr">
              <a:buNone/>
            </a:pPr>
            <a:r>
              <a:rPr lang="en-US" sz="1230" b="1" spc="300" dirty="0">
                <a:solidFill>
                  <a:srgbClr val="1E2761"/>
                </a:solidFill>
                <a:latin typeface="Cambria Math" pitchFamily="34" charset="0"/>
                <a:ea typeface="Cambria Math" pitchFamily="34" charset="-122"/>
                <a:cs typeface="Cambria Math" pitchFamily="34" charset="-120"/>
              </a:rPr>
              <a:t>2tE</a:t>
            </a:r>
            <a:endParaRPr lang="en-US" sz="1230" spc="300" dirty="0"/>
          </a:p>
        </p:txBody>
      </p:sp>
      <p:sp>
        <p:nvSpPr>
          <p:cNvPr id="24" name="Text 22"/>
          <p:cNvSpPr txBox="1"/>
          <p:nvPr/>
        </p:nvSpPr>
        <p:spPr>
          <a:xfrm>
            <a:off x="3305556" y="360006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( 1 −</a:t>
            </a:r>
            <a:endParaRPr lang="en-US" sz="1500" dirty="0"/>
          </a:p>
        </p:txBody>
      </p:sp>
      <p:sp>
        <p:nvSpPr>
          <p:cNvPr id="25" name="Text 23"/>
          <p:cNvSpPr txBox="1"/>
          <p:nvPr/>
        </p:nvSpPr>
        <p:spPr>
          <a:xfrm>
            <a:off x="3826764" y="3505276"/>
            <a:ext cx="221742"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ν</a:t>
            </a:r>
            <a:endParaRPr lang="en-US" sz="1230" dirty="0"/>
          </a:p>
        </p:txBody>
      </p:sp>
      <p:sp>
        <p:nvSpPr>
          <p:cNvPr id="26" name="Shape 24"/>
          <p:cNvSpPr/>
          <p:nvPr/>
        </p:nvSpPr>
        <p:spPr>
          <a:xfrm>
            <a:off x="3863340" y="3709721"/>
            <a:ext cx="148590" cy="0"/>
          </a:xfrm>
          <a:prstGeom prst="line">
            <a:avLst/>
          </a:prstGeom>
          <a:noFill/>
          <a:ln w="15875">
            <a:solidFill>
              <a:srgbClr val="1E2761"/>
            </a:solidFill>
            <a:prstDash val="solid"/>
          </a:ln>
        </p:spPr>
      </p:sp>
      <p:sp>
        <p:nvSpPr>
          <p:cNvPr id="27" name="Text 25"/>
          <p:cNvSpPr txBox="1"/>
          <p:nvPr/>
        </p:nvSpPr>
        <p:spPr>
          <a:xfrm>
            <a:off x="3826764" y="3730752"/>
            <a:ext cx="221742"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2</a:t>
            </a:r>
            <a:endParaRPr lang="en-US" sz="1230" dirty="0"/>
          </a:p>
        </p:txBody>
      </p:sp>
      <p:sp>
        <p:nvSpPr>
          <p:cNvPr id="28" name="Text 26"/>
          <p:cNvSpPr txBox="1"/>
          <p:nvPr/>
        </p:nvSpPr>
        <p:spPr>
          <a:xfrm>
            <a:off x="4052507" y="3586810"/>
            <a:ext cx="1143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a:t>
            </a:r>
            <a:endParaRPr lang="en-US" sz="1500" dirty="0"/>
          </a:p>
        </p:txBody>
      </p:sp>
      <p:sp>
        <p:nvSpPr>
          <p:cNvPr id="29" name="Text 27"/>
          <p:cNvSpPr txBox="1"/>
          <p:nvPr/>
        </p:nvSpPr>
        <p:spPr>
          <a:xfrm>
            <a:off x="822960" y="4114800"/>
            <a:ext cx="4892040" cy="27432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Hoop strain = change in diameter / original diameter:</a:t>
            </a:r>
            <a:endParaRPr lang="en-US" sz="1100" dirty="0"/>
          </a:p>
        </p:txBody>
      </p:sp>
      <p:sp>
        <p:nvSpPr>
          <p:cNvPr id="30" name="Shape 28"/>
          <p:cNvSpPr/>
          <p:nvPr/>
        </p:nvSpPr>
        <p:spPr>
          <a:xfrm>
            <a:off x="822960" y="4416552"/>
            <a:ext cx="4892040" cy="566928"/>
          </a:xfrm>
          <a:prstGeom prst="roundRect">
            <a:avLst>
              <a:gd name="adj" fmla="val 12903"/>
            </a:avLst>
          </a:prstGeom>
          <a:solidFill>
            <a:srgbClr val="FFFFFF"/>
          </a:solidFill>
          <a:ln/>
        </p:spPr>
      </p:sp>
      <p:sp>
        <p:nvSpPr>
          <p:cNvPr id="31" name="Text 29"/>
          <p:cNvSpPr txBox="1"/>
          <p:nvPr/>
        </p:nvSpPr>
        <p:spPr>
          <a:xfrm>
            <a:off x="2850642" y="4587621"/>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θ =</a:t>
            </a:r>
            <a:endParaRPr lang="en-US" sz="1500" dirty="0"/>
          </a:p>
        </p:txBody>
      </p:sp>
      <p:sp>
        <p:nvSpPr>
          <p:cNvPr id="32" name="Text 30"/>
          <p:cNvSpPr txBox="1"/>
          <p:nvPr/>
        </p:nvSpPr>
        <p:spPr>
          <a:xfrm>
            <a:off x="3371850" y="4492828"/>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δd</a:t>
            </a:r>
            <a:endParaRPr lang="en-US" sz="1230" dirty="0"/>
          </a:p>
        </p:txBody>
      </p:sp>
      <p:sp>
        <p:nvSpPr>
          <p:cNvPr id="33" name="Shape 31"/>
          <p:cNvSpPr/>
          <p:nvPr/>
        </p:nvSpPr>
        <p:spPr>
          <a:xfrm>
            <a:off x="3408426" y="4697273"/>
            <a:ext cx="242316" cy="0"/>
          </a:xfrm>
          <a:prstGeom prst="line">
            <a:avLst/>
          </a:prstGeom>
          <a:noFill/>
          <a:ln w="15875">
            <a:solidFill>
              <a:srgbClr val="1E2761"/>
            </a:solidFill>
            <a:prstDash val="solid"/>
          </a:ln>
        </p:spPr>
      </p:sp>
      <p:sp>
        <p:nvSpPr>
          <p:cNvPr id="34" name="Text 32"/>
          <p:cNvSpPr txBox="1"/>
          <p:nvPr/>
        </p:nvSpPr>
        <p:spPr>
          <a:xfrm>
            <a:off x="3371850" y="4718304"/>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d</a:t>
            </a:r>
            <a:endParaRPr lang="en-US" sz="1230" dirty="0"/>
          </a:p>
        </p:txBody>
      </p:sp>
      <p:sp>
        <p:nvSpPr>
          <p:cNvPr id="35" name="Text 33"/>
          <p:cNvSpPr txBox="1"/>
          <p:nvPr/>
        </p:nvSpPr>
        <p:spPr>
          <a:xfrm>
            <a:off x="822960" y="5056632"/>
            <a:ext cx="489204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Change in diameter:</a:t>
            </a:r>
            <a:endParaRPr lang="en-US" sz="1100" dirty="0"/>
          </a:p>
        </p:txBody>
      </p:sp>
      <p:sp>
        <p:nvSpPr>
          <p:cNvPr id="36" name="Shape 34"/>
          <p:cNvSpPr/>
          <p:nvPr/>
        </p:nvSpPr>
        <p:spPr>
          <a:xfrm>
            <a:off x="822960" y="5330952"/>
            <a:ext cx="4892040" cy="713232"/>
          </a:xfrm>
          <a:prstGeom prst="roundRect">
            <a:avLst>
              <a:gd name="adj" fmla="val 10256"/>
            </a:avLst>
          </a:prstGeom>
          <a:gradFill>
            <a:gsLst>
              <a:gs pos="0">
                <a:srgbClr val="002060"/>
              </a:gs>
              <a:gs pos="100000">
                <a:srgbClr val="000E2A"/>
              </a:gs>
            </a:gsLst>
            <a:lin ang="2700000" scaled="0"/>
          </a:gradFill>
          <a:ln/>
        </p:spPr>
      </p:sp>
      <p:sp>
        <p:nvSpPr>
          <p:cNvPr id="37" name="Text 35"/>
          <p:cNvSpPr txBox="1"/>
          <p:nvPr/>
        </p:nvSpPr>
        <p:spPr>
          <a:xfrm>
            <a:off x="2289239" y="5578920"/>
            <a:ext cx="44196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δd =</a:t>
            </a:r>
            <a:endParaRPr lang="en-US" sz="1450" dirty="0"/>
          </a:p>
        </p:txBody>
      </p:sp>
      <p:sp>
        <p:nvSpPr>
          <p:cNvPr id="38" name="Text 36"/>
          <p:cNvSpPr txBox="1"/>
          <p:nvPr/>
        </p:nvSpPr>
        <p:spPr>
          <a:xfrm>
            <a:off x="2795207" y="5486524"/>
            <a:ext cx="490423" cy="178184"/>
          </a:xfrm>
          <a:prstGeom prst="rect">
            <a:avLst/>
          </a:prstGeom>
          <a:noFill/>
          <a:ln/>
        </p:spPr>
        <p:txBody>
          <a:bodyPr wrap="square" lIns="0" tIns="0" rIns="0" bIns="0" rtlCol="0" anchor="b"/>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P d²</a:t>
            </a:r>
            <a:endParaRPr lang="en-US" sz="1189" dirty="0"/>
          </a:p>
        </p:txBody>
      </p:sp>
      <p:sp>
        <p:nvSpPr>
          <p:cNvPr id="39" name="Shape 37"/>
          <p:cNvSpPr/>
          <p:nvPr/>
        </p:nvSpPr>
        <p:spPr>
          <a:xfrm>
            <a:off x="2831783" y="5684825"/>
            <a:ext cx="417271" cy="0"/>
          </a:xfrm>
          <a:prstGeom prst="line">
            <a:avLst/>
          </a:prstGeom>
          <a:noFill/>
          <a:ln w="15875">
            <a:solidFill>
              <a:srgbClr val="FFFFFF"/>
            </a:solidFill>
            <a:prstDash val="solid"/>
          </a:ln>
        </p:spPr>
      </p:sp>
      <p:sp>
        <p:nvSpPr>
          <p:cNvPr id="40" name="Text 38"/>
          <p:cNvSpPr txBox="1"/>
          <p:nvPr/>
        </p:nvSpPr>
        <p:spPr>
          <a:xfrm>
            <a:off x="2795207" y="5705856"/>
            <a:ext cx="490423" cy="178184"/>
          </a:xfrm>
          <a:prstGeom prst="rect">
            <a:avLst/>
          </a:prstGeom>
          <a:noFill/>
          <a:ln/>
        </p:spPr>
        <p:txBody>
          <a:bodyPr wrap="square" lIns="0" tIns="0" rIns="0" bIns="0" rtlCol="0" anchor="t"/>
          <a:lstStyle/>
          <a:p>
            <a:pPr marL="0" indent="0" algn="ctr">
              <a:buNone/>
            </a:pPr>
            <a:r>
              <a:rPr lang="en-US" sz="1189" b="1" spc="300" dirty="0">
                <a:solidFill>
                  <a:srgbClr val="FFFFFF"/>
                </a:solidFill>
                <a:latin typeface="Cambria Math" pitchFamily="34" charset="0"/>
                <a:ea typeface="Cambria Math" pitchFamily="34" charset="-122"/>
                <a:cs typeface="Cambria Math" pitchFamily="34" charset="-120"/>
              </a:rPr>
              <a:t>2tE</a:t>
            </a:r>
            <a:endParaRPr lang="en-US" sz="1189" spc="300" dirty="0"/>
          </a:p>
        </p:txBody>
      </p:sp>
      <p:sp>
        <p:nvSpPr>
          <p:cNvPr id="41" name="Text 39"/>
          <p:cNvSpPr txBox="1"/>
          <p:nvPr/>
        </p:nvSpPr>
        <p:spPr>
          <a:xfrm>
            <a:off x="3386976" y="5578920"/>
            <a:ext cx="44196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( 1 −</a:t>
            </a:r>
            <a:endParaRPr lang="en-US" sz="1450" dirty="0"/>
          </a:p>
        </p:txBody>
      </p:sp>
      <p:sp>
        <p:nvSpPr>
          <p:cNvPr id="42" name="Text 40"/>
          <p:cNvSpPr txBox="1"/>
          <p:nvPr/>
        </p:nvSpPr>
        <p:spPr>
          <a:xfrm>
            <a:off x="3855606" y="5486524"/>
            <a:ext cx="218618" cy="178184"/>
          </a:xfrm>
          <a:prstGeom prst="rect">
            <a:avLst/>
          </a:prstGeom>
          <a:noFill/>
          <a:ln/>
        </p:spPr>
        <p:txBody>
          <a:bodyPr wrap="square" lIns="0" tIns="0" rIns="0" bIns="0" rtlCol="0" anchor="b"/>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ν</a:t>
            </a:r>
            <a:endParaRPr lang="en-US" sz="1189" dirty="0"/>
          </a:p>
        </p:txBody>
      </p:sp>
      <p:sp>
        <p:nvSpPr>
          <p:cNvPr id="43" name="Shape 41"/>
          <p:cNvSpPr/>
          <p:nvPr/>
        </p:nvSpPr>
        <p:spPr>
          <a:xfrm>
            <a:off x="3892182" y="5684825"/>
            <a:ext cx="145466" cy="0"/>
          </a:xfrm>
          <a:prstGeom prst="line">
            <a:avLst/>
          </a:prstGeom>
          <a:noFill/>
          <a:ln w="15875">
            <a:solidFill>
              <a:srgbClr val="FFFFFF"/>
            </a:solidFill>
            <a:prstDash val="solid"/>
          </a:ln>
        </p:spPr>
      </p:sp>
      <p:sp>
        <p:nvSpPr>
          <p:cNvPr id="44" name="Text 42"/>
          <p:cNvSpPr txBox="1"/>
          <p:nvPr/>
        </p:nvSpPr>
        <p:spPr>
          <a:xfrm>
            <a:off x="3855606" y="5705856"/>
            <a:ext cx="218618" cy="178184"/>
          </a:xfrm>
          <a:prstGeom prst="rect">
            <a:avLst/>
          </a:prstGeom>
          <a:noFill/>
          <a:ln/>
        </p:spPr>
        <p:txBody>
          <a:bodyPr wrap="square" lIns="0" tIns="0" rIns="0" bIns="0" rtlCol="0" anchor="t"/>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2</a:t>
            </a:r>
            <a:endParaRPr lang="en-US" sz="1189" dirty="0"/>
          </a:p>
        </p:txBody>
      </p:sp>
      <p:sp>
        <p:nvSpPr>
          <p:cNvPr id="45" name="Text 43"/>
          <p:cNvSpPr txBox="1"/>
          <p:nvPr/>
        </p:nvSpPr>
        <p:spPr>
          <a:xfrm>
            <a:off x="4138232" y="5578920"/>
            <a:ext cx="11049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a:t>
            </a:r>
            <a:endParaRPr lang="en-US" sz="1450" dirty="0"/>
          </a:p>
        </p:txBody>
      </p:sp>
      <p:sp>
        <p:nvSpPr>
          <p:cNvPr id="46" name="Shape 44"/>
          <p:cNvSpPr/>
          <p:nvPr/>
        </p:nvSpPr>
        <p:spPr>
          <a:xfrm>
            <a:off x="6199632" y="1874520"/>
            <a:ext cx="5440680" cy="4480560"/>
          </a:xfrm>
          <a:prstGeom prst="roundRect">
            <a:avLst>
              <a:gd name="adj" fmla="val 2041"/>
            </a:avLst>
          </a:prstGeom>
          <a:solidFill>
            <a:srgbClr val="F4F7FD"/>
          </a:solidFill>
          <a:ln/>
        </p:spPr>
      </p:sp>
      <p:sp>
        <p:nvSpPr>
          <p:cNvPr id="47" name="Shape 45"/>
          <p:cNvSpPr/>
          <p:nvPr/>
        </p:nvSpPr>
        <p:spPr>
          <a:xfrm>
            <a:off x="6455664" y="2093976"/>
            <a:ext cx="384048" cy="384048"/>
          </a:xfrm>
          <a:prstGeom prst="ellipse">
            <a:avLst/>
          </a:prstGeom>
          <a:solidFill>
            <a:srgbClr val="1E2761"/>
          </a:solidFill>
          <a:ln/>
        </p:spPr>
      </p:sp>
      <p:sp>
        <p:nvSpPr>
          <p:cNvPr id="48" name="Text 46"/>
          <p:cNvSpPr txBox="1"/>
          <p:nvPr/>
        </p:nvSpPr>
        <p:spPr>
          <a:xfrm>
            <a:off x="6455664" y="2093976"/>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9" name="Text 47"/>
          <p:cNvSpPr txBox="1"/>
          <p:nvPr/>
        </p:nvSpPr>
        <p:spPr>
          <a:xfrm>
            <a:off x="7022592" y="2112264"/>
            <a:ext cx="434340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Longitudinal Strain</a:t>
            </a:r>
            <a:endParaRPr lang="en-US" sz="1450" dirty="0"/>
          </a:p>
        </p:txBody>
      </p:sp>
      <p:sp>
        <p:nvSpPr>
          <p:cNvPr id="50" name="Shape 48"/>
          <p:cNvSpPr/>
          <p:nvPr/>
        </p:nvSpPr>
        <p:spPr>
          <a:xfrm>
            <a:off x="6473952" y="2651760"/>
            <a:ext cx="4892040" cy="658368"/>
          </a:xfrm>
          <a:prstGeom prst="roundRect">
            <a:avLst>
              <a:gd name="adj" fmla="val 11111"/>
            </a:avLst>
          </a:prstGeom>
          <a:solidFill>
            <a:srgbClr val="FFFFFF"/>
          </a:solidFill>
          <a:ln/>
        </p:spPr>
      </p:sp>
      <p:sp>
        <p:nvSpPr>
          <p:cNvPr id="51" name="Text 49"/>
          <p:cNvSpPr txBox="1"/>
          <p:nvPr/>
        </p:nvSpPr>
        <p:spPr>
          <a:xfrm>
            <a:off x="8108442" y="286854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L =</a:t>
            </a:r>
            <a:endParaRPr lang="en-US" sz="1500" dirty="0"/>
          </a:p>
        </p:txBody>
      </p:sp>
      <p:sp>
        <p:nvSpPr>
          <p:cNvPr id="52" name="Text 50"/>
          <p:cNvSpPr txBox="1"/>
          <p:nvPr/>
        </p:nvSpPr>
        <p:spPr>
          <a:xfrm>
            <a:off x="8629650" y="2773756"/>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σL</a:t>
            </a:r>
            <a:endParaRPr lang="en-US" sz="1230" dirty="0"/>
          </a:p>
        </p:txBody>
      </p:sp>
      <p:sp>
        <p:nvSpPr>
          <p:cNvPr id="53" name="Shape 51"/>
          <p:cNvSpPr/>
          <p:nvPr/>
        </p:nvSpPr>
        <p:spPr>
          <a:xfrm>
            <a:off x="8666226" y="2978201"/>
            <a:ext cx="242316" cy="0"/>
          </a:xfrm>
          <a:prstGeom prst="line">
            <a:avLst/>
          </a:prstGeom>
          <a:noFill/>
          <a:ln w="15875">
            <a:solidFill>
              <a:srgbClr val="1E2761"/>
            </a:solidFill>
            <a:prstDash val="solid"/>
          </a:ln>
        </p:spPr>
      </p:sp>
      <p:sp>
        <p:nvSpPr>
          <p:cNvPr id="54" name="Text 52"/>
          <p:cNvSpPr txBox="1"/>
          <p:nvPr/>
        </p:nvSpPr>
        <p:spPr>
          <a:xfrm>
            <a:off x="8629650" y="2999232"/>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E</a:t>
            </a:r>
            <a:endParaRPr lang="en-US" sz="1230" dirty="0"/>
          </a:p>
        </p:txBody>
      </p:sp>
      <p:sp>
        <p:nvSpPr>
          <p:cNvPr id="55" name="Text 53"/>
          <p:cNvSpPr txBox="1"/>
          <p:nvPr/>
        </p:nvSpPr>
        <p:spPr>
          <a:xfrm>
            <a:off x="9009126" y="2868549"/>
            <a:ext cx="3429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 ν</a:t>
            </a:r>
            <a:endParaRPr lang="en-US" sz="1500" dirty="0"/>
          </a:p>
        </p:txBody>
      </p:sp>
      <p:sp>
        <p:nvSpPr>
          <p:cNvPr id="56" name="Text 54"/>
          <p:cNvSpPr txBox="1"/>
          <p:nvPr/>
        </p:nvSpPr>
        <p:spPr>
          <a:xfrm>
            <a:off x="9416034" y="2773756"/>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σθ</a:t>
            </a:r>
            <a:endParaRPr lang="en-US" sz="1230" dirty="0"/>
          </a:p>
        </p:txBody>
      </p:sp>
      <p:sp>
        <p:nvSpPr>
          <p:cNvPr id="57" name="Shape 55"/>
          <p:cNvSpPr/>
          <p:nvPr/>
        </p:nvSpPr>
        <p:spPr>
          <a:xfrm>
            <a:off x="9452610" y="2978201"/>
            <a:ext cx="242316" cy="0"/>
          </a:xfrm>
          <a:prstGeom prst="line">
            <a:avLst/>
          </a:prstGeom>
          <a:noFill/>
          <a:ln w="15875">
            <a:solidFill>
              <a:srgbClr val="1E2761"/>
            </a:solidFill>
            <a:prstDash val="solid"/>
          </a:ln>
        </p:spPr>
      </p:sp>
      <p:sp>
        <p:nvSpPr>
          <p:cNvPr id="58" name="Text 56"/>
          <p:cNvSpPr txBox="1"/>
          <p:nvPr/>
        </p:nvSpPr>
        <p:spPr>
          <a:xfrm>
            <a:off x="9416034" y="2999232"/>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E</a:t>
            </a:r>
            <a:endParaRPr lang="en-US" sz="1230" dirty="0"/>
          </a:p>
        </p:txBody>
      </p:sp>
      <p:sp>
        <p:nvSpPr>
          <p:cNvPr id="59" name="Shape 57"/>
          <p:cNvSpPr/>
          <p:nvPr/>
        </p:nvSpPr>
        <p:spPr>
          <a:xfrm>
            <a:off x="6473952" y="3383280"/>
            <a:ext cx="4892040" cy="658368"/>
          </a:xfrm>
          <a:prstGeom prst="roundRect">
            <a:avLst>
              <a:gd name="adj" fmla="val 11111"/>
            </a:avLst>
          </a:prstGeom>
          <a:solidFill>
            <a:srgbClr val="FFFFFF"/>
          </a:solidFill>
          <a:ln/>
        </p:spPr>
      </p:sp>
      <p:sp>
        <p:nvSpPr>
          <p:cNvPr id="60" name="Text 58"/>
          <p:cNvSpPr txBox="1"/>
          <p:nvPr/>
        </p:nvSpPr>
        <p:spPr>
          <a:xfrm>
            <a:off x="7962138" y="360006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L =</a:t>
            </a:r>
            <a:endParaRPr lang="en-US" sz="1500" dirty="0"/>
          </a:p>
        </p:txBody>
      </p:sp>
      <p:sp>
        <p:nvSpPr>
          <p:cNvPr id="61" name="Text 59"/>
          <p:cNvSpPr txBox="1"/>
          <p:nvPr/>
        </p:nvSpPr>
        <p:spPr>
          <a:xfrm>
            <a:off x="8483346" y="3505276"/>
            <a:ext cx="409194"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P d</a:t>
            </a:r>
            <a:endParaRPr lang="en-US" sz="1230" dirty="0"/>
          </a:p>
        </p:txBody>
      </p:sp>
      <p:sp>
        <p:nvSpPr>
          <p:cNvPr id="62" name="Shape 60"/>
          <p:cNvSpPr/>
          <p:nvPr/>
        </p:nvSpPr>
        <p:spPr>
          <a:xfrm>
            <a:off x="8519922" y="3709721"/>
            <a:ext cx="336042" cy="0"/>
          </a:xfrm>
          <a:prstGeom prst="line">
            <a:avLst/>
          </a:prstGeom>
          <a:noFill/>
          <a:ln w="15875">
            <a:solidFill>
              <a:srgbClr val="1E2761"/>
            </a:solidFill>
            <a:prstDash val="solid"/>
          </a:ln>
        </p:spPr>
      </p:sp>
      <p:sp>
        <p:nvSpPr>
          <p:cNvPr id="63" name="Text 61"/>
          <p:cNvSpPr txBox="1"/>
          <p:nvPr/>
        </p:nvSpPr>
        <p:spPr>
          <a:xfrm>
            <a:off x="8483346" y="3730752"/>
            <a:ext cx="409194" cy="184328"/>
          </a:xfrm>
          <a:prstGeom prst="rect">
            <a:avLst/>
          </a:prstGeom>
          <a:noFill/>
          <a:ln/>
        </p:spPr>
        <p:txBody>
          <a:bodyPr wrap="square" lIns="0" tIns="0" rIns="0" bIns="0" rtlCol="0" anchor="t"/>
          <a:lstStyle/>
          <a:p>
            <a:pPr marL="0" indent="0" algn="ctr">
              <a:buNone/>
            </a:pPr>
            <a:r>
              <a:rPr lang="en-US" sz="1230" b="1" spc="300" dirty="0">
                <a:solidFill>
                  <a:srgbClr val="1E2761"/>
                </a:solidFill>
                <a:latin typeface="Cambria Math" pitchFamily="34" charset="0"/>
                <a:ea typeface="Cambria Math" pitchFamily="34" charset="-122"/>
                <a:cs typeface="Cambria Math" pitchFamily="34" charset="-120"/>
              </a:rPr>
              <a:t>2tE</a:t>
            </a:r>
            <a:endParaRPr lang="en-US" sz="1230" spc="300" dirty="0"/>
          </a:p>
        </p:txBody>
      </p:sp>
      <p:sp>
        <p:nvSpPr>
          <p:cNvPr id="64" name="Text 62"/>
          <p:cNvSpPr txBox="1"/>
          <p:nvPr/>
        </p:nvSpPr>
        <p:spPr>
          <a:xfrm>
            <a:off x="9018499" y="3600069"/>
            <a:ext cx="1143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a:t>
            </a:r>
            <a:endParaRPr lang="en-US" sz="1500" dirty="0"/>
          </a:p>
        </p:txBody>
      </p:sp>
      <p:sp>
        <p:nvSpPr>
          <p:cNvPr id="65" name="Text 63"/>
          <p:cNvSpPr txBox="1"/>
          <p:nvPr/>
        </p:nvSpPr>
        <p:spPr>
          <a:xfrm>
            <a:off x="9134856" y="3505276"/>
            <a:ext cx="221742"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1</a:t>
            </a:r>
            <a:endParaRPr lang="en-US" sz="1230" dirty="0"/>
          </a:p>
        </p:txBody>
      </p:sp>
      <p:sp>
        <p:nvSpPr>
          <p:cNvPr id="66" name="Shape 64"/>
          <p:cNvSpPr/>
          <p:nvPr/>
        </p:nvSpPr>
        <p:spPr>
          <a:xfrm>
            <a:off x="9171432" y="3709721"/>
            <a:ext cx="148590" cy="0"/>
          </a:xfrm>
          <a:prstGeom prst="line">
            <a:avLst/>
          </a:prstGeom>
          <a:noFill/>
          <a:ln w="15875">
            <a:solidFill>
              <a:srgbClr val="1E2761"/>
            </a:solidFill>
            <a:prstDash val="solid"/>
          </a:ln>
        </p:spPr>
      </p:sp>
      <p:sp>
        <p:nvSpPr>
          <p:cNvPr id="67" name="Text 65"/>
          <p:cNvSpPr txBox="1"/>
          <p:nvPr/>
        </p:nvSpPr>
        <p:spPr>
          <a:xfrm>
            <a:off x="9134856" y="3730752"/>
            <a:ext cx="221742"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2</a:t>
            </a:r>
            <a:endParaRPr lang="en-US" sz="1230" dirty="0"/>
          </a:p>
        </p:txBody>
      </p:sp>
      <p:sp>
        <p:nvSpPr>
          <p:cNvPr id="68" name="Text 66"/>
          <p:cNvSpPr txBox="1"/>
          <p:nvPr/>
        </p:nvSpPr>
        <p:spPr>
          <a:xfrm>
            <a:off x="9420606" y="3600069"/>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 ν )</a:t>
            </a:r>
            <a:endParaRPr lang="en-US" sz="1500" dirty="0"/>
          </a:p>
        </p:txBody>
      </p:sp>
      <p:sp>
        <p:nvSpPr>
          <p:cNvPr id="69" name="Text 67"/>
          <p:cNvSpPr txBox="1"/>
          <p:nvPr/>
        </p:nvSpPr>
        <p:spPr>
          <a:xfrm>
            <a:off x="6473952" y="4114800"/>
            <a:ext cx="4892040" cy="274320"/>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Longitudinal strain = change in length / original length:</a:t>
            </a:r>
            <a:endParaRPr lang="en-US" sz="1100" dirty="0"/>
          </a:p>
        </p:txBody>
      </p:sp>
      <p:sp>
        <p:nvSpPr>
          <p:cNvPr id="70" name="Shape 68"/>
          <p:cNvSpPr/>
          <p:nvPr/>
        </p:nvSpPr>
        <p:spPr>
          <a:xfrm>
            <a:off x="6473952" y="4416552"/>
            <a:ext cx="4892040" cy="566928"/>
          </a:xfrm>
          <a:prstGeom prst="roundRect">
            <a:avLst>
              <a:gd name="adj" fmla="val 12903"/>
            </a:avLst>
          </a:prstGeom>
          <a:solidFill>
            <a:srgbClr val="FFFFFF"/>
          </a:solidFill>
          <a:ln/>
        </p:spPr>
      </p:sp>
      <p:sp>
        <p:nvSpPr>
          <p:cNvPr id="71" name="Text 69"/>
          <p:cNvSpPr txBox="1"/>
          <p:nvPr/>
        </p:nvSpPr>
        <p:spPr>
          <a:xfrm>
            <a:off x="8501634" y="4587621"/>
            <a:ext cx="457200" cy="224790"/>
          </a:xfrm>
          <a:prstGeom prst="rect">
            <a:avLst/>
          </a:prstGeom>
          <a:noFill/>
          <a:ln/>
        </p:spPr>
        <p:txBody>
          <a:bodyPr wrap="square" lIns="0" tIns="0" rIns="0" bIns="0" rtlCol="0" anchor="ctr"/>
          <a:lstStyle/>
          <a:p>
            <a:pPr marL="0" indent="0" algn="ctr">
              <a:buNone/>
            </a:pPr>
            <a:r>
              <a:rPr lang="en-US" sz="1500" b="1" dirty="0">
                <a:solidFill>
                  <a:srgbClr val="1E2761"/>
                </a:solidFill>
                <a:latin typeface="Cambria Math" pitchFamily="34" charset="0"/>
                <a:ea typeface="Cambria Math" pitchFamily="34" charset="-122"/>
                <a:cs typeface="Cambria Math" pitchFamily="34" charset="-120"/>
              </a:rPr>
              <a:t>ε L =</a:t>
            </a:r>
            <a:endParaRPr lang="en-US" sz="1500" dirty="0"/>
          </a:p>
        </p:txBody>
      </p:sp>
      <p:sp>
        <p:nvSpPr>
          <p:cNvPr id="72" name="Text 70"/>
          <p:cNvSpPr txBox="1"/>
          <p:nvPr/>
        </p:nvSpPr>
        <p:spPr>
          <a:xfrm>
            <a:off x="9022842" y="4492828"/>
            <a:ext cx="315468" cy="184328"/>
          </a:xfrm>
          <a:prstGeom prst="rect">
            <a:avLst/>
          </a:prstGeom>
          <a:noFill/>
          <a:ln/>
        </p:spPr>
        <p:txBody>
          <a:bodyPr wrap="square" lIns="0" tIns="0" rIns="0" bIns="0" rtlCol="0" anchor="b"/>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δL</a:t>
            </a:r>
            <a:endParaRPr lang="en-US" sz="1230" dirty="0"/>
          </a:p>
        </p:txBody>
      </p:sp>
      <p:sp>
        <p:nvSpPr>
          <p:cNvPr id="73" name="Shape 71"/>
          <p:cNvSpPr/>
          <p:nvPr/>
        </p:nvSpPr>
        <p:spPr>
          <a:xfrm>
            <a:off x="9059418" y="4697273"/>
            <a:ext cx="242316" cy="0"/>
          </a:xfrm>
          <a:prstGeom prst="line">
            <a:avLst/>
          </a:prstGeom>
          <a:noFill/>
          <a:ln w="15875">
            <a:solidFill>
              <a:srgbClr val="1E2761"/>
            </a:solidFill>
            <a:prstDash val="solid"/>
          </a:ln>
        </p:spPr>
      </p:sp>
      <p:sp>
        <p:nvSpPr>
          <p:cNvPr id="74" name="Text 72"/>
          <p:cNvSpPr txBox="1"/>
          <p:nvPr/>
        </p:nvSpPr>
        <p:spPr>
          <a:xfrm>
            <a:off x="9022842" y="4718304"/>
            <a:ext cx="315468" cy="184328"/>
          </a:xfrm>
          <a:prstGeom prst="rect">
            <a:avLst/>
          </a:prstGeom>
          <a:noFill/>
          <a:ln/>
        </p:spPr>
        <p:txBody>
          <a:bodyPr wrap="square" lIns="0" tIns="0" rIns="0" bIns="0" rtlCol="0" anchor="t"/>
          <a:lstStyle/>
          <a:p>
            <a:pPr marL="0" indent="0" algn="ctr">
              <a:buNone/>
            </a:pPr>
            <a:r>
              <a:rPr lang="en-US" sz="1230" b="1" dirty="0">
                <a:solidFill>
                  <a:srgbClr val="1E2761"/>
                </a:solidFill>
                <a:latin typeface="Cambria Math" pitchFamily="34" charset="0"/>
                <a:ea typeface="Cambria Math" pitchFamily="34" charset="-122"/>
                <a:cs typeface="Cambria Math" pitchFamily="34" charset="-120"/>
              </a:rPr>
              <a:t>L</a:t>
            </a:r>
            <a:endParaRPr lang="en-US" sz="1230" dirty="0"/>
          </a:p>
        </p:txBody>
      </p:sp>
      <p:sp>
        <p:nvSpPr>
          <p:cNvPr id="75" name="Text 73"/>
          <p:cNvSpPr txBox="1"/>
          <p:nvPr/>
        </p:nvSpPr>
        <p:spPr>
          <a:xfrm>
            <a:off x="6473952" y="5056632"/>
            <a:ext cx="4892040" cy="256032"/>
          </a:xfrm>
          <a:prstGeom prst="rect">
            <a:avLst/>
          </a:prstGeom>
          <a:noFill/>
          <a:ln/>
        </p:spPr>
        <p:txBody>
          <a:bodyPr wrap="square" lIns="0" tIns="0" rIns="0" bIns="0" rtlCol="0" anchor="ctr"/>
          <a:lstStyle/>
          <a:p>
            <a:pPr marL="0" indent="0">
              <a:buNone/>
            </a:pPr>
            <a:r>
              <a:rPr lang="en-US" sz="1100" dirty="0">
                <a:solidFill>
                  <a:srgbClr val="1E2761"/>
                </a:solidFill>
                <a:latin typeface="Calibri" pitchFamily="34" charset="0"/>
                <a:ea typeface="Calibri" pitchFamily="34" charset="-122"/>
                <a:cs typeface="Calibri" pitchFamily="34" charset="-120"/>
              </a:rPr>
              <a:t>Change in length:</a:t>
            </a:r>
            <a:endParaRPr lang="en-US" sz="1100" dirty="0"/>
          </a:p>
        </p:txBody>
      </p:sp>
      <p:sp>
        <p:nvSpPr>
          <p:cNvPr id="76" name="Shape 74"/>
          <p:cNvSpPr/>
          <p:nvPr/>
        </p:nvSpPr>
        <p:spPr>
          <a:xfrm>
            <a:off x="6473952" y="5330952"/>
            <a:ext cx="4892040" cy="713232"/>
          </a:xfrm>
          <a:prstGeom prst="roundRect">
            <a:avLst>
              <a:gd name="adj" fmla="val 10256"/>
            </a:avLst>
          </a:prstGeom>
          <a:gradFill>
            <a:gsLst>
              <a:gs pos="0">
                <a:srgbClr val="002060"/>
              </a:gs>
              <a:gs pos="100000">
                <a:srgbClr val="000E2A"/>
              </a:gs>
            </a:gsLst>
            <a:lin ang="2700000" scaled="0"/>
          </a:gradFill>
          <a:ln/>
        </p:spPr>
      </p:sp>
      <p:sp>
        <p:nvSpPr>
          <p:cNvPr id="77" name="Text 75"/>
          <p:cNvSpPr txBox="1"/>
          <p:nvPr/>
        </p:nvSpPr>
        <p:spPr>
          <a:xfrm>
            <a:off x="7894930" y="5578920"/>
            <a:ext cx="44196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δL =</a:t>
            </a:r>
            <a:endParaRPr lang="en-US" sz="1450" dirty="0"/>
          </a:p>
        </p:txBody>
      </p:sp>
      <p:sp>
        <p:nvSpPr>
          <p:cNvPr id="78" name="Text 76"/>
          <p:cNvSpPr txBox="1"/>
          <p:nvPr/>
        </p:nvSpPr>
        <p:spPr>
          <a:xfrm>
            <a:off x="8400898" y="5486524"/>
            <a:ext cx="581025" cy="178184"/>
          </a:xfrm>
          <a:prstGeom prst="rect">
            <a:avLst/>
          </a:prstGeom>
          <a:noFill/>
          <a:ln/>
        </p:spPr>
        <p:txBody>
          <a:bodyPr wrap="square" lIns="0" tIns="0" rIns="0" bIns="0" rtlCol="0" anchor="b"/>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P d L</a:t>
            </a:r>
            <a:endParaRPr lang="en-US" sz="1189" dirty="0"/>
          </a:p>
        </p:txBody>
      </p:sp>
      <p:sp>
        <p:nvSpPr>
          <p:cNvPr id="79" name="Shape 77"/>
          <p:cNvSpPr/>
          <p:nvPr/>
        </p:nvSpPr>
        <p:spPr>
          <a:xfrm>
            <a:off x="8437474" y="5684825"/>
            <a:ext cx="507873" cy="0"/>
          </a:xfrm>
          <a:prstGeom prst="line">
            <a:avLst/>
          </a:prstGeom>
          <a:noFill/>
          <a:ln w="15875">
            <a:solidFill>
              <a:srgbClr val="FFFFFF"/>
            </a:solidFill>
            <a:prstDash val="solid"/>
          </a:ln>
        </p:spPr>
      </p:sp>
      <p:sp>
        <p:nvSpPr>
          <p:cNvPr id="80" name="Text 78"/>
          <p:cNvSpPr txBox="1"/>
          <p:nvPr/>
        </p:nvSpPr>
        <p:spPr>
          <a:xfrm>
            <a:off x="8400898" y="5705856"/>
            <a:ext cx="581025" cy="178184"/>
          </a:xfrm>
          <a:prstGeom prst="rect">
            <a:avLst/>
          </a:prstGeom>
          <a:noFill/>
          <a:ln/>
        </p:spPr>
        <p:txBody>
          <a:bodyPr wrap="square" lIns="0" tIns="0" rIns="0" bIns="0" rtlCol="0" anchor="t"/>
          <a:lstStyle/>
          <a:p>
            <a:pPr marL="0" indent="0" algn="ctr">
              <a:buNone/>
            </a:pPr>
            <a:r>
              <a:rPr lang="en-US" sz="1189" b="1" spc="300" dirty="0">
                <a:solidFill>
                  <a:srgbClr val="FFFFFF"/>
                </a:solidFill>
                <a:latin typeface="Cambria Math" pitchFamily="34" charset="0"/>
                <a:ea typeface="Cambria Math" pitchFamily="34" charset="-122"/>
                <a:cs typeface="Cambria Math" pitchFamily="34" charset="-120"/>
              </a:rPr>
              <a:t>2tE</a:t>
            </a:r>
            <a:endParaRPr lang="en-US" sz="1189" spc="300" dirty="0"/>
          </a:p>
        </p:txBody>
      </p:sp>
      <p:sp>
        <p:nvSpPr>
          <p:cNvPr id="81" name="Text 79"/>
          <p:cNvSpPr txBox="1"/>
          <p:nvPr/>
        </p:nvSpPr>
        <p:spPr>
          <a:xfrm>
            <a:off x="9045931" y="5578920"/>
            <a:ext cx="11049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a:t>
            </a:r>
            <a:endParaRPr lang="en-US" sz="1450" dirty="0"/>
          </a:p>
        </p:txBody>
      </p:sp>
      <p:sp>
        <p:nvSpPr>
          <p:cNvPr id="82" name="Text 80"/>
          <p:cNvSpPr txBox="1"/>
          <p:nvPr/>
        </p:nvSpPr>
        <p:spPr>
          <a:xfrm>
            <a:off x="9220429" y="5486524"/>
            <a:ext cx="218618" cy="178184"/>
          </a:xfrm>
          <a:prstGeom prst="rect">
            <a:avLst/>
          </a:prstGeom>
          <a:noFill/>
          <a:ln/>
        </p:spPr>
        <p:txBody>
          <a:bodyPr wrap="square" lIns="0" tIns="0" rIns="0" bIns="0" rtlCol="0" anchor="b"/>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1</a:t>
            </a:r>
            <a:endParaRPr lang="en-US" sz="1189" dirty="0"/>
          </a:p>
        </p:txBody>
      </p:sp>
      <p:sp>
        <p:nvSpPr>
          <p:cNvPr id="83" name="Shape 81"/>
          <p:cNvSpPr/>
          <p:nvPr/>
        </p:nvSpPr>
        <p:spPr>
          <a:xfrm>
            <a:off x="9257005" y="5684825"/>
            <a:ext cx="145466" cy="0"/>
          </a:xfrm>
          <a:prstGeom prst="line">
            <a:avLst/>
          </a:prstGeom>
          <a:noFill/>
          <a:ln w="15875">
            <a:solidFill>
              <a:srgbClr val="FFFFFF"/>
            </a:solidFill>
            <a:prstDash val="solid"/>
          </a:ln>
        </p:spPr>
      </p:sp>
      <p:sp>
        <p:nvSpPr>
          <p:cNvPr id="84" name="Text 82"/>
          <p:cNvSpPr txBox="1"/>
          <p:nvPr/>
        </p:nvSpPr>
        <p:spPr>
          <a:xfrm>
            <a:off x="9220429" y="5705856"/>
            <a:ext cx="218618" cy="178184"/>
          </a:xfrm>
          <a:prstGeom prst="rect">
            <a:avLst/>
          </a:prstGeom>
          <a:noFill/>
          <a:ln/>
        </p:spPr>
        <p:txBody>
          <a:bodyPr wrap="square" lIns="0" tIns="0" rIns="0" bIns="0" rtlCol="0" anchor="t"/>
          <a:lstStyle/>
          <a:p>
            <a:pPr marL="0" indent="0" algn="ctr">
              <a:buNone/>
            </a:pPr>
            <a:r>
              <a:rPr lang="en-US" sz="1189" b="1" dirty="0">
                <a:solidFill>
                  <a:srgbClr val="FFFFFF"/>
                </a:solidFill>
                <a:latin typeface="Cambria Math" pitchFamily="34" charset="0"/>
                <a:ea typeface="Cambria Math" pitchFamily="34" charset="-122"/>
                <a:cs typeface="Cambria Math" pitchFamily="34" charset="-120"/>
              </a:rPr>
              <a:t>2</a:t>
            </a:r>
            <a:endParaRPr lang="en-US" sz="1189" dirty="0"/>
          </a:p>
        </p:txBody>
      </p:sp>
      <p:sp>
        <p:nvSpPr>
          <p:cNvPr id="85" name="Text 83"/>
          <p:cNvSpPr txBox="1"/>
          <p:nvPr/>
        </p:nvSpPr>
        <p:spPr>
          <a:xfrm>
            <a:off x="9447581" y="5556059"/>
            <a:ext cx="441960" cy="217297"/>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Math" pitchFamily="34" charset="0"/>
                <a:ea typeface="Cambria Math" pitchFamily="34" charset="-122"/>
                <a:cs typeface="Cambria Math" pitchFamily="34" charset="-120"/>
              </a:rPr>
              <a:t>− ν )</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5 · PART 2</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Effect of Internal Pressure on Dimensions — Volumetric Strain</a:t>
            </a:r>
            <a:endParaRPr lang="en-US" sz="2800" dirty="0"/>
          </a:p>
        </p:txBody>
      </p:sp>
      <p:sp>
        <p:nvSpPr>
          <p:cNvPr id="5" name="Text 3"/>
          <p:cNvSpPr txBox="1"/>
          <p:nvPr/>
        </p:nvSpPr>
        <p:spPr>
          <a:xfrm>
            <a:off x="548640" y="1463040"/>
            <a:ext cx="11064240" cy="411480"/>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The overall change in volume of the shell combines the hoop and longitudinal strains.</a:t>
            </a:r>
            <a:endParaRPr lang="en-US" sz="1400" dirty="0"/>
          </a:p>
        </p:txBody>
      </p:sp>
      <p:sp>
        <p:nvSpPr>
          <p:cNvPr id="6" name="Shape 4"/>
          <p:cNvSpPr/>
          <p:nvPr/>
        </p:nvSpPr>
        <p:spPr>
          <a:xfrm>
            <a:off x="548640" y="2011680"/>
            <a:ext cx="11091672" cy="1143000"/>
          </a:xfrm>
          <a:prstGeom prst="roundRect">
            <a:avLst>
              <a:gd name="adj" fmla="val 8000"/>
            </a:avLst>
          </a:prstGeom>
          <a:solidFill>
            <a:srgbClr val="F4F7FD"/>
          </a:solidFill>
          <a:ln/>
        </p:spPr>
      </p:sp>
      <p:sp>
        <p:nvSpPr>
          <p:cNvPr id="7" name="Text 5"/>
          <p:cNvSpPr txBox="1"/>
          <p:nvPr/>
        </p:nvSpPr>
        <p:spPr>
          <a:xfrm>
            <a:off x="822960" y="2121408"/>
            <a:ext cx="10515600" cy="292608"/>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Volumetric strain = change in volume / original volume, expressed in terms of hoop and longitudinal strain:</a:t>
            </a:r>
            <a:endParaRPr lang="en-US" sz="1200" dirty="0"/>
          </a:p>
        </p:txBody>
      </p:sp>
      <p:sp>
        <p:nvSpPr>
          <p:cNvPr id="8" name="Shape 6"/>
          <p:cNvSpPr/>
          <p:nvPr/>
        </p:nvSpPr>
        <p:spPr>
          <a:xfrm>
            <a:off x="822960" y="2450592"/>
            <a:ext cx="10515600" cy="621792"/>
          </a:xfrm>
          <a:prstGeom prst="roundRect">
            <a:avLst>
              <a:gd name="adj" fmla="val 11765"/>
            </a:avLst>
          </a:prstGeom>
          <a:solidFill>
            <a:srgbClr val="FFFFFF"/>
          </a:solidFill>
          <a:ln/>
        </p:spPr>
      </p:sp>
      <p:sp>
        <p:nvSpPr>
          <p:cNvPr id="9" name="Text 7"/>
          <p:cNvSpPr txBox="1"/>
          <p:nvPr/>
        </p:nvSpPr>
        <p:spPr>
          <a:xfrm>
            <a:off x="4880153" y="2626614"/>
            <a:ext cx="54864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εV =</a:t>
            </a:r>
            <a:endParaRPr lang="en-US" sz="1800" dirty="0"/>
          </a:p>
        </p:txBody>
      </p:sp>
      <p:sp>
        <p:nvSpPr>
          <p:cNvPr id="10" name="Text 8"/>
          <p:cNvSpPr txBox="1"/>
          <p:nvPr/>
        </p:nvSpPr>
        <p:spPr>
          <a:xfrm>
            <a:off x="5492801" y="2517435"/>
            <a:ext cx="352958"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δV</a:t>
            </a:r>
            <a:endParaRPr lang="en-US" sz="1476" dirty="0"/>
          </a:p>
        </p:txBody>
      </p:sp>
      <p:sp>
        <p:nvSpPr>
          <p:cNvPr id="11" name="Shape 9"/>
          <p:cNvSpPr/>
          <p:nvPr/>
        </p:nvSpPr>
        <p:spPr>
          <a:xfrm>
            <a:off x="5529377" y="2758745"/>
            <a:ext cx="279806" cy="0"/>
          </a:xfrm>
          <a:prstGeom prst="line">
            <a:avLst/>
          </a:prstGeom>
          <a:noFill/>
          <a:ln w="15875">
            <a:solidFill>
              <a:srgbClr val="1E2761"/>
            </a:solidFill>
            <a:prstDash val="solid"/>
          </a:ln>
        </p:spPr>
      </p:sp>
      <p:sp>
        <p:nvSpPr>
          <p:cNvPr id="12" name="Text 10"/>
          <p:cNvSpPr txBox="1"/>
          <p:nvPr/>
        </p:nvSpPr>
        <p:spPr>
          <a:xfrm>
            <a:off x="5492801" y="2779776"/>
            <a:ext cx="352958"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V</a:t>
            </a:r>
            <a:endParaRPr lang="en-US" sz="1476" dirty="0"/>
          </a:p>
        </p:txBody>
      </p:sp>
      <p:sp>
        <p:nvSpPr>
          <p:cNvPr id="13" name="Text 11"/>
          <p:cNvSpPr txBox="1"/>
          <p:nvPr/>
        </p:nvSpPr>
        <p:spPr>
          <a:xfrm>
            <a:off x="5909767" y="2626614"/>
            <a:ext cx="137160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 2εθ + εL</a:t>
            </a:r>
            <a:endParaRPr lang="en-US" sz="1800" dirty="0"/>
          </a:p>
        </p:txBody>
      </p:sp>
      <p:sp>
        <p:nvSpPr>
          <p:cNvPr id="14" name="Shape 12"/>
          <p:cNvSpPr/>
          <p:nvPr/>
        </p:nvSpPr>
        <p:spPr>
          <a:xfrm>
            <a:off x="548640" y="3364992"/>
            <a:ext cx="11091672" cy="1188720"/>
          </a:xfrm>
          <a:prstGeom prst="roundRect">
            <a:avLst>
              <a:gd name="adj" fmla="val 7692"/>
            </a:avLst>
          </a:prstGeom>
          <a:solidFill>
            <a:srgbClr val="CADCFC"/>
          </a:solidFill>
          <a:ln/>
        </p:spPr>
      </p:sp>
      <p:sp>
        <p:nvSpPr>
          <p:cNvPr id="15" name="Text 13"/>
          <p:cNvSpPr txBox="1"/>
          <p:nvPr/>
        </p:nvSpPr>
        <p:spPr>
          <a:xfrm>
            <a:off x="822960" y="3474720"/>
            <a:ext cx="1051560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Substituting the expressions for εθ and εL:</a:t>
            </a:r>
            <a:endParaRPr lang="en-US" sz="1200" dirty="0"/>
          </a:p>
        </p:txBody>
      </p:sp>
      <p:sp>
        <p:nvSpPr>
          <p:cNvPr id="16" name="Shape 14"/>
          <p:cNvSpPr/>
          <p:nvPr/>
        </p:nvSpPr>
        <p:spPr>
          <a:xfrm>
            <a:off x="822960" y="3794760"/>
            <a:ext cx="10515600" cy="685800"/>
          </a:xfrm>
          <a:prstGeom prst="roundRect">
            <a:avLst>
              <a:gd name="adj" fmla="val 10667"/>
            </a:avLst>
          </a:prstGeom>
          <a:solidFill>
            <a:srgbClr val="FFFFFF"/>
          </a:solidFill>
          <a:ln/>
        </p:spPr>
      </p:sp>
      <p:sp>
        <p:nvSpPr>
          <p:cNvPr id="17" name="Text 15"/>
          <p:cNvSpPr txBox="1"/>
          <p:nvPr/>
        </p:nvSpPr>
        <p:spPr>
          <a:xfrm>
            <a:off x="4935779" y="3995293"/>
            <a:ext cx="579120" cy="284734"/>
          </a:xfrm>
          <a:prstGeom prst="rect">
            <a:avLst/>
          </a:prstGeom>
          <a:noFill/>
          <a:ln/>
        </p:spPr>
        <p:txBody>
          <a:bodyPr wrap="square" lIns="0" tIns="0" rIns="0" bIns="0" rtlCol="0" anchor="ctr"/>
          <a:lstStyle/>
          <a:p>
            <a:pPr marL="0" indent="0" algn="ctr">
              <a:buNone/>
            </a:pPr>
            <a:r>
              <a:rPr lang="en-US" sz="1900" b="1" dirty="0">
                <a:solidFill>
                  <a:srgbClr val="1E2761"/>
                </a:solidFill>
                <a:latin typeface="Cambria Math" pitchFamily="34" charset="0"/>
                <a:ea typeface="Cambria Math" pitchFamily="34" charset="-122"/>
                <a:cs typeface="Cambria Math" pitchFamily="34" charset="-120"/>
              </a:rPr>
              <a:t>εV =</a:t>
            </a:r>
            <a:endParaRPr lang="en-US" sz="1900" dirty="0"/>
          </a:p>
        </p:txBody>
      </p:sp>
      <p:sp>
        <p:nvSpPr>
          <p:cNvPr id="18" name="Text 16"/>
          <p:cNvSpPr txBox="1"/>
          <p:nvPr/>
        </p:nvSpPr>
        <p:spPr>
          <a:xfrm>
            <a:off x="5578907" y="3881318"/>
            <a:ext cx="484175" cy="233482"/>
          </a:xfrm>
          <a:prstGeom prst="rect">
            <a:avLst/>
          </a:prstGeom>
          <a:noFill/>
          <a:ln/>
        </p:spPr>
        <p:txBody>
          <a:bodyPr wrap="square" lIns="0" tIns="0" rIns="0" bIns="0" rtlCol="0" anchor="b"/>
          <a:lstStyle/>
          <a:p>
            <a:pPr marL="0" indent="0" algn="ctr">
              <a:buNone/>
            </a:pPr>
            <a:r>
              <a:rPr lang="en-US" sz="1558" b="1" dirty="0">
                <a:solidFill>
                  <a:srgbClr val="1E2761"/>
                </a:solidFill>
                <a:latin typeface="Cambria Math" pitchFamily="34" charset="0"/>
                <a:ea typeface="Cambria Math" pitchFamily="34" charset="-122"/>
                <a:cs typeface="Cambria Math" pitchFamily="34" charset="-120"/>
              </a:rPr>
              <a:t>P d</a:t>
            </a:r>
            <a:endParaRPr lang="en-US" sz="1558" dirty="0"/>
          </a:p>
        </p:txBody>
      </p:sp>
      <p:sp>
        <p:nvSpPr>
          <p:cNvPr id="19" name="Shape 17"/>
          <p:cNvSpPr/>
          <p:nvPr/>
        </p:nvSpPr>
        <p:spPr>
          <a:xfrm>
            <a:off x="5615483" y="4134917"/>
            <a:ext cx="411023" cy="0"/>
          </a:xfrm>
          <a:prstGeom prst="line">
            <a:avLst/>
          </a:prstGeom>
          <a:noFill/>
          <a:ln w="15875">
            <a:solidFill>
              <a:srgbClr val="1E2761"/>
            </a:solidFill>
            <a:prstDash val="solid"/>
          </a:ln>
        </p:spPr>
      </p:sp>
      <p:sp>
        <p:nvSpPr>
          <p:cNvPr id="20" name="Text 18"/>
          <p:cNvSpPr txBox="1"/>
          <p:nvPr/>
        </p:nvSpPr>
        <p:spPr>
          <a:xfrm>
            <a:off x="5578907" y="4155948"/>
            <a:ext cx="484175" cy="233482"/>
          </a:xfrm>
          <a:prstGeom prst="rect">
            <a:avLst/>
          </a:prstGeom>
          <a:noFill/>
          <a:ln/>
        </p:spPr>
        <p:txBody>
          <a:bodyPr wrap="square" lIns="0" tIns="0" rIns="0" bIns="0" rtlCol="0" anchor="t"/>
          <a:lstStyle/>
          <a:p>
            <a:pPr marL="0" indent="0" algn="ctr">
              <a:buNone/>
            </a:pPr>
            <a:r>
              <a:rPr lang="en-US" sz="1558" b="1" dirty="0">
                <a:solidFill>
                  <a:srgbClr val="1E2761"/>
                </a:solidFill>
                <a:latin typeface="Cambria Math" pitchFamily="34" charset="0"/>
                <a:ea typeface="Cambria Math" pitchFamily="34" charset="-122"/>
                <a:cs typeface="Cambria Math" pitchFamily="34" charset="-120"/>
              </a:rPr>
              <a:t>2Et</a:t>
            </a:r>
            <a:endParaRPr lang="en-US" sz="1558" dirty="0"/>
          </a:p>
        </p:txBody>
      </p:sp>
      <p:sp>
        <p:nvSpPr>
          <p:cNvPr id="21" name="Text 19"/>
          <p:cNvSpPr txBox="1"/>
          <p:nvPr/>
        </p:nvSpPr>
        <p:spPr>
          <a:xfrm>
            <a:off x="6200852" y="3998059"/>
            <a:ext cx="144780" cy="284734"/>
          </a:xfrm>
          <a:prstGeom prst="rect">
            <a:avLst/>
          </a:prstGeom>
          <a:noFill/>
          <a:ln/>
        </p:spPr>
        <p:txBody>
          <a:bodyPr wrap="square" lIns="0" tIns="0" rIns="0" bIns="0" rtlCol="0" anchor="ctr"/>
          <a:lstStyle/>
          <a:p>
            <a:pPr marL="0" indent="0" algn="ctr">
              <a:buNone/>
            </a:pPr>
            <a:r>
              <a:rPr lang="en-US" sz="1900" b="1" dirty="0">
                <a:solidFill>
                  <a:srgbClr val="1E2761"/>
                </a:solidFill>
                <a:latin typeface="Cambria Math" pitchFamily="34" charset="0"/>
                <a:ea typeface="Cambria Math" pitchFamily="34" charset="-122"/>
                <a:cs typeface="Cambria Math" pitchFamily="34" charset="-120"/>
              </a:rPr>
              <a:t>(</a:t>
            </a:r>
            <a:endParaRPr lang="en-US" sz="1900" dirty="0"/>
          </a:p>
        </p:txBody>
      </p:sp>
      <p:sp>
        <p:nvSpPr>
          <p:cNvPr id="22" name="Text 20"/>
          <p:cNvSpPr txBox="1"/>
          <p:nvPr/>
        </p:nvSpPr>
        <p:spPr>
          <a:xfrm>
            <a:off x="6335878" y="3881318"/>
            <a:ext cx="246736" cy="233482"/>
          </a:xfrm>
          <a:prstGeom prst="rect">
            <a:avLst/>
          </a:prstGeom>
          <a:noFill/>
          <a:ln/>
        </p:spPr>
        <p:txBody>
          <a:bodyPr wrap="square" lIns="0" tIns="0" rIns="0" bIns="0" rtlCol="0" anchor="b"/>
          <a:lstStyle/>
          <a:p>
            <a:pPr marL="0" indent="0" algn="ctr">
              <a:buNone/>
            </a:pPr>
            <a:r>
              <a:rPr lang="en-US" sz="1558" b="1" dirty="0">
                <a:solidFill>
                  <a:srgbClr val="1E2761"/>
                </a:solidFill>
                <a:latin typeface="Cambria Math" pitchFamily="34" charset="0"/>
                <a:ea typeface="Cambria Math" pitchFamily="34" charset="-122"/>
                <a:cs typeface="Cambria Math" pitchFamily="34" charset="-120"/>
              </a:rPr>
              <a:t>5</a:t>
            </a:r>
            <a:endParaRPr lang="en-US" sz="1558" dirty="0"/>
          </a:p>
        </p:txBody>
      </p:sp>
      <p:sp>
        <p:nvSpPr>
          <p:cNvPr id="23" name="Shape 21"/>
          <p:cNvSpPr/>
          <p:nvPr/>
        </p:nvSpPr>
        <p:spPr>
          <a:xfrm>
            <a:off x="6372454" y="4134917"/>
            <a:ext cx="173584" cy="0"/>
          </a:xfrm>
          <a:prstGeom prst="line">
            <a:avLst/>
          </a:prstGeom>
          <a:noFill/>
          <a:ln w="15875">
            <a:solidFill>
              <a:srgbClr val="1E2761"/>
            </a:solidFill>
            <a:prstDash val="solid"/>
          </a:ln>
        </p:spPr>
      </p:sp>
      <p:sp>
        <p:nvSpPr>
          <p:cNvPr id="24" name="Text 22"/>
          <p:cNvSpPr txBox="1"/>
          <p:nvPr/>
        </p:nvSpPr>
        <p:spPr>
          <a:xfrm>
            <a:off x="6335878" y="4155948"/>
            <a:ext cx="246736" cy="233482"/>
          </a:xfrm>
          <a:prstGeom prst="rect">
            <a:avLst/>
          </a:prstGeom>
          <a:noFill/>
          <a:ln/>
        </p:spPr>
        <p:txBody>
          <a:bodyPr wrap="square" lIns="0" tIns="0" rIns="0" bIns="0" rtlCol="0" anchor="t"/>
          <a:lstStyle/>
          <a:p>
            <a:pPr marL="0" indent="0" algn="ctr">
              <a:buNone/>
            </a:pPr>
            <a:r>
              <a:rPr lang="en-US" sz="1558" b="1" dirty="0">
                <a:solidFill>
                  <a:srgbClr val="1E2761"/>
                </a:solidFill>
                <a:latin typeface="Cambria Math" pitchFamily="34" charset="0"/>
                <a:ea typeface="Cambria Math" pitchFamily="34" charset="-122"/>
                <a:cs typeface="Cambria Math" pitchFamily="34" charset="-120"/>
              </a:rPr>
              <a:t>4</a:t>
            </a:r>
            <a:endParaRPr lang="en-US" sz="1558" dirty="0"/>
          </a:p>
        </p:txBody>
      </p:sp>
      <p:sp>
        <p:nvSpPr>
          <p:cNvPr id="25" name="Text 23"/>
          <p:cNvSpPr txBox="1"/>
          <p:nvPr/>
        </p:nvSpPr>
        <p:spPr>
          <a:xfrm>
            <a:off x="6579946" y="3995293"/>
            <a:ext cx="579120" cy="284734"/>
          </a:xfrm>
          <a:prstGeom prst="rect">
            <a:avLst/>
          </a:prstGeom>
          <a:noFill/>
          <a:ln/>
        </p:spPr>
        <p:txBody>
          <a:bodyPr wrap="square" lIns="0" tIns="0" rIns="0" bIns="0" rtlCol="0" anchor="ctr"/>
          <a:lstStyle/>
          <a:p>
            <a:pPr marL="0" indent="0" algn="ctr">
              <a:buNone/>
            </a:pPr>
            <a:r>
              <a:rPr lang="en-US" sz="1900" b="1" dirty="0">
                <a:solidFill>
                  <a:srgbClr val="1E2761"/>
                </a:solidFill>
                <a:latin typeface="Cambria Math" pitchFamily="34" charset="0"/>
                <a:ea typeface="Cambria Math" pitchFamily="34" charset="-122"/>
                <a:cs typeface="Cambria Math" pitchFamily="34" charset="-120"/>
              </a:rPr>
              <a:t>− ν)</a:t>
            </a:r>
            <a:endParaRPr lang="en-US" sz="1900" dirty="0"/>
          </a:p>
        </p:txBody>
      </p:sp>
      <p:sp>
        <p:nvSpPr>
          <p:cNvPr id="26" name="Shape 24"/>
          <p:cNvSpPr/>
          <p:nvPr/>
        </p:nvSpPr>
        <p:spPr>
          <a:xfrm>
            <a:off x="548640" y="4828032"/>
            <a:ext cx="11091672" cy="1417320"/>
          </a:xfrm>
          <a:prstGeom prst="roundRect">
            <a:avLst>
              <a:gd name="adj" fmla="val 6452"/>
            </a:avLst>
          </a:prstGeom>
          <a:gradFill>
            <a:gsLst>
              <a:gs pos="0">
                <a:srgbClr val="002060"/>
              </a:gs>
              <a:gs pos="100000">
                <a:srgbClr val="000E2A"/>
              </a:gs>
            </a:gsLst>
            <a:lin ang="2700000" scaled="0"/>
          </a:gradFill>
          <a:ln/>
        </p:spPr>
      </p:sp>
      <p:sp>
        <p:nvSpPr>
          <p:cNvPr id="27" name="Text 25"/>
          <p:cNvSpPr txBox="1"/>
          <p:nvPr/>
        </p:nvSpPr>
        <p:spPr>
          <a:xfrm>
            <a:off x="822960" y="4956048"/>
            <a:ext cx="5486400" cy="292608"/>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Change in Volume</a:t>
            </a:r>
            <a:endParaRPr lang="en-US" sz="1300" dirty="0"/>
          </a:p>
        </p:txBody>
      </p:sp>
      <p:sp>
        <p:nvSpPr>
          <p:cNvPr id="28" name="Shape 26"/>
          <p:cNvSpPr/>
          <p:nvPr/>
        </p:nvSpPr>
        <p:spPr>
          <a:xfrm>
            <a:off x="822960" y="5285232"/>
            <a:ext cx="10515600" cy="822960"/>
          </a:xfrm>
          <a:prstGeom prst="roundRect">
            <a:avLst>
              <a:gd name="adj" fmla="val 8889"/>
            </a:avLst>
          </a:prstGeom>
          <a:solidFill>
            <a:srgbClr val="FFFFFF"/>
          </a:solidFill>
          <a:ln/>
        </p:spPr>
      </p:sp>
      <p:sp>
        <p:nvSpPr>
          <p:cNvPr id="29" name="Text 27"/>
          <p:cNvSpPr txBox="1"/>
          <p:nvPr/>
        </p:nvSpPr>
        <p:spPr>
          <a:xfrm>
            <a:off x="3885286" y="5561838"/>
            <a:ext cx="246888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δV = V(2εθ + εL) =</a:t>
            </a:r>
            <a:endParaRPr lang="en-US" sz="1800" dirty="0"/>
          </a:p>
        </p:txBody>
      </p:sp>
      <p:sp>
        <p:nvSpPr>
          <p:cNvPr id="30" name="Text 28"/>
          <p:cNvSpPr txBox="1"/>
          <p:nvPr/>
        </p:nvSpPr>
        <p:spPr>
          <a:xfrm>
            <a:off x="6418174" y="5452659"/>
            <a:ext cx="465430"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P d</a:t>
            </a:r>
            <a:endParaRPr lang="en-US" sz="1476" dirty="0"/>
          </a:p>
        </p:txBody>
      </p:sp>
      <p:sp>
        <p:nvSpPr>
          <p:cNvPr id="31" name="Shape 29"/>
          <p:cNvSpPr/>
          <p:nvPr/>
        </p:nvSpPr>
        <p:spPr>
          <a:xfrm>
            <a:off x="6454750" y="5693969"/>
            <a:ext cx="392278" cy="0"/>
          </a:xfrm>
          <a:prstGeom prst="line">
            <a:avLst/>
          </a:prstGeom>
          <a:noFill/>
          <a:ln w="15875">
            <a:solidFill>
              <a:srgbClr val="1E2761"/>
            </a:solidFill>
            <a:prstDash val="solid"/>
          </a:ln>
        </p:spPr>
      </p:sp>
      <p:sp>
        <p:nvSpPr>
          <p:cNvPr id="32" name="Text 30"/>
          <p:cNvSpPr txBox="1"/>
          <p:nvPr/>
        </p:nvSpPr>
        <p:spPr>
          <a:xfrm>
            <a:off x="6418174" y="5715000"/>
            <a:ext cx="465430"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Et</a:t>
            </a:r>
            <a:endParaRPr lang="en-US" sz="1476" dirty="0"/>
          </a:p>
        </p:txBody>
      </p:sp>
      <p:sp>
        <p:nvSpPr>
          <p:cNvPr id="33" name="Text 31"/>
          <p:cNvSpPr txBox="1"/>
          <p:nvPr/>
        </p:nvSpPr>
        <p:spPr>
          <a:xfrm>
            <a:off x="6997903" y="5549037"/>
            <a:ext cx="13716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a:t>
            </a:r>
            <a:endParaRPr lang="en-US" sz="1800" dirty="0"/>
          </a:p>
        </p:txBody>
      </p:sp>
      <p:sp>
        <p:nvSpPr>
          <p:cNvPr id="34" name="Text 32"/>
          <p:cNvSpPr txBox="1"/>
          <p:nvPr/>
        </p:nvSpPr>
        <p:spPr>
          <a:xfrm>
            <a:off x="7148779" y="5452659"/>
            <a:ext cx="240487" cy="221193"/>
          </a:xfrm>
          <a:prstGeom prst="rect">
            <a:avLst/>
          </a:prstGeom>
          <a:noFill/>
          <a:ln/>
        </p:spPr>
        <p:txBody>
          <a:bodyPr wrap="square" lIns="0" tIns="0" rIns="0" bIns="0" rtlCol="0" anchor="b"/>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5</a:t>
            </a:r>
            <a:endParaRPr lang="en-US" sz="1476" dirty="0"/>
          </a:p>
        </p:txBody>
      </p:sp>
      <p:sp>
        <p:nvSpPr>
          <p:cNvPr id="35" name="Shape 33"/>
          <p:cNvSpPr/>
          <p:nvPr/>
        </p:nvSpPr>
        <p:spPr>
          <a:xfrm>
            <a:off x="7185355" y="5693969"/>
            <a:ext cx="167335" cy="0"/>
          </a:xfrm>
          <a:prstGeom prst="line">
            <a:avLst/>
          </a:prstGeom>
          <a:noFill/>
          <a:ln w="15875">
            <a:solidFill>
              <a:srgbClr val="1E2761"/>
            </a:solidFill>
            <a:prstDash val="solid"/>
          </a:ln>
        </p:spPr>
      </p:sp>
      <p:sp>
        <p:nvSpPr>
          <p:cNvPr id="36" name="Text 34"/>
          <p:cNvSpPr txBox="1"/>
          <p:nvPr/>
        </p:nvSpPr>
        <p:spPr>
          <a:xfrm>
            <a:off x="7148779" y="5715000"/>
            <a:ext cx="240487" cy="221193"/>
          </a:xfrm>
          <a:prstGeom prst="rect">
            <a:avLst/>
          </a:prstGeom>
          <a:noFill/>
          <a:ln/>
        </p:spPr>
        <p:txBody>
          <a:bodyPr wrap="square" lIns="0" tIns="0" rIns="0" bIns="0" rtlCol="0" anchor="t"/>
          <a:lstStyle/>
          <a:p>
            <a:pPr marL="0" indent="0" algn="ctr">
              <a:buNone/>
            </a:pPr>
            <a:r>
              <a:rPr lang="en-US" sz="1476" b="1" dirty="0">
                <a:solidFill>
                  <a:srgbClr val="1E2761"/>
                </a:solidFill>
                <a:latin typeface="Cambria Math" pitchFamily="34" charset="0"/>
                <a:ea typeface="Cambria Math" pitchFamily="34" charset="-122"/>
                <a:cs typeface="Cambria Math" pitchFamily="34" charset="-120"/>
              </a:rPr>
              <a:t>4</a:t>
            </a:r>
            <a:endParaRPr lang="en-US" sz="1476" dirty="0"/>
          </a:p>
        </p:txBody>
      </p:sp>
      <p:sp>
        <p:nvSpPr>
          <p:cNvPr id="37" name="Text 35"/>
          <p:cNvSpPr txBox="1"/>
          <p:nvPr/>
        </p:nvSpPr>
        <p:spPr>
          <a:xfrm>
            <a:off x="7329449" y="5561838"/>
            <a:ext cx="822960" cy="269748"/>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Math" pitchFamily="34" charset="0"/>
                <a:ea typeface="Cambria Math" pitchFamily="34" charset="-122"/>
                <a:cs typeface="Cambria Math" pitchFamily="34" charset="-120"/>
              </a:rPr>
              <a:t>− ν) V</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6 · PART 1</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Lame's Theory — Thick Cylinders</a:t>
            </a:r>
            <a:endParaRPr lang="en-US" sz="2800" dirty="0"/>
          </a:p>
        </p:txBody>
      </p:sp>
      <p:sp>
        <p:nvSpPr>
          <p:cNvPr id="5" name="Text 3"/>
          <p:cNvSpPr txBox="1"/>
          <p:nvPr/>
        </p:nvSpPr>
        <p:spPr>
          <a:xfrm>
            <a:off x="548640" y="1463040"/>
            <a:ext cx="5486400" cy="105156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Thick cylinders have a wall thickness not smaller than 1/15 of the diameter. Radial stress varies across the thickness — maximum at the inner radius, minimum at the outer radius. Lame's theory gives the distribution of radial and hoop stress.</a:t>
            </a:r>
            <a:endParaRPr lang="en-US" sz="1250" dirty="0"/>
          </a:p>
        </p:txBody>
      </p:sp>
      <p:sp>
        <p:nvSpPr>
          <p:cNvPr id="6" name="Text 4"/>
          <p:cNvSpPr txBox="1"/>
          <p:nvPr/>
        </p:nvSpPr>
        <p:spPr>
          <a:xfrm>
            <a:off x="548640" y="2606040"/>
            <a:ext cx="5486400" cy="32004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Assumptions</a:t>
            </a:r>
            <a:endParaRPr lang="en-US" sz="1550" dirty="0"/>
          </a:p>
        </p:txBody>
      </p:sp>
      <p:sp>
        <p:nvSpPr>
          <p:cNvPr id="7" name="Text 5"/>
          <p:cNvSpPr txBox="1"/>
          <p:nvPr/>
        </p:nvSpPr>
        <p:spPr>
          <a:xfrm>
            <a:off x="548640" y="2926080"/>
            <a:ext cx="5486400" cy="18288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The material is homogeneous and isotropic.</a:t>
            </a:r>
            <a:endParaRPr lang="en-US" sz="1200" dirty="0"/>
          </a:p>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Plane transverse sections remain plane under internal pressure.</a:t>
            </a:r>
            <a:endParaRPr lang="en-US" sz="1200" dirty="0"/>
          </a:p>
          <a:p>
            <a:pPr marL="342900" indent="-342900">
              <a:spcAft>
                <a:spcPts val="600"/>
              </a:spcAft>
              <a:buSzPct val="100000"/>
              <a:buChar char="•"/>
            </a:pPr>
            <a:r>
              <a:rPr lang="en-US" sz="1200" dirty="0">
                <a:solidFill>
                  <a:srgbClr val="1E2761"/>
                </a:solidFill>
                <a:latin typeface="Calibri" pitchFamily="34" charset="0"/>
                <a:ea typeface="Calibri" pitchFamily="34" charset="-122"/>
                <a:cs typeface="Calibri" pitchFamily="34" charset="-120"/>
              </a:rPr>
              <a:t>The material is stressed within the elastic limit (Hooke's Law).</a:t>
            </a:r>
            <a:endParaRPr lang="en-US" sz="1200" dirty="0"/>
          </a:p>
          <a:p>
            <a:pPr marL="342900" indent="-342900">
              <a:buSzPct val="100000"/>
              <a:buChar char="•"/>
            </a:pPr>
            <a:r>
              <a:rPr lang="en-US" sz="1200" dirty="0">
                <a:solidFill>
                  <a:srgbClr val="1E2761"/>
                </a:solidFill>
                <a:latin typeface="Calibri" pitchFamily="34" charset="0"/>
                <a:ea typeface="Calibri" pitchFamily="34" charset="-122"/>
                <a:cs typeface="Calibri" pitchFamily="34" charset="-120"/>
              </a:rPr>
              <a:t>All fibres of the material are stressed independently, unconstrained by adjacent fibres.</a:t>
            </a:r>
            <a:endParaRPr lang="en-US" sz="1200" dirty="0"/>
          </a:p>
        </p:txBody>
      </p:sp>
      <p:sp>
        <p:nvSpPr>
          <p:cNvPr id="8" name="Shape 6"/>
          <p:cNvSpPr/>
          <p:nvPr/>
        </p:nvSpPr>
        <p:spPr>
          <a:xfrm>
            <a:off x="548640" y="4892040"/>
            <a:ext cx="5486400" cy="502920"/>
          </a:xfrm>
          <a:prstGeom prst="roundRect">
            <a:avLst>
              <a:gd name="adj" fmla="val 14545"/>
            </a:avLst>
          </a:prstGeom>
          <a:solidFill>
            <a:srgbClr val="F4F7FD"/>
          </a:solidFill>
          <a:ln/>
        </p:spPr>
      </p:sp>
      <p:sp>
        <p:nvSpPr>
          <p:cNvPr id="9" name="Text 7"/>
          <p:cNvSpPr txBox="1"/>
          <p:nvPr/>
        </p:nvSpPr>
        <p:spPr>
          <a:xfrm>
            <a:off x="2791054" y="5023612"/>
            <a:ext cx="609600" cy="239776"/>
          </a:xfrm>
          <a:prstGeom prst="rect">
            <a:avLst/>
          </a:prstGeom>
          <a:noFill/>
          <a:ln/>
        </p:spPr>
        <p:txBody>
          <a:bodyPr wrap="square" lIns="0" tIns="0" rIns="0" bIns="0" rtlCol="0" anchor="ctr"/>
          <a:lstStyle/>
          <a:p>
            <a:pPr marL="0" indent="0" algn="ctr">
              <a:buNone/>
            </a:pPr>
            <a:r>
              <a:rPr lang="en-US" sz="1600" b="1" dirty="0">
                <a:solidFill>
                  <a:srgbClr val="1E2761"/>
                </a:solidFill>
                <a:latin typeface="Cambria Math" pitchFamily="34" charset="0"/>
                <a:ea typeface="Cambria Math" pitchFamily="34" charset="-122"/>
                <a:cs typeface="Cambria Math" pitchFamily="34" charset="-120"/>
              </a:rPr>
              <a:t>t/d ≥</a:t>
            </a:r>
            <a:endParaRPr lang="en-US" sz="1600" dirty="0"/>
          </a:p>
        </p:txBody>
      </p:sp>
      <p:sp>
        <p:nvSpPr>
          <p:cNvPr id="10" name="Text 8"/>
          <p:cNvSpPr txBox="1"/>
          <p:nvPr/>
        </p:nvSpPr>
        <p:spPr>
          <a:xfrm>
            <a:off x="3464662" y="4924024"/>
            <a:ext cx="327965" cy="196616"/>
          </a:xfrm>
          <a:prstGeom prst="rect">
            <a:avLst/>
          </a:prstGeom>
          <a:noFill/>
          <a:ln/>
        </p:spPr>
        <p:txBody>
          <a:bodyPr wrap="square" lIns="0" tIns="0" rIns="0" bIns="0" rtlCol="0" anchor="b"/>
          <a:lstStyle/>
          <a:p>
            <a:pPr marL="0" indent="0" algn="ctr">
              <a:buNone/>
            </a:pPr>
            <a:r>
              <a:rPr lang="en-US" sz="1312" b="1" dirty="0">
                <a:solidFill>
                  <a:srgbClr val="1E2761"/>
                </a:solidFill>
                <a:latin typeface="Cambria Math" pitchFamily="34" charset="0"/>
                <a:ea typeface="Cambria Math" pitchFamily="34" charset="-122"/>
                <a:cs typeface="Cambria Math" pitchFamily="34" charset="-120"/>
              </a:rPr>
              <a:t>1</a:t>
            </a:r>
            <a:endParaRPr lang="en-US" sz="1312" dirty="0"/>
          </a:p>
        </p:txBody>
      </p:sp>
      <p:sp>
        <p:nvSpPr>
          <p:cNvPr id="11" name="Shape 9"/>
          <p:cNvSpPr/>
          <p:nvPr/>
        </p:nvSpPr>
        <p:spPr>
          <a:xfrm>
            <a:off x="3501238" y="5140757"/>
            <a:ext cx="254813" cy="0"/>
          </a:xfrm>
          <a:prstGeom prst="line">
            <a:avLst/>
          </a:prstGeom>
          <a:noFill/>
          <a:ln w="15875">
            <a:solidFill>
              <a:srgbClr val="1E2761"/>
            </a:solidFill>
            <a:prstDash val="solid"/>
          </a:ln>
        </p:spPr>
      </p:sp>
      <p:sp>
        <p:nvSpPr>
          <p:cNvPr id="12" name="Text 10"/>
          <p:cNvSpPr txBox="1"/>
          <p:nvPr/>
        </p:nvSpPr>
        <p:spPr>
          <a:xfrm>
            <a:off x="3464662" y="5161788"/>
            <a:ext cx="327965" cy="196616"/>
          </a:xfrm>
          <a:prstGeom prst="rect">
            <a:avLst/>
          </a:prstGeom>
          <a:noFill/>
          <a:ln/>
        </p:spPr>
        <p:txBody>
          <a:bodyPr wrap="square" lIns="0" tIns="0" rIns="0" bIns="0" rtlCol="0" anchor="t"/>
          <a:lstStyle/>
          <a:p>
            <a:pPr marL="0" indent="0" algn="ctr">
              <a:buNone/>
            </a:pPr>
            <a:r>
              <a:rPr lang="en-US" sz="1312" b="1" dirty="0">
                <a:solidFill>
                  <a:srgbClr val="1E2761"/>
                </a:solidFill>
                <a:latin typeface="Cambria Math" pitchFamily="34" charset="0"/>
                <a:ea typeface="Cambria Math" pitchFamily="34" charset="-122"/>
                <a:cs typeface="Cambria Math" pitchFamily="34" charset="-120"/>
              </a:rPr>
              <a:t>15</a:t>
            </a:r>
            <a:endParaRPr lang="en-US" sz="1312" dirty="0"/>
          </a:p>
        </p:txBody>
      </p:sp>
      <p:sp>
        <p:nvSpPr>
          <p:cNvPr id="13" name="Text 11"/>
          <p:cNvSpPr txBox="1"/>
          <p:nvPr/>
        </p:nvSpPr>
        <p:spPr>
          <a:xfrm>
            <a:off x="927202" y="5810285"/>
            <a:ext cx="5486400" cy="365760"/>
          </a:xfrm>
          <a:prstGeom prst="rect">
            <a:avLst/>
          </a:prstGeom>
          <a:noFill/>
          <a:ln/>
        </p:spPr>
        <p:txBody>
          <a:bodyPr wrap="square" lIns="0" tIns="0" rIns="0" bIns="0" rtlCol="0" anchor="ctr"/>
          <a:lstStyle/>
          <a:p>
            <a:pPr marL="0" indent="0">
              <a:buNone/>
            </a:pPr>
            <a:r>
              <a:rPr lang="en-US" sz="1600" i="1" dirty="0">
                <a:solidFill>
                  <a:srgbClr val="5A6B8C"/>
                </a:solidFill>
                <a:latin typeface="Calibri" pitchFamily="34" charset="0"/>
                <a:ea typeface="Calibri" pitchFamily="34" charset="-122"/>
                <a:cs typeface="Calibri" pitchFamily="34" charset="-120"/>
              </a:rPr>
              <a:t>a = internal radius</a:t>
            </a:r>
          </a:p>
          <a:p>
            <a:pPr marL="0" indent="0">
              <a:buNone/>
            </a:pPr>
            <a:r>
              <a:rPr lang="en-US" sz="1600" i="1" dirty="0">
                <a:solidFill>
                  <a:srgbClr val="5A6B8C"/>
                </a:solidFill>
                <a:latin typeface="Calibri" pitchFamily="34" charset="0"/>
                <a:ea typeface="Calibri" pitchFamily="34" charset="-122"/>
                <a:cs typeface="Calibri" pitchFamily="34" charset="-120"/>
              </a:rPr>
              <a:t>b = external radius</a:t>
            </a:r>
          </a:p>
          <a:p>
            <a:pPr marL="0" indent="0">
              <a:buNone/>
            </a:pPr>
            <a:r>
              <a:rPr lang="en-US" sz="1600" i="1" dirty="0">
                <a:solidFill>
                  <a:srgbClr val="5A6B8C"/>
                </a:solidFill>
                <a:latin typeface="Calibri" pitchFamily="34" charset="0"/>
                <a:ea typeface="Calibri" pitchFamily="34" charset="-122"/>
                <a:cs typeface="Calibri" pitchFamily="34" charset="-120"/>
              </a:rPr>
              <a:t>Pa, Pb = pressure at r = a, r = b</a:t>
            </a:r>
            <a:endParaRPr lang="en-US" sz="1600" dirty="0"/>
          </a:p>
        </p:txBody>
      </p:sp>
      <p:sp>
        <p:nvSpPr>
          <p:cNvPr id="14" name="Shape 12"/>
          <p:cNvSpPr/>
          <p:nvPr/>
        </p:nvSpPr>
        <p:spPr>
          <a:xfrm>
            <a:off x="6263640" y="1463039"/>
            <a:ext cx="5394960" cy="5099685"/>
          </a:xfrm>
          <a:prstGeom prst="roundRect">
            <a:avLst>
              <a:gd name="adj" fmla="val 2105"/>
            </a:avLst>
          </a:prstGeom>
          <a:solidFill>
            <a:srgbClr val="F4F7FD"/>
          </a:solidFill>
          <a:ln/>
        </p:spPr>
      </p:sp>
      <p:sp>
        <p:nvSpPr>
          <p:cNvPr id="15" name="Text 13"/>
          <p:cNvSpPr txBox="1"/>
          <p:nvPr/>
        </p:nvSpPr>
        <p:spPr>
          <a:xfrm>
            <a:off x="6537960" y="1645920"/>
            <a:ext cx="4846320" cy="347472"/>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Lame's Equations</a:t>
            </a:r>
            <a:endParaRPr lang="en-US" sz="1600" dirty="0"/>
          </a:p>
        </p:txBody>
      </p:sp>
      <p:sp>
        <p:nvSpPr>
          <p:cNvPr id="16" name="Shape 14"/>
          <p:cNvSpPr/>
          <p:nvPr/>
        </p:nvSpPr>
        <p:spPr>
          <a:xfrm>
            <a:off x="6527902" y="2230374"/>
            <a:ext cx="4846320" cy="566928"/>
          </a:xfrm>
          <a:prstGeom prst="roundRect">
            <a:avLst>
              <a:gd name="adj" fmla="val 12903"/>
            </a:avLst>
          </a:prstGeom>
          <a:solidFill>
            <a:srgbClr val="FFFFFF"/>
          </a:solidFill>
          <a:ln/>
        </p:spPr>
      </p:sp>
      <p:sp>
        <p:nvSpPr>
          <p:cNvPr id="17" name="Text 15"/>
          <p:cNvSpPr txBox="1"/>
          <p:nvPr/>
        </p:nvSpPr>
        <p:spPr>
          <a:xfrm>
            <a:off x="8230667" y="2386457"/>
            <a:ext cx="1036320" cy="254762"/>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Math" pitchFamily="34" charset="0"/>
                <a:ea typeface="Cambria Math" pitchFamily="34" charset="-122"/>
                <a:cs typeface="Cambria Math" pitchFamily="34" charset="-120"/>
              </a:rPr>
              <a:t>σ r =  A   −</a:t>
            </a:r>
            <a:endParaRPr lang="en-US" sz="1700" dirty="0"/>
          </a:p>
        </p:txBody>
      </p:sp>
      <p:sp>
        <p:nvSpPr>
          <p:cNvPr id="18" name="Text 16"/>
          <p:cNvSpPr txBox="1"/>
          <p:nvPr/>
        </p:nvSpPr>
        <p:spPr>
          <a:xfrm>
            <a:off x="9330995" y="2282073"/>
            <a:ext cx="340462" cy="208905"/>
          </a:xfrm>
          <a:prstGeom prst="rect">
            <a:avLst/>
          </a:prstGeom>
          <a:noFill/>
          <a:ln/>
        </p:spPr>
        <p:txBody>
          <a:bodyPr wrap="square" lIns="0" tIns="0" rIns="0" bIns="0" rtlCol="0" anchor="b"/>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B</a:t>
            </a:r>
            <a:endParaRPr lang="en-US" sz="1394" dirty="0"/>
          </a:p>
        </p:txBody>
      </p:sp>
      <p:sp>
        <p:nvSpPr>
          <p:cNvPr id="19" name="Shape 17"/>
          <p:cNvSpPr/>
          <p:nvPr/>
        </p:nvSpPr>
        <p:spPr>
          <a:xfrm>
            <a:off x="9367571" y="2511095"/>
            <a:ext cx="267310" cy="0"/>
          </a:xfrm>
          <a:prstGeom prst="line">
            <a:avLst/>
          </a:prstGeom>
          <a:noFill/>
          <a:ln w="15875">
            <a:solidFill>
              <a:srgbClr val="1E2761"/>
            </a:solidFill>
            <a:prstDash val="solid"/>
          </a:ln>
        </p:spPr>
      </p:sp>
      <p:sp>
        <p:nvSpPr>
          <p:cNvPr id="20" name="Text 18"/>
          <p:cNvSpPr txBox="1"/>
          <p:nvPr/>
        </p:nvSpPr>
        <p:spPr>
          <a:xfrm>
            <a:off x="9330995" y="2532126"/>
            <a:ext cx="340462" cy="208905"/>
          </a:xfrm>
          <a:prstGeom prst="rect">
            <a:avLst/>
          </a:prstGeom>
          <a:noFill/>
          <a:ln/>
        </p:spPr>
        <p:txBody>
          <a:bodyPr wrap="square" lIns="0" tIns="0" rIns="0" bIns="0" rtlCol="0" anchor="t"/>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r²</a:t>
            </a:r>
            <a:endParaRPr lang="en-US" sz="1394" dirty="0"/>
          </a:p>
        </p:txBody>
      </p:sp>
      <p:sp>
        <p:nvSpPr>
          <p:cNvPr id="21" name="Shape 19"/>
          <p:cNvSpPr/>
          <p:nvPr/>
        </p:nvSpPr>
        <p:spPr>
          <a:xfrm>
            <a:off x="6527902" y="2843022"/>
            <a:ext cx="4846320" cy="566928"/>
          </a:xfrm>
          <a:prstGeom prst="roundRect">
            <a:avLst>
              <a:gd name="adj" fmla="val 12903"/>
            </a:avLst>
          </a:prstGeom>
          <a:solidFill>
            <a:srgbClr val="FFFFFF"/>
          </a:solidFill>
          <a:ln/>
        </p:spPr>
      </p:sp>
      <p:sp>
        <p:nvSpPr>
          <p:cNvPr id="22" name="Text 20"/>
          <p:cNvSpPr txBox="1"/>
          <p:nvPr/>
        </p:nvSpPr>
        <p:spPr>
          <a:xfrm>
            <a:off x="8230667" y="2999105"/>
            <a:ext cx="1036320" cy="254762"/>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Math" pitchFamily="34" charset="0"/>
                <a:ea typeface="Cambria Math" pitchFamily="34" charset="-122"/>
                <a:cs typeface="Cambria Math" pitchFamily="34" charset="-120"/>
              </a:rPr>
              <a:t>σ θ =  A   +</a:t>
            </a:r>
            <a:endParaRPr lang="en-US" sz="1700" dirty="0"/>
          </a:p>
        </p:txBody>
      </p:sp>
      <p:sp>
        <p:nvSpPr>
          <p:cNvPr id="23" name="Text 21"/>
          <p:cNvSpPr txBox="1"/>
          <p:nvPr/>
        </p:nvSpPr>
        <p:spPr>
          <a:xfrm>
            <a:off x="9330995" y="2894721"/>
            <a:ext cx="340462" cy="208905"/>
          </a:xfrm>
          <a:prstGeom prst="rect">
            <a:avLst/>
          </a:prstGeom>
          <a:noFill/>
          <a:ln/>
        </p:spPr>
        <p:txBody>
          <a:bodyPr wrap="square" lIns="0" tIns="0" rIns="0" bIns="0" rtlCol="0" anchor="b"/>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B</a:t>
            </a:r>
            <a:endParaRPr lang="en-US" sz="1394" dirty="0"/>
          </a:p>
        </p:txBody>
      </p:sp>
      <p:sp>
        <p:nvSpPr>
          <p:cNvPr id="24" name="Shape 22"/>
          <p:cNvSpPr/>
          <p:nvPr/>
        </p:nvSpPr>
        <p:spPr>
          <a:xfrm>
            <a:off x="9367571" y="3123743"/>
            <a:ext cx="267310" cy="0"/>
          </a:xfrm>
          <a:prstGeom prst="line">
            <a:avLst/>
          </a:prstGeom>
          <a:noFill/>
          <a:ln w="15875">
            <a:solidFill>
              <a:srgbClr val="1E2761"/>
            </a:solidFill>
            <a:prstDash val="solid"/>
          </a:ln>
        </p:spPr>
      </p:sp>
      <p:sp>
        <p:nvSpPr>
          <p:cNvPr id="25" name="Text 23"/>
          <p:cNvSpPr txBox="1"/>
          <p:nvPr/>
        </p:nvSpPr>
        <p:spPr>
          <a:xfrm>
            <a:off x="9330995" y="3144774"/>
            <a:ext cx="340462" cy="208905"/>
          </a:xfrm>
          <a:prstGeom prst="rect">
            <a:avLst/>
          </a:prstGeom>
          <a:noFill/>
          <a:ln/>
        </p:spPr>
        <p:txBody>
          <a:bodyPr wrap="square" lIns="0" tIns="0" rIns="0" bIns="0" rtlCol="0" anchor="t"/>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r²</a:t>
            </a:r>
            <a:endParaRPr lang="en-US" sz="1394" dirty="0"/>
          </a:p>
        </p:txBody>
      </p:sp>
      <p:sp>
        <p:nvSpPr>
          <p:cNvPr id="26" name="Text 24"/>
          <p:cNvSpPr txBox="1"/>
          <p:nvPr/>
        </p:nvSpPr>
        <p:spPr>
          <a:xfrm>
            <a:off x="6537960" y="3693561"/>
            <a:ext cx="4846320" cy="530352"/>
          </a:xfrm>
          <a:prstGeom prst="rect">
            <a:avLst/>
          </a:prstGeom>
          <a:noFill/>
          <a:ln/>
        </p:spPr>
        <p:txBody>
          <a:bodyPr wrap="square" lIns="0" tIns="0" rIns="0" bIns="0" rtlCol="0" anchor="ctr"/>
          <a:lstStyle/>
          <a:p>
            <a:pPr marL="0" indent="0">
              <a:buNone/>
            </a:pPr>
            <a:r>
              <a:rPr lang="en-US" sz="1400" dirty="0">
                <a:solidFill>
                  <a:srgbClr val="1E2761"/>
                </a:solidFill>
                <a:latin typeface="Calibri" pitchFamily="34" charset="0"/>
                <a:ea typeface="Calibri" pitchFamily="34" charset="-122"/>
                <a:cs typeface="Calibri" pitchFamily="34" charset="-120"/>
              </a:rPr>
              <a:t>A and B are constants found from boundary conditions: σr = −Pa at r = a, and σr = −Pb at r = b.</a:t>
            </a:r>
            <a:endParaRPr lang="en-US" sz="1400" dirty="0"/>
          </a:p>
        </p:txBody>
      </p:sp>
      <p:sp>
        <p:nvSpPr>
          <p:cNvPr id="27" name="Shape 25"/>
          <p:cNvSpPr/>
          <p:nvPr/>
        </p:nvSpPr>
        <p:spPr>
          <a:xfrm>
            <a:off x="6527902" y="4462292"/>
            <a:ext cx="4846320" cy="896112"/>
          </a:xfrm>
          <a:prstGeom prst="roundRect">
            <a:avLst>
              <a:gd name="adj" fmla="val 8163"/>
            </a:avLst>
          </a:prstGeom>
          <a:solidFill>
            <a:srgbClr val="FFFFFF"/>
          </a:solidFill>
          <a:ln/>
        </p:spPr>
      </p:sp>
      <p:sp>
        <p:nvSpPr>
          <p:cNvPr id="28" name="Text 26"/>
          <p:cNvSpPr txBox="1"/>
          <p:nvPr/>
        </p:nvSpPr>
        <p:spPr>
          <a:xfrm>
            <a:off x="6692494" y="4535444"/>
            <a:ext cx="451713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General radial stress</a:t>
            </a:r>
            <a:endParaRPr lang="en-US" sz="1050" dirty="0"/>
          </a:p>
        </p:txBody>
      </p:sp>
      <p:sp>
        <p:nvSpPr>
          <p:cNvPr id="29" name="Text 27"/>
          <p:cNvSpPr txBox="1"/>
          <p:nvPr/>
        </p:nvSpPr>
        <p:spPr>
          <a:xfrm>
            <a:off x="7598664" y="4975880"/>
            <a:ext cx="36576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σ r =</a:t>
            </a:r>
            <a:endParaRPr lang="en-US" sz="1200" dirty="0"/>
          </a:p>
        </p:txBody>
      </p:sp>
      <p:sp>
        <p:nvSpPr>
          <p:cNvPr id="30" name="Text 28"/>
          <p:cNvSpPr txBox="1"/>
          <p:nvPr/>
        </p:nvSpPr>
        <p:spPr>
          <a:xfrm>
            <a:off x="8028432" y="4895474"/>
            <a:ext cx="1102766" cy="147462"/>
          </a:xfrm>
          <a:prstGeom prst="rect">
            <a:avLst/>
          </a:prstGeom>
          <a:noFill/>
          <a:ln/>
        </p:spPr>
        <p:txBody>
          <a:bodyPr wrap="square" lIns="0" tIns="0" rIns="0" bIns="0" rtlCol="0" anchor="b"/>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Pa a² − Pb b²</a:t>
            </a:r>
            <a:endParaRPr lang="en-US" sz="984" dirty="0"/>
          </a:p>
        </p:txBody>
      </p:sp>
      <p:sp>
        <p:nvSpPr>
          <p:cNvPr id="31" name="Shape 29"/>
          <p:cNvSpPr/>
          <p:nvPr/>
        </p:nvSpPr>
        <p:spPr>
          <a:xfrm>
            <a:off x="8065008" y="5063053"/>
            <a:ext cx="1029614" cy="0"/>
          </a:xfrm>
          <a:prstGeom prst="line">
            <a:avLst/>
          </a:prstGeom>
          <a:noFill/>
          <a:ln w="15875">
            <a:solidFill>
              <a:srgbClr val="1E2761"/>
            </a:solidFill>
            <a:prstDash val="solid"/>
          </a:ln>
        </p:spPr>
      </p:sp>
      <p:sp>
        <p:nvSpPr>
          <p:cNvPr id="32" name="Text 30"/>
          <p:cNvSpPr txBox="1"/>
          <p:nvPr/>
        </p:nvSpPr>
        <p:spPr>
          <a:xfrm>
            <a:off x="8028432" y="5084084"/>
            <a:ext cx="1102766" cy="147462"/>
          </a:xfrm>
          <a:prstGeom prst="rect">
            <a:avLst/>
          </a:prstGeom>
          <a:noFill/>
          <a:ln/>
        </p:spPr>
        <p:txBody>
          <a:bodyPr wrap="square" lIns="0" tIns="0" rIns="0" bIns="0" rtlCol="0" anchor="t"/>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b²−a²</a:t>
            </a:r>
            <a:endParaRPr lang="en-US" sz="984" dirty="0"/>
          </a:p>
        </p:txBody>
      </p:sp>
      <p:sp>
        <p:nvSpPr>
          <p:cNvPr id="33" name="Text 31"/>
          <p:cNvSpPr txBox="1"/>
          <p:nvPr/>
        </p:nvSpPr>
        <p:spPr>
          <a:xfrm>
            <a:off x="9195207" y="4975880"/>
            <a:ext cx="9144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a:t>
            </a:r>
            <a:endParaRPr lang="en-US" sz="1200" dirty="0"/>
          </a:p>
        </p:txBody>
      </p:sp>
      <p:sp>
        <p:nvSpPr>
          <p:cNvPr id="34" name="Text 32"/>
          <p:cNvSpPr txBox="1"/>
          <p:nvPr/>
        </p:nvSpPr>
        <p:spPr>
          <a:xfrm>
            <a:off x="9350655" y="4895474"/>
            <a:ext cx="952805" cy="147462"/>
          </a:xfrm>
          <a:prstGeom prst="rect">
            <a:avLst/>
          </a:prstGeom>
          <a:noFill/>
          <a:ln/>
        </p:spPr>
        <p:txBody>
          <a:bodyPr wrap="square" lIns="0" tIns="0" rIns="0" bIns="0" rtlCol="0" anchor="b"/>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a²b²(Pa−Pb)</a:t>
            </a:r>
            <a:endParaRPr lang="en-US" sz="984" dirty="0"/>
          </a:p>
        </p:txBody>
      </p:sp>
      <p:sp>
        <p:nvSpPr>
          <p:cNvPr id="35" name="Shape 33"/>
          <p:cNvSpPr/>
          <p:nvPr/>
        </p:nvSpPr>
        <p:spPr>
          <a:xfrm>
            <a:off x="9387231" y="5063053"/>
            <a:ext cx="879653" cy="0"/>
          </a:xfrm>
          <a:prstGeom prst="line">
            <a:avLst/>
          </a:prstGeom>
          <a:noFill/>
          <a:ln w="15875">
            <a:solidFill>
              <a:srgbClr val="1E2761"/>
            </a:solidFill>
            <a:prstDash val="solid"/>
          </a:ln>
        </p:spPr>
      </p:sp>
      <p:sp>
        <p:nvSpPr>
          <p:cNvPr id="36" name="Text 34"/>
          <p:cNvSpPr txBox="1"/>
          <p:nvPr/>
        </p:nvSpPr>
        <p:spPr>
          <a:xfrm>
            <a:off x="9350655" y="5084084"/>
            <a:ext cx="952805" cy="147462"/>
          </a:xfrm>
          <a:prstGeom prst="rect">
            <a:avLst/>
          </a:prstGeom>
          <a:noFill/>
          <a:ln/>
        </p:spPr>
        <p:txBody>
          <a:bodyPr wrap="square" lIns="0" tIns="0" rIns="0" bIns="0" rtlCol="0" anchor="t"/>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r²(b²−a²)</a:t>
            </a:r>
            <a:endParaRPr lang="en-US" sz="984" dirty="0"/>
          </a:p>
        </p:txBody>
      </p:sp>
      <p:sp>
        <p:nvSpPr>
          <p:cNvPr id="37" name="Shape 35"/>
          <p:cNvSpPr/>
          <p:nvPr/>
        </p:nvSpPr>
        <p:spPr>
          <a:xfrm>
            <a:off x="6527902" y="5413268"/>
            <a:ext cx="4846320" cy="896112"/>
          </a:xfrm>
          <a:prstGeom prst="roundRect">
            <a:avLst>
              <a:gd name="adj" fmla="val 8163"/>
            </a:avLst>
          </a:prstGeom>
          <a:solidFill>
            <a:srgbClr val="FFFFFF"/>
          </a:solidFill>
          <a:ln/>
        </p:spPr>
      </p:sp>
      <p:sp>
        <p:nvSpPr>
          <p:cNvPr id="38" name="Text 36"/>
          <p:cNvSpPr txBox="1"/>
          <p:nvPr/>
        </p:nvSpPr>
        <p:spPr>
          <a:xfrm>
            <a:off x="6692494" y="5486420"/>
            <a:ext cx="4517136"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General hoop stress</a:t>
            </a:r>
            <a:endParaRPr lang="en-US" sz="1050" dirty="0"/>
          </a:p>
        </p:txBody>
      </p:sp>
      <p:sp>
        <p:nvSpPr>
          <p:cNvPr id="39" name="Text 37"/>
          <p:cNvSpPr txBox="1"/>
          <p:nvPr/>
        </p:nvSpPr>
        <p:spPr>
          <a:xfrm>
            <a:off x="7598664" y="5926856"/>
            <a:ext cx="36576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σ θ =</a:t>
            </a:r>
            <a:endParaRPr lang="en-US" sz="1200" dirty="0"/>
          </a:p>
        </p:txBody>
      </p:sp>
      <p:sp>
        <p:nvSpPr>
          <p:cNvPr id="40" name="Text 38"/>
          <p:cNvSpPr txBox="1"/>
          <p:nvPr/>
        </p:nvSpPr>
        <p:spPr>
          <a:xfrm>
            <a:off x="8028432" y="5846450"/>
            <a:ext cx="1102766" cy="147462"/>
          </a:xfrm>
          <a:prstGeom prst="rect">
            <a:avLst/>
          </a:prstGeom>
          <a:noFill/>
          <a:ln/>
        </p:spPr>
        <p:txBody>
          <a:bodyPr wrap="square" lIns="0" tIns="0" rIns="0" bIns="0" rtlCol="0" anchor="b"/>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Pa a² − Pb b²</a:t>
            </a:r>
            <a:endParaRPr lang="en-US" sz="984" dirty="0"/>
          </a:p>
        </p:txBody>
      </p:sp>
      <p:sp>
        <p:nvSpPr>
          <p:cNvPr id="41" name="Shape 39"/>
          <p:cNvSpPr/>
          <p:nvPr/>
        </p:nvSpPr>
        <p:spPr>
          <a:xfrm>
            <a:off x="8065008" y="6014029"/>
            <a:ext cx="1029614" cy="0"/>
          </a:xfrm>
          <a:prstGeom prst="line">
            <a:avLst/>
          </a:prstGeom>
          <a:noFill/>
          <a:ln w="15875">
            <a:solidFill>
              <a:srgbClr val="1E2761"/>
            </a:solidFill>
            <a:prstDash val="solid"/>
          </a:ln>
        </p:spPr>
      </p:sp>
      <p:sp>
        <p:nvSpPr>
          <p:cNvPr id="42" name="Text 40"/>
          <p:cNvSpPr txBox="1"/>
          <p:nvPr/>
        </p:nvSpPr>
        <p:spPr>
          <a:xfrm>
            <a:off x="8028432" y="6035060"/>
            <a:ext cx="1102766" cy="147462"/>
          </a:xfrm>
          <a:prstGeom prst="rect">
            <a:avLst/>
          </a:prstGeom>
          <a:noFill/>
          <a:ln/>
        </p:spPr>
        <p:txBody>
          <a:bodyPr wrap="square" lIns="0" tIns="0" rIns="0" bIns="0" rtlCol="0" anchor="t"/>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b²−a²</a:t>
            </a:r>
            <a:endParaRPr lang="en-US" sz="984" dirty="0"/>
          </a:p>
        </p:txBody>
      </p:sp>
      <p:sp>
        <p:nvSpPr>
          <p:cNvPr id="43" name="Text 41"/>
          <p:cNvSpPr txBox="1"/>
          <p:nvPr/>
        </p:nvSpPr>
        <p:spPr>
          <a:xfrm>
            <a:off x="9195207" y="5926856"/>
            <a:ext cx="9144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a:t>
            </a:r>
            <a:endParaRPr lang="en-US" sz="1200" dirty="0"/>
          </a:p>
        </p:txBody>
      </p:sp>
      <p:sp>
        <p:nvSpPr>
          <p:cNvPr id="44" name="Text 42"/>
          <p:cNvSpPr txBox="1"/>
          <p:nvPr/>
        </p:nvSpPr>
        <p:spPr>
          <a:xfrm>
            <a:off x="9350655" y="5846450"/>
            <a:ext cx="952805" cy="147462"/>
          </a:xfrm>
          <a:prstGeom prst="rect">
            <a:avLst/>
          </a:prstGeom>
          <a:noFill/>
          <a:ln/>
        </p:spPr>
        <p:txBody>
          <a:bodyPr wrap="square" lIns="0" tIns="0" rIns="0" bIns="0" rtlCol="0" anchor="b"/>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a²b²(Pa−Pb)</a:t>
            </a:r>
            <a:endParaRPr lang="en-US" sz="984" dirty="0"/>
          </a:p>
        </p:txBody>
      </p:sp>
      <p:sp>
        <p:nvSpPr>
          <p:cNvPr id="45" name="Shape 43"/>
          <p:cNvSpPr/>
          <p:nvPr/>
        </p:nvSpPr>
        <p:spPr>
          <a:xfrm>
            <a:off x="9387231" y="6014029"/>
            <a:ext cx="879653" cy="0"/>
          </a:xfrm>
          <a:prstGeom prst="line">
            <a:avLst/>
          </a:prstGeom>
          <a:noFill/>
          <a:ln w="15875">
            <a:solidFill>
              <a:srgbClr val="1E2761"/>
            </a:solidFill>
            <a:prstDash val="solid"/>
          </a:ln>
        </p:spPr>
      </p:sp>
      <p:sp>
        <p:nvSpPr>
          <p:cNvPr id="46" name="Text 44"/>
          <p:cNvSpPr txBox="1"/>
          <p:nvPr/>
        </p:nvSpPr>
        <p:spPr>
          <a:xfrm>
            <a:off x="9350655" y="6035060"/>
            <a:ext cx="952805" cy="147462"/>
          </a:xfrm>
          <a:prstGeom prst="rect">
            <a:avLst/>
          </a:prstGeom>
          <a:noFill/>
          <a:ln/>
        </p:spPr>
        <p:txBody>
          <a:bodyPr wrap="square" lIns="0" tIns="0" rIns="0" bIns="0" rtlCol="0" anchor="t"/>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r²(b²−a²)</a:t>
            </a:r>
            <a:endParaRPr lang="en-US" sz="9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gradFill>
            <a:gsLst>
              <a:gs pos="0">
                <a:srgbClr val="002060"/>
              </a:gs>
              <a:gs pos="100000">
                <a:srgbClr val="000E2A"/>
              </a:gs>
            </a:gsLst>
            <a:lin ang="2700000" scaled="0"/>
          </a:gradFill>
          <a:ln/>
        </p:spPr>
      </p:sp>
      <p:sp>
        <p:nvSpPr>
          <p:cNvPr id="3" name="Text 1"/>
          <p:cNvSpPr txBox="1"/>
          <p:nvPr/>
        </p:nvSpPr>
        <p:spPr>
          <a:xfrm>
            <a:off x="548640" y="164592"/>
            <a:ext cx="100584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TOPIC 6 · PART 2</a:t>
            </a:r>
            <a:endParaRPr lang="en-US" sz="1200" dirty="0"/>
          </a:p>
        </p:txBody>
      </p:sp>
      <p:sp>
        <p:nvSpPr>
          <p:cNvPr id="4" name="Text 2"/>
          <p:cNvSpPr txBox="1"/>
          <p:nvPr/>
        </p:nvSpPr>
        <p:spPr>
          <a:xfrm>
            <a:off x="548640" y="420624"/>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Lame's Theory — Special Cases</a:t>
            </a:r>
            <a:endParaRPr lang="en-US" sz="2800" dirty="0"/>
          </a:p>
        </p:txBody>
      </p:sp>
      <p:sp>
        <p:nvSpPr>
          <p:cNvPr id="5" name="Text 3"/>
          <p:cNvSpPr txBox="1"/>
          <p:nvPr/>
        </p:nvSpPr>
        <p:spPr>
          <a:xfrm>
            <a:off x="548640" y="1371600"/>
            <a:ext cx="7315200" cy="27432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Longitudinal stress (closed ends, horizontal equilibrium):</a:t>
            </a:r>
            <a:endParaRPr lang="en-US" sz="1200" dirty="0"/>
          </a:p>
        </p:txBody>
      </p:sp>
      <p:sp>
        <p:nvSpPr>
          <p:cNvPr id="6" name="Shape 4"/>
          <p:cNvSpPr/>
          <p:nvPr/>
        </p:nvSpPr>
        <p:spPr>
          <a:xfrm>
            <a:off x="548640" y="1664208"/>
            <a:ext cx="11091672" cy="548640"/>
          </a:xfrm>
          <a:prstGeom prst="roundRect">
            <a:avLst>
              <a:gd name="adj" fmla="val 13333"/>
            </a:avLst>
          </a:prstGeom>
          <a:solidFill>
            <a:srgbClr val="F4F7FD"/>
          </a:solidFill>
          <a:ln/>
        </p:spPr>
      </p:sp>
      <p:sp>
        <p:nvSpPr>
          <p:cNvPr id="7" name="Text 5"/>
          <p:cNvSpPr txBox="1"/>
          <p:nvPr/>
        </p:nvSpPr>
        <p:spPr>
          <a:xfrm>
            <a:off x="5048936" y="1811147"/>
            <a:ext cx="518160" cy="254762"/>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Math" pitchFamily="34" charset="0"/>
                <a:ea typeface="Cambria Math" pitchFamily="34" charset="-122"/>
                <a:cs typeface="Cambria Math" pitchFamily="34" charset="-120"/>
              </a:rPr>
              <a:t>σL =</a:t>
            </a:r>
            <a:endParaRPr lang="en-US" sz="1700" dirty="0"/>
          </a:p>
        </p:txBody>
      </p:sp>
      <p:sp>
        <p:nvSpPr>
          <p:cNvPr id="8" name="Text 6"/>
          <p:cNvSpPr txBox="1"/>
          <p:nvPr/>
        </p:nvSpPr>
        <p:spPr>
          <a:xfrm>
            <a:off x="5631104" y="1706763"/>
            <a:ext cx="1508912" cy="208905"/>
          </a:xfrm>
          <a:prstGeom prst="rect">
            <a:avLst/>
          </a:prstGeom>
          <a:noFill/>
          <a:ln/>
        </p:spPr>
        <p:txBody>
          <a:bodyPr wrap="square" lIns="0" tIns="0" rIns="0" bIns="0" rtlCol="0" anchor="b"/>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Pa a² − Pb b²</a:t>
            </a:r>
            <a:endParaRPr lang="en-US" sz="1394" dirty="0"/>
          </a:p>
        </p:txBody>
      </p:sp>
      <p:sp>
        <p:nvSpPr>
          <p:cNvPr id="9" name="Shape 7"/>
          <p:cNvSpPr/>
          <p:nvPr/>
        </p:nvSpPr>
        <p:spPr>
          <a:xfrm>
            <a:off x="5667680" y="1935785"/>
            <a:ext cx="1435760" cy="0"/>
          </a:xfrm>
          <a:prstGeom prst="line">
            <a:avLst/>
          </a:prstGeom>
          <a:noFill/>
          <a:ln w="15875">
            <a:solidFill>
              <a:srgbClr val="1E2761"/>
            </a:solidFill>
            <a:prstDash val="solid"/>
          </a:ln>
        </p:spPr>
      </p:sp>
      <p:sp>
        <p:nvSpPr>
          <p:cNvPr id="10" name="Text 8"/>
          <p:cNvSpPr txBox="1"/>
          <p:nvPr/>
        </p:nvSpPr>
        <p:spPr>
          <a:xfrm>
            <a:off x="5631104" y="1956816"/>
            <a:ext cx="1508912" cy="208905"/>
          </a:xfrm>
          <a:prstGeom prst="rect">
            <a:avLst/>
          </a:prstGeom>
          <a:noFill/>
          <a:ln/>
        </p:spPr>
        <p:txBody>
          <a:bodyPr wrap="square" lIns="0" tIns="0" rIns="0" bIns="0" rtlCol="0" anchor="t"/>
          <a:lstStyle/>
          <a:p>
            <a:pPr marL="0" indent="0" algn="ctr">
              <a:buNone/>
            </a:pPr>
            <a:r>
              <a:rPr lang="en-US" sz="1394" b="1" dirty="0">
                <a:solidFill>
                  <a:srgbClr val="1E2761"/>
                </a:solidFill>
                <a:latin typeface="Cambria Math" pitchFamily="34" charset="0"/>
                <a:ea typeface="Cambria Math" pitchFamily="34" charset="-122"/>
                <a:cs typeface="Cambria Math" pitchFamily="34" charset="-120"/>
              </a:rPr>
              <a:t>b² − a²</a:t>
            </a:r>
            <a:endParaRPr lang="en-US" sz="1394" dirty="0"/>
          </a:p>
        </p:txBody>
      </p:sp>
      <p:sp>
        <p:nvSpPr>
          <p:cNvPr id="11" name="Shape 9"/>
          <p:cNvSpPr/>
          <p:nvPr/>
        </p:nvSpPr>
        <p:spPr>
          <a:xfrm>
            <a:off x="548640" y="2359152"/>
            <a:ext cx="5440680" cy="3840480"/>
          </a:xfrm>
          <a:prstGeom prst="roundRect">
            <a:avLst>
              <a:gd name="adj" fmla="val 2381"/>
            </a:avLst>
          </a:prstGeom>
          <a:gradFill>
            <a:gsLst>
              <a:gs pos="0">
                <a:srgbClr val="002060"/>
              </a:gs>
              <a:gs pos="100000">
                <a:srgbClr val="000E2A"/>
              </a:gs>
            </a:gsLst>
            <a:lin ang="2700000" scaled="0"/>
          </a:gradFill>
          <a:ln/>
        </p:spPr>
      </p:sp>
      <p:sp>
        <p:nvSpPr>
          <p:cNvPr id="12" name="Text 10"/>
          <p:cNvSpPr txBox="1"/>
          <p:nvPr/>
        </p:nvSpPr>
        <p:spPr>
          <a:xfrm>
            <a:off x="822960" y="2523744"/>
            <a:ext cx="489204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Case I — Internal Pressure Only</a:t>
            </a:r>
            <a:endParaRPr lang="en-US" sz="1400" dirty="0"/>
          </a:p>
        </p:txBody>
      </p:sp>
      <p:sp>
        <p:nvSpPr>
          <p:cNvPr id="13" name="Text 11"/>
          <p:cNvSpPr txBox="1"/>
          <p:nvPr/>
        </p:nvSpPr>
        <p:spPr>
          <a:xfrm>
            <a:off x="822960" y="2843784"/>
            <a:ext cx="4892040" cy="237744"/>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(Pb = 0, Pa = P)</a:t>
            </a:r>
            <a:endParaRPr lang="en-US" sz="1100" dirty="0"/>
          </a:p>
        </p:txBody>
      </p:sp>
      <p:sp>
        <p:nvSpPr>
          <p:cNvPr id="14" name="Shape 12"/>
          <p:cNvSpPr/>
          <p:nvPr/>
        </p:nvSpPr>
        <p:spPr>
          <a:xfrm>
            <a:off x="822960" y="3136392"/>
            <a:ext cx="4892040" cy="603504"/>
          </a:xfrm>
          <a:prstGeom prst="roundRect">
            <a:avLst>
              <a:gd name="adj" fmla="val 12121"/>
            </a:avLst>
          </a:prstGeom>
          <a:solidFill>
            <a:srgbClr val="FFFFFF"/>
          </a:solidFill>
          <a:ln/>
        </p:spPr>
      </p:sp>
      <p:sp>
        <p:nvSpPr>
          <p:cNvPr id="15" name="Text 13"/>
          <p:cNvSpPr txBox="1"/>
          <p:nvPr/>
        </p:nvSpPr>
        <p:spPr>
          <a:xfrm>
            <a:off x="2254796" y="3336989"/>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σθ =</a:t>
            </a:r>
            <a:endParaRPr lang="en-US" sz="1350" dirty="0"/>
          </a:p>
        </p:txBody>
      </p:sp>
      <p:sp>
        <p:nvSpPr>
          <p:cNvPr id="16" name="Text 14"/>
          <p:cNvSpPr txBox="1"/>
          <p:nvPr/>
        </p:nvSpPr>
        <p:spPr>
          <a:xfrm>
            <a:off x="2730284" y="3249389"/>
            <a:ext cx="54978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Pa²</a:t>
            </a:r>
            <a:endParaRPr lang="en-US" sz="1107" dirty="0"/>
          </a:p>
        </p:txBody>
      </p:sp>
      <p:sp>
        <p:nvSpPr>
          <p:cNvPr id="17" name="Shape 15"/>
          <p:cNvSpPr/>
          <p:nvPr/>
        </p:nvSpPr>
        <p:spPr>
          <a:xfrm>
            <a:off x="2766860" y="3435401"/>
            <a:ext cx="476631" cy="0"/>
          </a:xfrm>
          <a:prstGeom prst="line">
            <a:avLst/>
          </a:prstGeom>
          <a:noFill/>
          <a:ln w="15875">
            <a:solidFill>
              <a:srgbClr val="1E2761"/>
            </a:solidFill>
            <a:prstDash val="solid"/>
          </a:ln>
        </p:spPr>
      </p:sp>
      <p:sp>
        <p:nvSpPr>
          <p:cNvPr id="18" name="Text 16"/>
          <p:cNvSpPr txBox="1"/>
          <p:nvPr/>
        </p:nvSpPr>
        <p:spPr>
          <a:xfrm>
            <a:off x="2730284" y="3456432"/>
            <a:ext cx="54978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b²−a²</a:t>
            </a:r>
            <a:endParaRPr lang="en-US" sz="1107" dirty="0"/>
          </a:p>
        </p:txBody>
      </p:sp>
      <p:sp>
        <p:nvSpPr>
          <p:cNvPr id="19" name="Text 17"/>
          <p:cNvSpPr txBox="1"/>
          <p:nvPr/>
        </p:nvSpPr>
        <p:spPr>
          <a:xfrm>
            <a:off x="3344075" y="3336989"/>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(1 +</a:t>
            </a:r>
            <a:endParaRPr lang="en-US" sz="1350" dirty="0"/>
          </a:p>
        </p:txBody>
      </p:sp>
      <p:sp>
        <p:nvSpPr>
          <p:cNvPr id="20" name="Text 18"/>
          <p:cNvSpPr txBox="1"/>
          <p:nvPr/>
        </p:nvSpPr>
        <p:spPr>
          <a:xfrm>
            <a:off x="3819563" y="3249389"/>
            <a:ext cx="29672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t>
            </a:r>
            <a:endParaRPr lang="en-US" sz="1107" dirty="0"/>
          </a:p>
        </p:txBody>
      </p:sp>
      <p:sp>
        <p:nvSpPr>
          <p:cNvPr id="21" name="Shape 19"/>
          <p:cNvSpPr/>
          <p:nvPr/>
        </p:nvSpPr>
        <p:spPr>
          <a:xfrm>
            <a:off x="3856139" y="3435401"/>
            <a:ext cx="223571" cy="0"/>
          </a:xfrm>
          <a:prstGeom prst="line">
            <a:avLst/>
          </a:prstGeom>
          <a:noFill/>
          <a:ln w="15875">
            <a:solidFill>
              <a:srgbClr val="1E2761"/>
            </a:solidFill>
            <a:prstDash val="solid"/>
          </a:ln>
        </p:spPr>
      </p:sp>
      <p:sp>
        <p:nvSpPr>
          <p:cNvPr id="22" name="Text 20"/>
          <p:cNvSpPr txBox="1"/>
          <p:nvPr/>
        </p:nvSpPr>
        <p:spPr>
          <a:xfrm>
            <a:off x="3819563" y="3456432"/>
            <a:ext cx="29672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r²</a:t>
            </a:r>
            <a:endParaRPr lang="en-US" sz="1107" dirty="0"/>
          </a:p>
        </p:txBody>
      </p:sp>
      <p:sp>
        <p:nvSpPr>
          <p:cNvPr id="23" name="Text 21"/>
          <p:cNvSpPr txBox="1"/>
          <p:nvPr/>
        </p:nvSpPr>
        <p:spPr>
          <a:xfrm>
            <a:off x="4180294" y="3336989"/>
            <a:ext cx="10287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a:t>
            </a:r>
            <a:endParaRPr lang="en-US" sz="1350" dirty="0"/>
          </a:p>
        </p:txBody>
      </p:sp>
      <p:sp>
        <p:nvSpPr>
          <p:cNvPr id="24" name="Shape 22"/>
          <p:cNvSpPr/>
          <p:nvPr/>
        </p:nvSpPr>
        <p:spPr>
          <a:xfrm>
            <a:off x="822960" y="3794760"/>
            <a:ext cx="4892040" cy="603504"/>
          </a:xfrm>
          <a:prstGeom prst="roundRect">
            <a:avLst>
              <a:gd name="adj" fmla="val 12121"/>
            </a:avLst>
          </a:prstGeom>
          <a:solidFill>
            <a:srgbClr val="FFFFFF"/>
          </a:solidFill>
          <a:ln/>
        </p:spPr>
      </p:sp>
      <p:sp>
        <p:nvSpPr>
          <p:cNvPr id="25" name="Text 23"/>
          <p:cNvSpPr txBox="1"/>
          <p:nvPr/>
        </p:nvSpPr>
        <p:spPr>
          <a:xfrm>
            <a:off x="2254796" y="3995357"/>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σr =</a:t>
            </a:r>
            <a:endParaRPr lang="en-US" sz="1350" dirty="0"/>
          </a:p>
        </p:txBody>
      </p:sp>
      <p:sp>
        <p:nvSpPr>
          <p:cNvPr id="26" name="Text 24"/>
          <p:cNvSpPr txBox="1"/>
          <p:nvPr/>
        </p:nvSpPr>
        <p:spPr>
          <a:xfrm>
            <a:off x="2730284" y="3907757"/>
            <a:ext cx="54978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Pa²</a:t>
            </a:r>
            <a:endParaRPr lang="en-US" sz="1107" dirty="0"/>
          </a:p>
        </p:txBody>
      </p:sp>
      <p:sp>
        <p:nvSpPr>
          <p:cNvPr id="27" name="Shape 25"/>
          <p:cNvSpPr/>
          <p:nvPr/>
        </p:nvSpPr>
        <p:spPr>
          <a:xfrm>
            <a:off x="2766860" y="4093769"/>
            <a:ext cx="476631" cy="0"/>
          </a:xfrm>
          <a:prstGeom prst="line">
            <a:avLst/>
          </a:prstGeom>
          <a:noFill/>
          <a:ln w="15875">
            <a:solidFill>
              <a:srgbClr val="1E2761"/>
            </a:solidFill>
            <a:prstDash val="solid"/>
          </a:ln>
        </p:spPr>
      </p:sp>
      <p:sp>
        <p:nvSpPr>
          <p:cNvPr id="28" name="Text 26"/>
          <p:cNvSpPr txBox="1"/>
          <p:nvPr/>
        </p:nvSpPr>
        <p:spPr>
          <a:xfrm>
            <a:off x="2730284" y="4114800"/>
            <a:ext cx="54978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b²−a²</a:t>
            </a:r>
            <a:endParaRPr lang="en-US" sz="1107" dirty="0"/>
          </a:p>
        </p:txBody>
      </p:sp>
      <p:sp>
        <p:nvSpPr>
          <p:cNvPr id="29" name="Text 27"/>
          <p:cNvSpPr txBox="1"/>
          <p:nvPr/>
        </p:nvSpPr>
        <p:spPr>
          <a:xfrm>
            <a:off x="3344075" y="3995357"/>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(1 −</a:t>
            </a:r>
            <a:endParaRPr lang="en-US" sz="1350" dirty="0"/>
          </a:p>
        </p:txBody>
      </p:sp>
      <p:sp>
        <p:nvSpPr>
          <p:cNvPr id="30" name="Text 28"/>
          <p:cNvSpPr txBox="1"/>
          <p:nvPr/>
        </p:nvSpPr>
        <p:spPr>
          <a:xfrm>
            <a:off x="3819563" y="3907757"/>
            <a:ext cx="29672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t>
            </a:r>
            <a:endParaRPr lang="en-US" sz="1107" dirty="0"/>
          </a:p>
        </p:txBody>
      </p:sp>
      <p:sp>
        <p:nvSpPr>
          <p:cNvPr id="31" name="Shape 29"/>
          <p:cNvSpPr/>
          <p:nvPr/>
        </p:nvSpPr>
        <p:spPr>
          <a:xfrm>
            <a:off x="3856139" y="4093769"/>
            <a:ext cx="223571" cy="0"/>
          </a:xfrm>
          <a:prstGeom prst="line">
            <a:avLst/>
          </a:prstGeom>
          <a:noFill/>
          <a:ln w="15875">
            <a:solidFill>
              <a:srgbClr val="1E2761"/>
            </a:solidFill>
            <a:prstDash val="solid"/>
          </a:ln>
        </p:spPr>
      </p:sp>
      <p:sp>
        <p:nvSpPr>
          <p:cNvPr id="32" name="Text 30"/>
          <p:cNvSpPr txBox="1"/>
          <p:nvPr/>
        </p:nvSpPr>
        <p:spPr>
          <a:xfrm>
            <a:off x="3819563" y="4114800"/>
            <a:ext cx="29672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r²</a:t>
            </a:r>
            <a:endParaRPr lang="en-US" sz="1107" dirty="0"/>
          </a:p>
        </p:txBody>
      </p:sp>
      <p:sp>
        <p:nvSpPr>
          <p:cNvPr id="33" name="Text 31"/>
          <p:cNvSpPr txBox="1"/>
          <p:nvPr/>
        </p:nvSpPr>
        <p:spPr>
          <a:xfrm>
            <a:off x="4180294" y="3995357"/>
            <a:ext cx="10287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a:t>
            </a:r>
            <a:endParaRPr lang="en-US" sz="1350" dirty="0"/>
          </a:p>
        </p:txBody>
      </p:sp>
      <p:sp>
        <p:nvSpPr>
          <p:cNvPr id="34" name="Text 32"/>
          <p:cNvSpPr txBox="1"/>
          <p:nvPr/>
        </p:nvSpPr>
        <p:spPr>
          <a:xfrm>
            <a:off x="822960" y="4480560"/>
            <a:ext cx="4892040" cy="256032"/>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Maximum hoop stress occurs at the inner radius r = a:</a:t>
            </a:r>
            <a:endParaRPr lang="en-US" sz="1050" dirty="0"/>
          </a:p>
        </p:txBody>
      </p:sp>
      <p:sp>
        <p:nvSpPr>
          <p:cNvPr id="35" name="Shape 33"/>
          <p:cNvSpPr/>
          <p:nvPr/>
        </p:nvSpPr>
        <p:spPr>
          <a:xfrm>
            <a:off x="822960" y="4754880"/>
            <a:ext cx="4892040" cy="566928"/>
          </a:xfrm>
          <a:prstGeom prst="roundRect">
            <a:avLst>
              <a:gd name="adj" fmla="val 12903"/>
            </a:avLst>
          </a:prstGeom>
          <a:solidFill>
            <a:srgbClr val="FFFFFF"/>
          </a:solidFill>
          <a:ln/>
        </p:spPr>
      </p:sp>
      <p:sp>
        <p:nvSpPr>
          <p:cNvPr id="36" name="Text 34"/>
          <p:cNvSpPr txBox="1"/>
          <p:nvPr/>
        </p:nvSpPr>
        <p:spPr>
          <a:xfrm>
            <a:off x="1877720" y="4937189"/>
            <a:ext cx="92583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σθ(max) =</a:t>
            </a:r>
            <a:endParaRPr lang="en-US" sz="1350" dirty="0"/>
          </a:p>
        </p:txBody>
      </p:sp>
      <p:sp>
        <p:nvSpPr>
          <p:cNvPr id="37" name="Text 35"/>
          <p:cNvSpPr txBox="1"/>
          <p:nvPr/>
        </p:nvSpPr>
        <p:spPr>
          <a:xfrm>
            <a:off x="2867558" y="4849589"/>
            <a:ext cx="80284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P(a²+b²)</a:t>
            </a:r>
            <a:endParaRPr lang="en-US" sz="1107" dirty="0"/>
          </a:p>
        </p:txBody>
      </p:sp>
      <p:sp>
        <p:nvSpPr>
          <p:cNvPr id="38" name="Shape 36"/>
          <p:cNvSpPr/>
          <p:nvPr/>
        </p:nvSpPr>
        <p:spPr>
          <a:xfrm>
            <a:off x="2904134" y="5035601"/>
            <a:ext cx="729691" cy="0"/>
          </a:xfrm>
          <a:prstGeom prst="line">
            <a:avLst/>
          </a:prstGeom>
          <a:noFill/>
          <a:ln w="15875">
            <a:solidFill>
              <a:srgbClr val="1E2761"/>
            </a:solidFill>
            <a:prstDash val="solid"/>
          </a:ln>
        </p:spPr>
      </p:sp>
      <p:sp>
        <p:nvSpPr>
          <p:cNvPr id="39" name="Text 37"/>
          <p:cNvSpPr txBox="1"/>
          <p:nvPr/>
        </p:nvSpPr>
        <p:spPr>
          <a:xfrm>
            <a:off x="2867558" y="5056632"/>
            <a:ext cx="80284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b²−a²</a:t>
            </a:r>
            <a:endParaRPr lang="en-US" sz="1107" dirty="0"/>
          </a:p>
        </p:txBody>
      </p:sp>
      <p:sp>
        <p:nvSpPr>
          <p:cNvPr id="40" name="Text 38"/>
          <p:cNvSpPr txBox="1"/>
          <p:nvPr/>
        </p:nvSpPr>
        <p:spPr>
          <a:xfrm>
            <a:off x="3734410" y="4937189"/>
            <a:ext cx="92583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[tensile]</a:t>
            </a:r>
            <a:endParaRPr lang="en-US" sz="1350" dirty="0"/>
          </a:p>
        </p:txBody>
      </p:sp>
      <p:sp>
        <p:nvSpPr>
          <p:cNvPr id="41" name="Text 39"/>
          <p:cNvSpPr txBox="1"/>
          <p:nvPr/>
        </p:nvSpPr>
        <p:spPr>
          <a:xfrm>
            <a:off x="822960" y="5394960"/>
            <a:ext cx="489204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At r = a: σr = −P (compressive, = applied pressure).</a:t>
            </a:r>
            <a:endParaRPr lang="en-US" sz="1050" dirty="0"/>
          </a:p>
          <a:p>
            <a:pPr marL="0" indent="0">
              <a:buNone/>
            </a:pPr>
            <a:r>
              <a:rPr lang="en-US" sz="1050" dirty="0">
                <a:solidFill>
                  <a:srgbClr val="CADCFC"/>
                </a:solidFill>
                <a:latin typeface="Calibri" pitchFamily="34" charset="0"/>
                <a:ea typeface="Calibri" pitchFamily="34" charset="-122"/>
                <a:cs typeface="Calibri" pitchFamily="34" charset="-120"/>
              </a:rPr>
              <a:t>At r = b: σr = 0.</a:t>
            </a:r>
            <a:endParaRPr lang="en-US" sz="1050" dirty="0"/>
          </a:p>
        </p:txBody>
      </p:sp>
      <p:sp>
        <p:nvSpPr>
          <p:cNvPr id="42" name="Shape 40"/>
          <p:cNvSpPr/>
          <p:nvPr/>
        </p:nvSpPr>
        <p:spPr>
          <a:xfrm>
            <a:off x="6199632" y="2359152"/>
            <a:ext cx="5440680" cy="3840480"/>
          </a:xfrm>
          <a:prstGeom prst="roundRect">
            <a:avLst>
              <a:gd name="adj" fmla="val 2381"/>
            </a:avLst>
          </a:prstGeom>
          <a:solidFill>
            <a:srgbClr val="C97B1D"/>
          </a:solidFill>
          <a:ln/>
        </p:spPr>
      </p:sp>
      <p:sp>
        <p:nvSpPr>
          <p:cNvPr id="43" name="Text 41"/>
          <p:cNvSpPr txBox="1"/>
          <p:nvPr/>
        </p:nvSpPr>
        <p:spPr>
          <a:xfrm>
            <a:off x="6473952" y="2523744"/>
            <a:ext cx="489204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Case II — External Pressure Only</a:t>
            </a:r>
            <a:endParaRPr lang="en-US" sz="1400" dirty="0"/>
          </a:p>
        </p:txBody>
      </p:sp>
      <p:sp>
        <p:nvSpPr>
          <p:cNvPr id="44" name="Text 42"/>
          <p:cNvSpPr txBox="1"/>
          <p:nvPr/>
        </p:nvSpPr>
        <p:spPr>
          <a:xfrm>
            <a:off x="6473952" y="2843784"/>
            <a:ext cx="4892040" cy="237744"/>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(Pa = 0, Pb = P)</a:t>
            </a:r>
            <a:endParaRPr lang="en-US" sz="1100" dirty="0"/>
          </a:p>
        </p:txBody>
      </p:sp>
      <p:sp>
        <p:nvSpPr>
          <p:cNvPr id="45" name="Shape 43"/>
          <p:cNvSpPr/>
          <p:nvPr/>
        </p:nvSpPr>
        <p:spPr>
          <a:xfrm>
            <a:off x="6473952" y="3136392"/>
            <a:ext cx="4892040" cy="603504"/>
          </a:xfrm>
          <a:prstGeom prst="roundRect">
            <a:avLst>
              <a:gd name="adj" fmla="val 12121"/>
            </a:avLst>
          </a:prstGeom>
          <a:solidFill>
            <a:srgbClr val="FFFFFF"/>
          </a:solidFill>
          <a:ln/>
        </p:spPr>
      </p:sp>
      <p:sp>
        <p:nvSpPr>
          <p:cNvPr id="46" name="Text 44"/>
          <p:cNvSpPr txBox="1"/>
          <p:nvPr/>
        </p:nvSpPr>
        <p:spPr>
          <a:xfrm>
            <a:off x="7802918" y="3336989"/>
            <a:ext cx="61722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σθ = −</a:t>
            </a:r>
            <a:endParaRPr lang="en-US" sz="1350" dirty="0"/>
          </a:p>
        </p:txBody>
      </p:sp>
      <p:sp>
        <p:nvSpPr>
          <p:cNvPr id="47" name="Text 45"/>
          <p:cNvSpPr txBox="1"/>
          <p:nvPr/>
        </p:nvSpPr>
        <p:spPr>
          <a:xfrm>
            <a:off x="8484146" y="3249389"/>
            <a:ext cx="54978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Pb²</a:t>
            </a:r>
            <a:endParaRPr lang="en-US" sz="1107" dirty="0"/>
          </a:p>
        </p:txBody>
      </p:sp>
      <p:sp>
        <p:nvSpPr>
          <p:cNvPr id="48" name="Shape 46"/>
          <p:cNvSpPr/>
          <p:nvPr/>
        </p:nvSpPr>
        <p:spPr>
          <a:xfrm>
            <a:off x="8520722" y="3435401"/>
            <a:ext cx="476631" cy="0"/>
          </a:xfrm>
          <a:prstGeom prst="line">
            <a:avLst/>
          </a:prstGeom>
          <a:noFill/>
          <a:ln w="15875">
            <a:solidFill>
              <a:srgbClr val="1E2761"/>
            </a:solidFill>
            <a:prstDash val="solid"/>
          </a:ln>
        </p:spPr>
      </p:sp>
      <p:sp>
        <p:nvSpPr>
          <p:cNvPr id="49" name="Text 47"/>
          <p:cNvSpPr txBox="1"/>
          <p:nvPr/>
        </p:nvSpPr>
        <p:spPr>
          <a:xfrm>
            <a:off x="8484146" y="3456432"/>
            <a:ext cx="54978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b²−a²</a:t>
            </a:r>
            <a:endParaRPr lang="en-US" sz="1107" dirty="0"/>
          </a:p>
        </p:txBody>
      </p:sp>
      <p:sp>
        <p:nvSpPr>
          <p:cNvPr id="50" name="Text 48"/>
          <p:cNvSpPr txBox="1"/>
          <p:nvPr/>
        </p:nvSpPr>
        <p:spPr>
          <a:xfrm>
            <a:off x="9097937" y="3336989"/>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(1 +</a:t>
            </a:r>
            <a:endParaRPr lang="en-US" sz="1350" dirty="0"/>
          </a:p>
        </p:txBody>
      </p:sp>
      <p:sp>
        <p:nvSpPr>
          <p:cNvPr id="51" name="Text 49"/>
          <p:cNvSpPr txBox="1"/>
          <p:nvPr/>
        </p:nvSpPr>
        <p:spPr>
          <a:xfrm>
            <a:off x="9573425" y="3249389"/>
            <a:ext cx="29672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a²</a:t>
            </a:r>
            <a:endParaRPr lang="en-US" sz="1107" dirty="0"/>
          </a:p>
        </p:txBody>
      </p:sp>
      <p:sp>
        <p:nvSpPr>
          <p:cNvPr id="52" name="Shape 50"/>
          <p:cNvSpPr/>
          <p:nvPr/>
        </p:nvSpPr>
        <p:spPr>
          <a:xfrm>
            <a:off x="9610001" y="3435401"/>
            <a:ext cx="223571" cy="0"/>
          </a:xfrm>
          <a:prstGeom prst="line">
            <a:avLst/>
          </a:prstGeom>
          <a:noFill/>
          <a:ln w="15875">
            <a:solidFill>
              <a:srgbClr val="1E2761"/>
            </a:solidFill>
            <a:prstDash val="solid"/>
          </a:ln>
        </p:spPr>
      </p:sp>
      <p:sp>
        <p:nvSpPr>
          <p:cNvPr id="53" name="Text 51"/>
          <p:cNvSpPr txBox="1"/>
          <p:nvPr/>
        </p:nvSpPr>
        <p:spPr>
          <a:xfrm>
            <a:off x="9573425" y="3456432"/>
            <a:ext cx="29672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r²</a:t>
            </a:r>
            <a:endParaRPr lang="en-US" sz="1107" dirty="0"/>
          </a:p>
        </p:txBody>
      </p:sp>
      <p:sp>
        <p:nvSpPr>
          <p:cNvPr id="54" name="Text 52"/>
          <p:cNvSpPr txBox="1"/>
          <p:nvPr/>
        </p:nvSpPr>
        <p:spPr>
          <a:xfrm>
            <a:off x="9934156" y="3336989"/>
            <a:ext cx="10287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a:t>
            </a:r>
            <a:endParaRPr lang="en-US" sz="1350" dirty="0"/>
          </a:p>
        </p:txBody>
      </p:sp>
      <p:sp>
        <p:nvSpPr>
          <p:cNvPr id="55" name="Shape 53"/>
          <p:cNvSpPr/>
          <p:nvPr/>
        </p:nvSpPr>
        <p:spPr>
          <a:xfrm>
            <a:off x="6473952" y="3794760"/>
            <a:ext cx="4892040" cy="603504"/>
          </a:xfrm>
          <a:prstGeom prst="roundRect">
            <a:avLst>
              <a:gd name="adj" fmla="val 12121"/>
            </a:avLst>
          </a:prstGeom>
          <a:solidFill>
            <a:srgbClr val="FFFFFF"/>
          </a:solidFill>
          <a:ln/>
        </p:spPr>
      </p:sp>
      <p:sp>
        <p:nvSpPr>
          <p:cNvPr id="56" name="Text 54"/>
          <p:cNvSpPr txBox="1"/>
          <p:nvPr/>
        </p:nvSpPr>
        <p:spPr>
          <a:xfrm>
            <a:off x="7802918" y="3995357"/>
            <a:ext cx="61722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σr = −</a:t>
            </a:r>
            <a:endParaRPr lang="en-US" sz="1350" dirty="0"/>
          </a:p>
        </p:txBody>
      </p:sp>
      <p:sp>
        <p:nvSpPr>
          <p:cNvPr id="57" name="Text 55"/>
          <p:cNvSpPr txBox="1"/>
          <p:nvPr/>
        </p:nvSpPr>
        <p:spPr>
          <a:xfrm>
            <a:off x="8484146" y="3907757"/>
            <a:ext cx="54978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Pb²</a:t>
            </a:r>
            <a:endParaRPr lang="en-US" sz="1107" dirty="0"/>
          </a:p>
        </p:txBody>
      </p:sp>
      <p:sp>
        <p:nvSpPr>
          <p:cNvPr id="58" name="Shape 56"/>
          <p:cNvSpPr/>
          <p:nvPr/>
        </p:nvSpPr>
        <p:spPr>
          <a:xfrm>
            <a:off x="8520722" y="4093769"/>
            <a:ext cx="476631" cy="0"/>
          </a:xfrm>
          <a:prstGeom prst="line">
            <a:avLst/>
          </a:prstGeom>
          <a:noFill/>
          <a:ln w="15875">
            <a:solidFill>
              <a:srgbClr val="1E2761"/>
            </a:solidFill>
            <a:prstDash val="solid"/>
          </a:ln>
        </p:spPr>
      </p:sp>
      <p:sp>
        <p:nvSpPr>
          <p:cNvPr id="59" name="Text 57"/>
          <p:cNvSpPr txBox="1"/>
          <p:nvPr/>
        </p:nvSpPr>
        <p:spPr>
          <a:xfrm>
            <a:off x="8484146" y="4114800"/>
            <a:ext cx="54978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b²−a²</a:t>
            </a:r>
            <a:endParaRPr lang="en-US" sz="1107" dirty="0"/>
          </a:p>
        </p:txBody>
      </p:sp>
      <p:sp>
        <p:nvSpPr>
          <p:cNvPr id="60" name="Text 58"/>
          <p:cNvSpPr txBox="1"/>
          <p:nvPr/>
        </p:nvSpPr>
        <p:spPr>
          <a:xfrm>
            <a:off x="9097937" y="3995357"/>
            <a:ext cx="41148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(1 −</a:t>
            </a:r>
            <a:endParaRPr lang="en-US" sz="1350" dirty="0"/>
          </a:p>
        </p:txBody>
      </p:sp>
      <p:sp>
        <p:nvSpPr>
          <p:cNvPr id="61" name="Text 59"/>
          <p:cNvSpPr txBox="1"/>
          <p:nvPr/>
        </p:nvSpPr>
        <p:spPr>
          <a:xfrm>
            <a:off x="9573425" y="3907757"/>
            <a:ext cx="296723" cy="165895"/>
          </a:xfrm>
          <a:prstGeom prst="rect">
            <a:avLst/>
          </a:prstGeom>
          <a:noFill/>
          <a:ln/>
        </p:spPr>
        <p:txBody>
          <a:bodyPr wrap="square" lIns="0" tIns="0" rIns="0" bIns="0" rtlCol="0" anchor="b"/>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a²</a:t>
            </a:r>
            <a:endParaRPr lang="en-US" sz="1107" dirty="0"/>
          </a:p>
        </p:txBody>
      </p:sp>
      <p:sp>
        <p:nvSpPr>
          <p:cNvPr id="62" name="Shape 60"/>
          <p:cNvSpPr/>
          <p:nvPr/>
        </p:nvSpPr>
        <p:spPr>
          <a:xfrm>
            <a:off x="9610001" y="4093769"/>
            <a:ext cx="223571" cy="0"/>
          </a:xfrm>
          <a:prstGeom prst="line">
            <a:avLst/>
          </a:prstGeom>
          <a:noFill/>
          <a:ln w="15875">
            <a:solidFill>
              <a:srgbClr val="1E2761"/>
            </a:solidFill>
            <a:prstDash val="solid"/>
          </a:ln>
        </p:spPr>
      </p:sp>
      <p:sp>
        <p:nvSpPr>
          <p:cNvPr id="63" name="Text 61"/>
          <p:cNvSpPr txBox="1"/>
          <p:nvPr/>
        </p:nvSpPr>
        <p:spPr>
          <a:xfrm>
            <a:off x="9573425" y="4114800"/>
            <a:ext cx="296723" cy="165895"/>
          </a:xfrm>
          <a:prstGeom prst="rect">
            <a:avLst/>
          </a:prstGeom>
          <a:noFill/>
          <a:ln/>
        </p:spPr>
        <p:txBody>
          <a:bodyPr wrap="square" lIns="0" tIns="0" rIns="0" bIns="0" rtlCol="0" anchor="t"/>
          <a:lstStyle/>
          <a:p>
            <a:pPr marL="0" indent="0" algn="ctr">
              <a:buNone/>
            </a:pPr>
            <a:r>
              <a:rPr lang="en-US" sz="1107" b="1" dirty="0">
                <a:solidFill>
                  <a:srgbClr val="1E2761"/>
                </a:solidFill>
                <a:latin typeface="Cambria Math" pitchFamily="34" charset="0"/>
                <a:ea typeface="Cambria Math" pitchFamily="34" charset="-122"/>
                <a:cs typeface="Cambria Math" pitchFamily="34" charset="-120"/>
              </a:rPr>
              <a:t>r²</a:t>
            </a:r>
            <a:endParaRPr lang="en-US" sz="1107" dirty="0"/>
          </a:p>
        </p:txBody>
      </p:sp>
      <p:sp>
        <p:nvSpPr>
          <p:cNvPr id="64" name="Text 62"/>
          <p:cNvSpPr txBox="1"/>
          <p:nvPr/>
        </p:nvSpPr>
        <p:spPr>
          <a:xfrm>
            <a:off x="9934156" y="3995357"/>
            <a:ext cx="102870" cy="202311"/>
          </a:xfrm>
          <a:prstGeom prst="rect">
            <a:avLst/>
          </a:prstGeom>
          <a:noFill/>
          <a:ln/>
        </p:spPr>
        <p:txBody>
          <a:bodyPr wrap="square" lIns="0" tIns="0" rIns="0" bIns="0" rtlCol="0" anchor="ctr"/>
          <a:lstStyle/>
          <a:p>
            <a:pPr marL="0" indent="0" algn="ctr">
              <a:buNone/>
            </a:pPr>
            <a:r>
              <a:rPr lang="en-US" sz="1350" b="1" dirty="0">
                <a:solidFill>
                  <a:srgbClr val="1E2761"/>
                </a:solidFill>
                <a:latin typeface="Cambria Math" pitchFamily="34" charset="0"/>
                <a:ea typeface="Cambria Math" pitchFamily="34" charset="-122"/>
                <a:cs typeface="Cambria Math" pitchFamily="34" charset="-120"/>
              </a:rPr>
              <a:t>)</a:t>
            </a:r>
            <a:endParaRPr lang="en-US" sz="1350" dirty="0"/>
          </a:p>
        </p:txBody>
      </p:sp>
      <p:sp>
        <p:nvSpPr>
          <p:cNvPr id="65" name="Text 63"/>
          <p:cNvSpPr txBox="1"/>
          <p:nvPr/>
        </p:nvSpPr>
        <p:spPr>
          <a:xfrm>
            <a:off x="6473952" y="4480560"/>
            <a:ext cx="4892040" cy="25603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Both σr and σθ are always compressive.</a:t>
            </a:r>
            <a:endParaRPr lang="en-US" sz="1050" dirty="0"/>
          </a:p>
        </p:txBody>
      </p:sp>
      <p:sp>
        <p:nvSpPr>
          <p:cNvPr id="66" name="Shape 64"/>
          <p:cNvSpPr/>
          <p:nvPr/>
        </p:nvSpPr>
        <p:spPr>
          <a:xfrm>
            <a:off x="6473952" y="4754880"/>
            <a:ext cx="4892040" cy="566928"/>
          </a:xfrm>
          <a:prstGeom prst="roundRect">
            <a:avLst>
              <a:gd name="adj" fmla="val 12903"/>
            </a:avLst>
          </a:prstGeom>
          <a:solidFill>
            <a:srgbClr val="FFFFFF"/>
          </a:solidFill>
          <a:ln/>
        </p:spPr>
      </p:sp>
      <p:sp>
        <p:nvSpPr>
          <p:cNvPr id="67" name="Text 65"/>
          <p:cNvSpPr txBox="1"/>
          <p:nvPr/>
        </p:nvSpPr>
        <p:spPr>
          <a:xfrm>
            <a:off x="7440473" y="4948428"/>
            <a:ext cx="128016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At r=b: σθ = −</a:t>
            </a:r>
            <a:endParaRPr lang="en-US" sz="1200" dirty="0"/>
          </a:p>
        </p:txBody>
      </p:sp>
      <p:sp>
        <p:nvSpPr>
          <p:cNvPr id="68" name="Text 66"/>
          <p:cNvSpPr txBox="1"/>
          <p:nvPr/>
        </p:nvSpPr>
        <p:spPr>
          <a:xfrm>
            <a:off x="8784641" y="4868022"/>
            <a:ext cx="727862" cy="147462"/>
          </a:xfrm>
          <a:prstGeom prst="rect">
            <a:avLst/>
          </a:prstGeom>
          <a:noFill/>
          <a:ln/>
        </p:spPr>
        <p:txBody>
          <a:bodyPr wrap="square" lIns="0" tIns="0" rIns="0" bIns="0" rtlCol="0" anchor="b"/>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P(b²+a²)</a:t>
            </a:r>
            <a:endParaRPr lang="en-US" sz="984" dirty="0"/>
          </a:p>
        </p:txBody>
      </p:sp>
      <p:sp>
        <p:nvSpPr>
          <p:cNvPr id="69" name="Shape 67"/>
          <p:cNvSpPr/>
          <p:nvPr/>
        </p:nvSpPr>
        <p:spPr>
          <a:xfrm>
            <a:off x="8821217" y="5035601"/>
            <a:ext cx="654710" cy="0"/>
          </a:xfrm>
          <a:prstGeom prst="line">
            <a:avLst/>
          </a:prstGeom>
          <a:noFill/>
          <a:ln w="15875">
            <a:solidFill>
              <a:srgbClr val="1E2761"/>
            </a:solidFill>
            <a:prstDash val="solid"/>
          </a:ln>
        </p:spPr>
      </p:sp>
      <p:sp>
        <p:nvSpPr>
          <p:cNvPr id="70" name="Text 68"/>
          <p:cNvSpPr txBox="1"/>
          <p:nvPr/>
        </p:nvSpPr>
        <p:spPr>
          <a:xfrm>
            <a:off x="8784641" y="5056632"/>
            <a:ext cx="727862" cy="147462"/>
          </a:xfrm>
          <a:prstGeom prst="rect">
            <a:avLst/>
          </a:prstGeom>
          <a:noFill/>
          <a:ln/>
        </p:spPr>
        <p:txBody>
          <a:bodyPr wrap="square" lIns="0" tIns="0" rIns="0" bIns="0" rtlCol="0" anchor="t"/>
          <a:lstStyle/>
          <a:p>
            <a:pPr marL="0" indent="0" algn="ctr">
              <a:buNone/>
            </a:pPr>
            <a:r>
              <a:rPr lang="en-US" sz="984" b="1" dirty="0">
                <a:solidFill>
                  <a:srgbClr val="1E2761"/>
                </a:solidFill>
                <a:latin typeface="Cambria Math" pitchFamily="34" charset="0"/>
                <a:ea typeface="Cambria Math" pitchFamily="34" charset="-122"/>
                <a:cs typeface="Cambria Math" pitchFamily="34" charset="-120"/>
              </a:rPr>
              <a:t>b²−a²</a:t>
            </a:r>
            <a:endParaRPr lang="en-US" sz="984" dirty="0"/>
          </a:p>
        </p:txBody>
      </p:sp>
      <p:sp>
        <p:nvSpPr>
          <p:cNvPr id="71" name="Text 69"/>
          <p:cNvSpPr txBox="1"/>
          <p:nvPr/>
        </p:nvSpPr>
        <p:spPr>
          <a:xfrm>
            <a:off x="9576511" y="4948428"/>
            <a:ext cx="822960" cy="179832"/>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Math" pitchFamily="34" charset="0"/>
                <a:ea typeface="Cambria Math" pitchFamily="34" charset="-122"/>
                <a:cs typeface="Cambria Math" pitchFamily="34" charset="-120"/>
              </a:rPr>
              <a:t>, σr = −P</a:t>
            </a:r>
            <a:endParaRPr lang="en-US" sz="1200" dirty="0"/>
          </a:p>
        </p:txBody>
      </p:sp>
      <p:sp>
        <p:nvSpPr>
          <p:cNvPr id="72" name="Text 70"/>
          <p:cNvSpPr txBox="1"/>
          <p:nvPr/>
        </p:nvSpPr>
        <p:spPr>
          <a:xfrm>
            <a:off x="6473952" y="5394960"/>
            <a:ext cx="489204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At r = a: σr = 0.</a:t>
            </a:r>
            <a:endParaRPr lang="en-US" sz="1050" dirty="0"/>
          </a:p>
        </p:txBody>
      </p:sp>
      <p:sp>
        <p:nvSpPr>
          <p:cNvPr id="73" name="Text 71"/>
          <p:cNvSpPr txBox="1"/>
          <p:nvPr/>
        </p:nvSpPr>
        <p:spPr>
          <a:xfrm>
            <a:off x="7432167" y="5690743"/>
            <a:ext cx="594360" cy="19481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Math" pitchFamily="34" charset="0"/>
                <a:ea typeface="Cambria Math" pitchFamily="34" charset="-122"/>
                <a:cs typeface="Cambria Math" pitchFamily="34" charset="-120"/>
              </a:rPr>
              <a:t>σθ = −</a:t>
            </a:r>
            <a:endParaRPr lang="en-US" sz="1300" dirty="0"/>
          </a:p>
        </p:txBody>
      </p:sp>
      <p:sp>
        <p:nvSpPr>
          <p:cNvPr id="74" name="Text 72"/>
          <p:cNvSpPr txBox="1"/>
          <p:nvPr/>
        </p:nvSpPr>
        <p:spPr>
          <a:xfrm>
            <a:off x="8090535" y="5605541"/>
            <a:ext cx="534162" cy="159751"/>
          </a:xfrm>
          <a:prstGeom prst="rect">
            <a:avLst/>
          </a:prstGeom>
          <a:noFill/>
          <a:ln/>
        </p:spPr>
        <p:txBody>
          <a:bodyPr wrap="square" lIns="0" tIns="0" rIns="0" bIns="0" rtlCol="0" anchor="b"/>
          <a:lstStyle/>
          <a:p>
            <a:pPr marL="0" indent="0" algn="ctr">
              <a:buNone/>
            </a:pPr>
            <a:r>
              <a:rPr lang="en-US" sz="1066" b="1" dirty="0">
                <a:solidFill>
                  <a:srgbClr val="FFFFFF"/>
                </a:solidFill>
                <a:latin typeface="Cambria Math" pitchFamily="34" charset="0"/>
                <a:ea typeface="Cambria Math" pitchFamily="34" charset="-122"/>
                <a:cs typeface="Cambria Math" pitchFamily="34" charset="-120"/>
              </a:rPr>
              <a:t>2Pb²</a:t>
            </a:r>
            <a:endParaRPr lang="en-US" sz="1066" dirty="0"/>
          </a:p>
        </p:txBody>
      </p:sp>
      <p:sp>
        <p:nvSpPr>
          <p:cNvPr id="75" name="Shape 73"/>
          <p:cNvSpPr/>
          <p:nvPr/>
        </p:nvSpPr>
        <p:spPr>
          <a:xfrm>
            <a:off x="8127111" y="5785409"/>
            <a:ext cx="461010" cy="0"/>
          </a:xfrm>
          <a:prstGeom prst="line">
            <a:avLst/>
          </a:prstGeom>
          <a:noFill/>
          <a:ln w="15875">
            <a:solidFill>
              <a:srgbClr val="FFFFFF"/>
            </a:solidFill>
            <a:prstDash val="solid"/>
          </a:ln>
        </p:spPr>
      </p:sp>
      <p:sp>
        <p:nvSpPr>
          <p:cNvPr id="76" name="Text 74"/>
          <p:cNvSpPr txBox="1"/>
          <p:nvPr/>
        </p:nvSpPr>
        <p:spPr>
          <a:xfrm>
            <a:off x="8090535" y="5806440"/>
            <a:ext cx="534162" cy="159751"/>
          </a:xfrm>
          <a:prstGeom prst="rect">
            <a:avLst/>
          </a:prstGeom>
          <a:noFill/>
          <a:ln/>
        </p:spPr>
        <p:txBody>
          <a:bodyPr wrap="square" lIns="0" tIns="0" rIns="0" bIns="0" rtlCol="0" anchor="t"/>
          <a:lstStyle/>
          <a:p>
            <a:pPr marL="0" indent="0" algn="ctr">
              <a:buNone/>
            </a:pPr>
            <a:r>
              <a:rPr lang="en-US" sz="1066" b="1" dirty="0">
                <a:solidFill>
                  <a:srgbClr val="FFFFFF"/>
                </a:solidFill>
                <a:latin typeface="Cambria Math" pitchFamily="34" charset="0"/>
                <a:ea typeface="Cambria Math" pitchFamily="34" charset="-122"/>
                <a:cs typeface="Cambria Math" pitchFamily="34" charset="-120"/>
              </a:rPr>
              <a:t>b²−a²</a:t>
            </a:r>
            <a:endParaRPr lang="en-US" sz="106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a:gsLst>
            <a:gs pos="0">
              <a:srgbClr val="002060"/>
            </a:gs>
            <a:gs pos="100000">
              <a:srgbClr val="000E2A"/>
            </a:gs>
          </a:gsLst>
          <a:lin ang="2700000" scaled="0"/>
        </a:gra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300" b="1" kern="0" spc="200" dirty="0">
                <a:solidFill>
                  <a:schemeClr val="bg1"/>
                </a:solidFill>
                <a:latin typeface="Calibri" pitchFamily="34" charset="0"/>
                <a:ea typeface="Calibri" pitchFamily="34" charset="-122"/>
                <a:cs typeface="Calibri" pitchFamily="34" charset="-120"/>
              </a:rPr>
              <a:t>KEY TAKEAWAYS</a:t>
            </a:r>
            <a:endParaRPr lang="en-US" sz="1300" dirty="0">
              <a:solidFill>
                <a:schemeClr val="bg1"/>
              </a:solidFill>
            </a:endParaRPr>
          </a:p>
        </p:txBody>
      </p:sp>
      <p:sp>
        <p:nvSpPr>
          <p:cNvPr id="3" name="Text 1"/>
          <p:cNvSpPr txBox="1"/>
          <p:nvPr/>
        </p:nvSpPr>
        <p:spPr>
          <a:xfrm>
            <a:off x="548640" y="713232"/>
            <a:ext cx="914400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Summary of Formulas</a:t>
            </a:r>
            <a:endParaRPr lang="en-US" sz="2800" dirty="0"/>
          </a:p>
        </p:txBody>
      </p:sp>
      <p:sp>
        <p:nvSpPr>
          <p:cNvPr id="4" name="Shape 2"/>
          <p:cNvSpPr/>
          <p:nvPr/>
        </p:nvSpPr>
        <p:spPr>
          <a:xfrm>
            <a:off x="548640" y="1481328"/>
            <a:ext cx="5440680" cy="1024128"/>
          </a:xfrm>
          <a:prstGeom prst="roundRect">
            <a:avLst>
              <a:gd name="adj" fmla="val 7143"/>
            </a:avLst>
          </a:prstGeom>
          <a:solidFill>
            <a:srgbClr val="2A3573"/>
          </a:solidFill>
          <a:ln/>
        </p:spPr>
      </p:sp>
      <p:sp>
        <p:nvSpPr>
          <p:cNvPr id="5" name="Text 3"/>
          <p:cNvSpPr txBox="1"/>
          <p:nvPr/>
        </p:nvSpPr>
        <p:spPr>
          <a:xfrm>
            <a:off x="777240" y="1572768"/>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Classification</a:t>
            </a:r>
            <a:endParaRPr lang="en-US" sz="1400" dirty="0"/>
          </a:p>
        </p:txBody>
      </p:sp>
      <p:sp>
        <p:nvSpPr>
          <p:cNvPr id="6" name="Text 4"/>
          <p:cNvSpPr txBox="1"/>
          <p:nvPr/>
        </p:nvSpPr>
        <p:spPr>
          <a:xfrm>
            <a:off x="2713558" y="1957085"/>
            <a:ext cx="209245" cy="159751"/>
          </a:xfrm>
          <a:prstGeom prst="rect">
            <a:avLst/>
          </a:prstGeom>
          <a:noFill/>
          <a:ln/>
        </p:spPr>
        <p:txBody>
          <a:bodyPr wrap="square" lIns="0" tIns="0" rIns="0" bIns="0" rtlCol="0" anchor="b"/>
          <a:lstStyle/>
          <a:p>
            <a:pPr marL="0" indent="0" algn="ctr">
              <a:buNone/>
            </a:pPr>
            <a:r>
              <a:rPr lang="en-US" sz="1600" b="1" dirty="0">
                <a:solidFill>
                  <a:srgbClr val="FFFFFF"/>
                </a:solidFill>
                <a:latin typeface="Cambria Math" pitchFamily="34" charset="0"/>
                <a:ea typeface="Cambria Math" pitchFamily="34" charset="-122"/>
                <a:cs typeface="Cambria Math" pitchFamily="34" charset="-120"/>
              </a:rPr>
              <a:t>t</a:t>
            </a:r>
            <a:endParaRPr lang="en-US" sz="1600" dirty="0"/>
          </a:p>
        </p:txBody>
      </p:sp>
      <p:sp>
        <p:nvSpPr>
          <p:cNvPr id="7" name="Shape 5"/>
          <p:cNvSpPr/>
          <p:nvPr/>
        </p:nvSpPr>
        <p:spPr>
          <a:xfrm>
            <a:off x="2750134" y="2136953"/>
            <a:ext cx="136093" cy="0"/>
          </a:xfrm>
          <a:prstGeom prst="line">
            <a:avLst/>
          </a:prstGeom>
          <a:noFill/>
          <a:ln w="15875">
            <a:solidFill>
              <a:srgbClr val="FFFFFF"/>
            </a:solidFill>
            <a:prstDash val="solid"/>
          </a:ln>
        </p:spPr>
      </p:sp>
      <p:sp>
        <p:nvSpPr>
          <p:cNvPr id="8" name="Text 6"/>
          <p:cNvSpPr txBox="1"/>
          <p:nvPr/>
        </p:nvSpPr>
        <p:spPr>
          <a:xfrm>
            <a:off x="2713558" y="2157984"/>
            <a:ext cx="209245" cy="159751"/>
          </a:xfrm>
          <a:prstGeom prst="rect">
            <a:avLst/>
          </a:prstGeom>
          <a:noFill/>
          <a:ln/>
        </p:spPr>
        <p:txBody>
          <a:bodyPr wrap="square" lIns="0" tIns="0" rIns="0" bIns="0" rtlCol="0" anchor="t"/>
          <a:lstStyle/>
          <a:p>
            <a:pPr marL="0" indent="0" algn="ctr">
              <a:buNone/>
            </a:pPr>
            <a:r>
              <a:rPr lang="en-US" sz="1600" b="1" dirty="0">
                <a:solidFill>
                  <a:srgbClr val="FFFFFF"/>
                </a:solidFill>
                <a:latin typeface="Cambria Math" pitchFamily="34" charset="0"/>
                <a:ea typeface="Cambria Math" pitchFamily="34" charset="-122"/>
                <a:cs typeface="Cambria Math" pitchFamily="34" charset="-120"/>
              </a:rPr>
              <a:t>d</a:t>
            </a:r>
            <a:endParaRPr lang="en-US" sz="1600" dirty="0"/>
          </a:p>
        </p:txBody>
      </p:sp>
      <p:sp>
        <p:nvSpPr>
          <p:cNvPr id="9" name="Text 7"/>
          <p:cNvSpPr txBox="1"/>
          <p:nvPr/>
        </p:nvSpPr>
        <p:spPr>
          <a:xfrm>
            <a:off x="2986811" y="2042287"/>
            <a:ext cx="99060" cy="19481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Math" pitchFamily="34" charset="0"/>
                <a:ea typeface="Cambria Math" pitchFamily="34" charset="-122"/>
                <a:cs typeface="Cambria Math" pitchFamily="34" charset="-120"/>
              </a:rPr>
              <a:t>≤</a:t>
            </a:r>
            <a:endParaRPr lang="en-US" sz="2000" dirty="0"/>
          </a:p>
        </p:txBody>
      </p:sp>
      <p:sp>
        <p:nvSpPr>
          <p:cNvPr id="10" name="Text 8"/>
          <p:cNvSpPr txBox="1"/>
          <p:nvPr/>
        </p:nvSpPr>
        <p:spPr>
          <a:xfrm>
            <a:off x="3149879" y="1957085"/>
            <a:ext cx="290474" cy="159751"/>
          </a:xfrm>
          <a:prstGeom prst="rect">
            <a:avLst/>
          </a:prstGeom>
          <a:noFill/>
          <a:ln/>
        </p:spPr>
        <p:txBody>
          <a:bodyPr wrap="square" lIns="0" tIns="0" rIns="0" bIns="0" rtlCol="0" anchor="b"/>
          <a:lstStyle/>
          <a:p>
            <a:pPr marL="0" indent="0" algn="ctr">
              <a:buNone/>
            </a:pPr>
            <a:r>
              <a:rPr lang="en-US" sz="1600" b="1" dirty="0">
                <a:solidFill>
                  <a:srgbClr val="FFFFFF"/>
                </a:solidFill>
                <a:latin typeface="Cambria Math" pitchFamily="34" charset="0"/>
                <a:ea typeface="Cambria Math" pitchFamily="34" charset="-122"/>
                <a:cs typeface="Cambria Math" pitchFamily="34" charset="-120"/>
              </a:rPr>
              <a:t>1</a:t>
            </a:r>
            <a:endParaRPr lang="en-US" sz="1600" dirty="0"/>
          </a:p>
        </p:txBody>
      </p:sp>
      <p:sp>
        <p:nvSpPr>
          <p:cNvPr id="11" name="Shape 9"/>
          <p:cNvSpPr/>
          <p:nvPr/>
        </p:nvSpPr>
        <p:spPr>
          <a:xfrm>
            <a:off x="3186455" y="2136953"/>
            <a:ext cx="217322" cy="0"/>
          </a:xfrm>
          <a:prstGeom prst="line">
            <a:avLst/>
          </a:prstGeom>
          <a:noFill/>
          <a:ln w="15875">
            <a:solidFill>
              <a:srgbClr val="FFFFFF"/>
            </a:solidFill>
            <a:prstDash val="solid"/>
          </a:ln>
        </p:spPr>
      </p:sp>
      <p:sp>
        <p:nvSpPr>
          <p:cNvPr id="12" name="Text 10"/>
          <p:cNvSpPr txBox="1"/>
          <p:nvPr/>
        </p:nvSpPr>
        <p:spPr>
          <a:xfrm>
            <a:off x="3149879" y="2157984"/>
            <a:ext cx="290474" cy="159751"/>
          </a:xfrm>
          <a:prstGeom prst="rect">
            <a:avLst/>
          </a:prstGeom>
          <a:noFill/>
          <a:ln/>
        </p:spPr>
        <p:txBody>
          <a:bodyPr wrap="square" lIns="0" tIns="0" rIns="0" bIns="0" rtlCol="0" anchor="t"/>
          <a:lstStyle/>
          <a:p>
            <a:pPr marL="0" indent="0" algn="ctr">
              <a:buNone/>
            </a:pPr>
            <a:r>
              <a:rPr lang="en-US" sz="1600" b="1" dirty="0">
                <a:solidFill>
                  <a:srgbClr val="FFFFFF"/>
                </a:solidFill>
                <a:latin typeface="Cambria Math" pitchFamily="34" charset="0"/>
                <a:ea typeface="Cambria Math" pitchFamily="34" charset="-122"/>
                <a:cs typeface="Cambria Math" pitchFamily="34" charset="-120"/>
              </a:rPr>
              <a:t>15</a:t>
            </a:r>
            <a:endParaRPr lang="en-US" sz="1600" dirty="0"/>
          </a:p>
        </p:txBody>
      </p:sp>
      <p:sp>
        <p:nvSpPr>
          <p:cNvPr id="13" name="Text 11"/>
          <p:cNvSpPr txBox="1"/>
          <p:nvPr/>
        </p:nvSpPr>
        <p:spPr>
          <a:xfrm>
            <a:off x="3504362" y="1990471"/>
            <a:ext cx="666978" cy="2754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Math" pitchFamily="34" charset="0"/>
                <a:ea typeface="Cambria Math" pitchFamily="34" charset="-122"/>
                <a:cs typeface="Cambria Math" pitchFamily="34" charset="-120"/>
              </a:rPr>
              <a:t>(thin)</a:t>
            </a:r>
            <a:endParaRPr lang="en-US" sz="2000" dirty="0"/>
          </a:p>
        </p:txBody>
      </p:sp>
      <p:sp>
        <p:nvSpPr>
          <p:cNvPr id="14" name="Shape 12"/>
          <p:cNvSpPr/>
          <p:nvPr/>
        </p:nvSpPr>
        <p:spPr>
          <a:xfrm>
            <a:off x="6135624" y="1481328"/>
            <a:ext cx="5440680" cy="1024128"/>
          </a:xfrm>
          <a:prstGeom prst="roundRect">
            <a:avLst>
              <a:gd name="adj" fmla="val 7143"/>
            </a:avLst>
          </a:prstGeom>
          <a:solidFill>
            <a:srgbClr val="2A3573"/>
          </a:solidFill>
          <a:ln/>
        </p:spPr>
      </p:sp>
      <p:sp>
        <p:nvSpPr>
          <p:cNvPr id="15" name="Text 13"/>
          <p:cNvSpPr txBox="1"/>
          <p:nvPr/>
        </p:nvSpPr>
        <p:spPr>
          <a:xfrm>
            <a:off x="6364224" y="1572768"/>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Hoop stress</a:t>
            </a:r>
            <a:endParaRPr lang="en-US" sz="1400" dirty="0"/>
          </a:p>
        </p:txBody>
      </p:sp>
      <p:sp>
        <p:nvSpPr>
          <p:cNvPr id="16" name="Text 14"/>
          <p:cNvSpPr txBox="1"/>
          <p:nvPr/>
        </p:nvSpPr>
        <p:spPr>
          <a:xfrm>
            <a:off x="8427491" y="2042287"/>
            <a:ext cx="586512"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σθ =</a:t>
            </a:r>
            <a:endParaRPr lang="en-US" dirty="0"/>
          </a:p>
        </p:txBody>
      </p:sp>
      <p:sp>
        <p:nvSpPr>
          <p:cNvPr id="17" name="Text 15"/>
          <p:cNvSpPr txBox="1"/>
          <p:nvPr/>
        </p:nvSpPr>
        <p:spPr>
          <a:xfrm>
            <a:off x="9078011" y="1957085"/>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Pd</a:t>
            </a:r>
            <a:endParaRPr lang="en-US" sz="1400" dirty="0"/>
          </a:p>
        </p:txBody>
      </p:sp>
      <p:sp>
        <p:nvSpPr>
          <p:cNvPr id="18" name="Shape 16"/>
          <p:cNvSpPr/>
          <p:nvPr/>
        </p:nvSpPr>
        <p:spPr>
          <a:xfrm>
            <a:off x="9114587" y="2136953"/>
            <a:ext cx="217322" cy="0"/>
          </a:xfrm>
          <a:prstGeom prst="line">
            <a:avLst/>
          </a:prstGeom>
          <a:noFill/>
          <a:ln w="15875">
            <a:solidFill>
              <a:srgbClr val="FFFFFF"/>
            </a:solidFill>
            <a:prstDash val="solid"/>
          </a:ln>
        </p:spPr>
      </p:sp>
      <p:sp>
        <p:nvSpPr>
          <p:cNvPr id="19" name="Text 17"/>
          <p:cNvSpPr txBox="1"/>
          <p:nvPr/>
        </p:nvSpPr>
        <p:spPr>
          <a:xfrm>
            <a:off x="9078011" y="2157984"/>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2t</a:t>
            </a:r>
            <a:endParaRPr lang="en-US" sz="1400" dirty="0"/>
          </a:p>
        </p:txBody>
      </p:sp>
      <p:sp>
        <p:nvSpPr>
          <p:cNvPr id="20" name="Shape 18"/>
          <p:cNvSpPr/>
          <p:nvPr/>
        </p:nvSpPr>
        <p:spPr>
          <a:xfrm>
            <a:off x="548640" y="2651760"/>
            <a:ext cx="5440680" cy="1024128"/>
          </a:xfrm>
          <a:prstGeom prst="roundRect">
            <a:avLst>
              <a:gd name="adj" fmla="val 7143"/>
            </a:avLst>
          </a:prstGeom>
          <a:solidFill>
            <a:srgbClr val="2A3573"/>
          </a:solidFill>
          <a:ln/>
        </p:spPr>
      </p:sp>
      <p:sp>
        <p:nvSpPr>
          <p:cNvPr id="21" name="Text 19"/>
          <p:cNvSpPr txBox="1"/>
          <p:nvPr/>
        </p:nvSpPr>
        <p:spPr>
          <a:xfrm>
            <a:off x="777240" y="2743200"/>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Longitudinal stress</a:t>
            </a:r>
            <a:endParaRPr lang="en-US" sz="1400" dirty="0"/>
          </a:p>
        </p:txBody>
      </p:sp>
      <p:sp>
        <p:nvSpPr>
          <p:cNvPr id="22" name="Text 20"/>
          <p:cNvSpPr txBox="1"/>
          <p:nvPr/>
        </p:nvSpPr>
        <p:spPr>
          <a:xfrm>
            <a:off x="2636520" y="3212719"/>
            <a:ext cx="531724" cy="194817"/>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σL =</a:t>
            </a:r>
            <a:endParaRPr lang="en-US" dirty="0"/>
          </a:p>
        </p:txBody>
      </p:sp>
      <p:sp>
        <p:nvSpPr>
          <p:cNvPr id="23" name="Text 21"/>
          <p:cNvSpPr txBox="1"/>
          <p:nvPr/>
        </p:nvSpPr>
        <p:spPr>
          <a:xfrm>
            <a:off x="3232252" y="3127517"/>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Pd</a:t>
            </a:r>
            <a:endParaRPr lang="en-US" sz="1400" dirty="0"/>
          </a:p>
        </p:txBody>
      </p:sp>
      <p:sp>
        <p:nvSpPr>
          <p:cNvPr id="24" name="Shape 22"/>
          <p:cNvSpPr/>
          <p:nvPr/>
        </p:nvSpPr>
        <p:spPr>
          <a:xfrm>
            <a:off x="3268828" y="3307385"/>
            <a:ext cx="217322" cy="0"/>
          </a:xfrm>
          <a:prstGeom prst="line">
            <a:avLst/>
          </a:prstGeom>
          <a:noFill/>
          <a:ln w="15875">
            <a:solidFill>
              <a:srgbClr val="FFFFFF"/>
            </a:solidFill>
            <a:prstDash val="solid"/>
          </a:ln>
        </p:spPr>
      </p:sp>
      <p:sp>
        <p:nvSpPr>
          <p:cNvPr id="25" name="Text 23"/>
          <p:cNvSpPr txBox="1"/>
          <p:nvPr/>
        </p:nvSpPr>
        <p:spPr>
          <a:xfrm>
            <a:off x="3232252" y="3328416"/>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4t</a:t>
            </a:r>
            <a:endParaRPr lang="en-US" sz="1400" dirty="0"/>
          </a:p>
        </p:txBody>
      </p:sp>
      <p:sp>
        <p:nvSpPr>
          <p:cNvPr id="26" name="Text 24"/>
          <p:cNvSpPr txBox="1"/>
          <p:nvPr/>
        </p:nvSpPr>
        <p:spPr>
          <a:xfrm>
            <a:off x="3586734" y="3212719"/>
            <a:ext cx="9906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a:t>
            </a:r>
            <a:endParaRPr lang="en-US" dirty="0"/>
          </a:p>
        </p:txBody>
      </p:sp>
      <p:sp>
        <p:nvSpPr>
          <p:cNvPr id="27" name="Text 25"/>
          <p:cNvSpPr txBox="1"/>
          <p:nvPr/>
        </p:nvSpPr>
        <p:spPr>
          <a:xfrm>
            <a:off x="3749802" y="3127517"/>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σθ</a:t>
            </a:r>
            <a:endParaRPr lang="en-US" sz="1400" dirty="0"/>
          </a:p>
        </p:txBody>
      </p:sp>
      <p:sp>
        <p:nvSpPr>
          <p:cNvPr id="28" name="Shape 26"/>
          <p:cNvSpPr/>
          <p:nvPr/>
        </p:nvSpPr>
        <p:spPr>
          <a:xfrm>
            <a:off x="3786378" y="3307385"/>
            <a:ext cx="217322" cy="0"/>
          </a:xfrm>
          <a:prstGeom prst="line">
            <a:avLst/>
          </a:prstGeom>
          <a:noFill/>
          <a:ln w="15875">
            <a:solidFill>
              <a:srgbClr val="FFFFFF"/>
            </a:solidFill>
            <a:prstDash val="solid"/>
          </a:ln>
        </p:spPr>
      </p:sp>
      <p:sp>
        <p:nvSpPr>
          <p:cNvPr id="29" name="Text 27"/>
          <p:cNvSpPr txBox="1"/>
          <p:nvPr/>
        </p:nvSpPr>
        <p:spPr>
          <a:xfrm>
            <a:off x="3749802" y="3328416"/>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2</a:t>
            </a:r>
            <a:endParaRPr lang="en-US" sz="1400" dirty="0"/>
          </a:p>
        </p:txBody>
      </p:sp>
      <p:sp>
        <p:nvSpPr>
          <p:cNvPr id="30" name="Shape 28"/>
          <p:cNvSpPr/>
          <p:nvPr/>
        </p:nvSpPr>
        <p:spPr>
          <a:xfrm>
            <a:off x="6135624" y="2651760"/>
            <a:ext cx="5440680" cy="1024128"/>
          </a:xfrm>
          <a:prstGeom prst="roundRect">
            <a:avLst>
              <a:gd name="adj" fmla="val 7143"/>
            </a:avLst>
          </a:prstGeom>
          <a:solidFill>
            <a:srgbClr val="2A3573"/>
          </a:solidFill>
          <a:ln/>
        </p:spPr>
      </p:sp>
      <p:sp>
        <p:nvSpPr>
          <p:cNvPr id="31" name="Text 29"/>
          <p:cNvSpPr txBox="1"/>
          <p:nvPr/>
        </p:nvSpPr>
        <p:spPr>
          <a:xfrm>
            <a:off x="6364224" y="2743200"/>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Max shear stress</a:t>
            </a:r>
            <a:endParaRPr lang="en-US" sz="1400" dirty="0"/>
          </a:p>
        </p:txBody>
      </p:sp>
      <p:sp>
        <p:nvSpPr>
          <p:cNvPr id="32" name="Text 30"/>
          <p:cNvSpPr txBox="1"/>
          <p:nvPr/>
        </p:nvSpPr>
        <p:spPr>
          <a:xfrm>
            <a:off x="8031480" y="3212719"/>
            <a:ext cx="87851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τmax =</a:t>
            </a:r>
            <a:endParaRPr lang="en-US" dirty="0"/>
          </a:p>
        </p:txBody>
      </p:sp>
      <p:sp>
        <p:nvSpPr>
          <p:cNvPr id="33" name="Text 31"/>
          <p:cNvSpPr txBox="1"/>
          <p:nvPr/>
        </p:nvSpPr>
        <p:spPr>
          <a:xfrm>
            <a:off x="8973998" y="3127517"/>
            <a:ext cx="696620"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σθ − σL</a:t>
            </a:r>
            <a:endParaRPr lang="en-US" sz="1400" dirty="0"/>
          </a:p>
        </p:txBody>
      </p:sp>
      <p:sp>
        <p:nvSpPr>
          <p:cNvPr id="34" name="Shape 32"/>
          <p:cNvSpPr/>
          <p:nvPr/>
        </p:nvSpPr>
        <p:spPr>
          <a:xfrm>
            <a:off x="9010574" y="3307385"/>
            <a:ext cx="623468" cy="0"/>
          </a:xfrm>
          <a:prstGeom prst="line">
            <a:avLst/>
          </a:prstGeom>
          <a:noFill/>
          <a:ln w="15875">
            <a:solidFill>
              <a:srgbClr val="FFFFFF"/>
            </a:solidFill>
            <a:prstDash val="solid"/>
          </a:ln>
        </p:spPr>
      </p:sp>
      <p:sp>
        <p:nvSpPr>
          <p:cNvPr id="35" name="Text 33"/>
          <p:cNvSpPr txBox="1"/>
          <p:nvPr/>
        </p:nvSpPr>
        <p:spPr>
          <a:xfrm>
            <a:off x="8973998" y="3328416"/>
            <a:ext cx="696620"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2</a:t>
            </a:r>
            <a:endParaRPr lang="en-US" sz="1400" dirty="0"/>
          </a:p>
        </p:txBody>
      </p:sp>
      <p:sp>
        <p:nvSpPr>
          <p:cNvPr id="36" name="Shape 34"/>
          <p:cNvSpPr/>
          <p:nvPr/>
        </p:nvSpPr>
        <p:spPr>
          <a:xfrm>
            <a:off x="548640" y="3822192"/>
            <a:ext cx="5440680" cy="1024128"/>
          </a:xfrm>
          <a:prstGeom prst="roundRect">
            <a:avLst>
              <a:gd name="adj" fmla="val 7143"/>
            </a:avLst>
          </a:prstGeom>
          <a:solidFill>
            <a:srgbClr val="2A3573"/>
          </a:solidFill>
          <a:ln/>
        </p:spPr>
      </p:sp>
      <p:sp>
        <p:nvSpPr>
          <p:cNvPr id="37" name="Text 35"/>
          <p:cNvSpPr txBox="1"/>
          <p:nvPr/>
        </p:nvSpPr>
        <p:spPr>
          <a:xfrm>
            <a:off x="777240" y="3913632"/>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Change in diameter</a:t>
            </a:r>
            <a:endParaRPr lang="en-US" sz="1400" dirty="0"/>
          </a:p>
        </p:txBody>
      </p:sp>
      <p:sp>
        <p:nvSpPr>
          <p:cNvPr id="38" name="Text 36"/>
          <p:cNvSpPr txBox="1"/>
          <p:nvPr/>
        </p:nvSpPr>
        <p:spPr>
          <a:xfrm>
            <a:off x="2325700" y="4383151"/>
            <a:ext cx="61242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δd =</a:t>
            </a:r>
            <a:endParaRPr lang="en-US" dirty="0"/>
          </a:p>
        </p:txBody>
      </p:sp>
      <p:sp>
        <p:nvSpPr>
          <p:cNvPr id="39" name="Text 37"/>
          <p:cNvSpPr txBox="1"/>
          <p:nvPr/>
        </p:nvSpPr>
        <p:spPr>
          <a:xfrm>
            <a:off x="3002128" y="4297949"/>
            <a:ext cx="37170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Pd²</a:t>
            </a:r>
            <a:endParaRPr lang="en-US" sz="1400" dirty="0"/>
          </a:p>
        </p:txBody>
      </p:sp>
      <p:sp>
        <p:nvSpPr>
          <p:cNvPr id="40" name="Shape 38"/>
          <p:cNvSpPr/>
          <p:nvPr/>
        </p:nvSpPr>
        <p:spPr>
          <a:xfrm>
            <a:off x="3038704" y="4477817"/>
            <a:ext cx="298552" cy="0"/>
          </a:xfrm>
          <a:prstGeom prst="line">
            <a:avLst/>
          </a:prstGeom>
          <a:noFill/>
          <a:ln w="15875">
            <a:solidFill>
              <a:srgbClr val="FFFFFF"/>
            </a:solidFill>
            <a:prstDash val="solid"/>
          </a:ln>
        </p:spPr>
      </p:sp>
      <p:sp>
        <p:nvSpPr>
          <p:cNvPr id="41" name="Text 39"/>
          <p:cNvSpPr txBox="1"/>
          <p:nvPr/>
        </p:nvSpPr>
        <p:spPr>
          <a:xfrm>
            <a:off x="3002128" y="4498848"/>
            <a:ext cx="37170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2tE</a:t>
            </a:r>
            <a:endParaRPr lang="en-US" sz="1400" dirty="0"/>
          </a:p>
        </p:txBody>
      </p:sp>
      <p:sp>
        <p:nvSpPr>
          <p:cNvPr id="42" name="Text 40"/>
          <p:cNvSpPr txBox="1"/>
          <p:nvPr/>
        </p:nvSpPr>
        <p:spPr>
          <a:xfrm>
            <a:off x="3403777" y="4369167"/>
            <a:ext cx="460247" cy="202833"/>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(1 −</a:t>
            </a:r>
            <a:endParaRPr lang="en-US" dirty="0"/>
          </a:p>
        </p:txBody>
      </p:sp>
      <p:sp>
        <p:nvSpPr>
          <p:cNvPr id="43" name="Text 41"/>
          <p:cNvSpPr txBox="1"/>
          <p:nvPr/>
        </p:nvSpPr>
        <p:spPr>
          <a:xfrm>
            <a:off x="3898087" y="4297949"/>
            <a:ext cx="209245"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ν</a:t>
            </a:r>
            <a:endParaRPr lang="en-US" sz="1400" dirty="0"/>
          </a:p>
        </p:txBody>
      </p:sp>
      <p:sp>
        <p:nvSpPr>
          <p:cNvPr id="44" name="Shape 42"/>
          <p:cNvSpPr/>
          <p:nvPr/>
        </p:nvSpPr>
        <p:spPr>
          <a:xfrm>
            <a:off x="3934663" y="4477817"/>
            <a:ext cx="136093" cy="0"/>
          </a:xfrm>
          <a:prstGeom prst="line">
            <a:avLst/>
          </a:prstGeom>
          <a:noFill/>
          <a:ln w="15875">
            <a:solidFill>
              <a:srgbClr val="FFFFFF"/>
            </a:solidFill>
            <a:prstDash val="solid"/>
          </a:ln>
        </p:spPr>
      </p:sp>
      <p:sp>
        <p:nvSpPr>
          <p:cNvPr id="45" name="Text 43"/>
          <p:cNvSpPr txBox="1"/>
          <p:nvPr/>
        </p:nvSpPr>
        <p:spPr>
          <a:xfrm>
            <a:off x="3898087" y="4498848"/>
            <a:ext cx="209245"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2</a:t>
            </a:r>
            <a:endParaRPr lang="en-US" sz="1400" dirty="0"/>
          </a:p>
        </p:txBody>
      </p:sp>
      <p:sp>
        <p:nvSpPr>
          <p:cNvPr id="46" name="Text 44"/>
          <p:cNvSpPr txBox="1"/>
          <p:nvPr/>
        </p:nvSpPr>
        <p:spPr>
          <a:xfrm>
            <a:off x="4171340" y="4383151"/>
            <a:ext cx="9906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a:t>
            </a:r>
            <a:endParaRPr lang="en-US" dirty="0"/>
          </a:p>
        </p:txBody>
      </p:sp>
      <p:sp>
        <p:nvSpPr>
          <p:cNvPr id="47" name="Shape 45"/>
          <p:cNvSpPr/>
          <p:nvPr/>
        </p:nvSpPr>
        <p:spPr>
          <a:xfrm>
            <a:off x="6135624" y="3822192"/>
            <a:ext cx="5440680" cy="1024128"/>
          </a:xfrm>
          <a:prstGeom prst="roundRect">
            <a:avLst>
              <a:gd name="adj" fmla="val 7143"/>
            </a:avLst>
          </a:prstGeom>
          <a:solidFill>
            <a:srgbClr val="2A3573"/>
          </a:solidFill>
          <a:ln/>
        </p:spPr>
      </p:sp>
      <p:sp>
        <p:nvSpPr>
          <p:cNvPr id="48" name="Text 46"/>
          <p:cNvSpPr txBox="1"/>
          <p:nvPr/>
        </p:nvSpPr>
        <p:spPr>
          <a:xfrm>
            <a:off x="6364224" y="3913632"/>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Change in volume</a:t>
            </a:r>
            <a:endParaRPr lang="en-US" sz="1400" dirty="0"/>
          </a:p>
        </p:txBody>
      </p:sp>
      <p:sp>
        <p:nvSpPr>
          <p:cNvPr id="49" name="Text 47"/>
          <p:cNvSpPr txBox="1"/>
          <p:nvPr/>
        </p:nvSpPr>
        <p:spPr>
          <a:xfrm>
            <a:off x="7985760" y="4383150"/>
            <a:ext cx="530428" cy="220843"/>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δV =</a:t>
            </a:r>
            <a:endParaRPr lang="en-US" dirty="0"/>
          </a:p>
        </p:txBody>
      </p:sp>
      <p:sp>
        <p:nvSpPr>
          <p:cNvPr id="50" name="Text 48"/>
          <p:cNvSpPr txBox="1"/>
          <p:nvPr/>
        </p:nvSpPr>
        <p:spPr>
          <a:xfrm>
            <a:off x="8580196" y="4297949"/>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Pd</a:t>
            </a:r>
            <a:endParaRPr lang="en-US" sz="1400" dirty="0"/>
          </a:p>
        </p:txBody>
      </p:sp>
      <p:sp>
        <p:nvSpPr>
          <p:cNvPr id="51" name="Shape 49"/>
          <p:cNvSpPr/>
          <p:nvPr/>
        </p:nvSpPr>
        <p:spPr>
          <a:xfrm>
            <a:off x="8616772" y="4477817"/>
            <a:ext cx="217322" cy="0"/>
          </a:xfrm>
          <a:prstGeom prst="line">
            <a:avLst/>
          </a:prstGeom>
          <a:noFill/>
          <a:ln w="15875">
            <a:solidFill>
              <a:srgbClr val="FFFFFF"/>
            </a:solidFill>
            <a:prstDash val="solid"/>
          </a:ln>
        </p:spPr>
      </p:sp>
      <p:sp>
        <p:nvSpPr>
          <p:cNvPr id="52" name="Text 50"/>
          <p:cNvSpPr txBox="1"/>
          <p:nvPr/>
        </p:nvSpPr>
        <p:spPr>
          <a:xfrm>
            <a:off x="8580196" y="4498848"/>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Et</a:t>
            </a:r>
            <a:endParaRPr lang="en-US" sz="1400" dirty="0"/>
          </a:p>
        </p:txBody>
      </p:sp>
      <p:sp>
        <p:nvSpPr>
          <p:cNvPr id="53" name="Text 51"/>
          <p:cNvSpPr txBox="1"/>
          <p:nvPr/>
        </p:nvSpPr>
        <p:spPr>
          <a:xfrm>
            <a:off x="8973998" y="4369167"/>
            <a:ext cx="9906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a:t>
            </a:r>
            <a:endParaRPr lang="en-US" dirty="0"/>
          </a:p>
        </p:txBody>
      </p:sp>
      <p:sp>
        <p:nvSpPr>
          <p:cNvPr id="54" name="Text 52"/>
          <p:cNvSpPr txBox="1"/>
          <p:nvPr/>
        </p:nvSpPr>
        <p:spPr>
          <a:xfrm>
            <a:off x="9097747" y="4297949"/>
            <a:ext cx="209245"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5</a:t>
            </a:r>
            <a:endParaRPr lang="en-US" sz="1400" dirty="0"/>
          </a:p>
        </p:txBody>
      </p:sp>
      <p:sp>
        <p:nvSpPr>
          <p:cNvPr id="55" name="Shape 53"/>
          <p:cNvSpPr/>
          <p:nvPr/>
        </p:nvSpPr>
        <p:spPr>
          <a:xfrm>
            <a:off x="9134323" y="4477817"/>
            <a:ext cx="136093" cy="0"/>
          </a:xfrm>
          <a:prstGeom prst="line">
            <a:avLst/>
          </a:prstGeom>
          <a:noFill/>
          <a:ln w="15875">
            <a:solidFill>
              <a:srgbClr val="FFFFFF"/>
            </a:solidFill>
            <a:prstDash val="solid"/>
          </a:ln>
        </p:spPr>
      </p:sp>
      <p:sp>
        <p:nvSpPr>
          <p:cNvPr id="56" name="Text 54"/>
          <p:cNvSpPr txBox="1"/>
          <p:nvPr/>
        </p:nvSpPr>
        <p:spPr>
          <a:xfrm>
            <a:off x="9097747" y="4498848"/>
            <a:ext cx="209245"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4</a:t>
            </a:r>
            <a:endParaRPr lang="en-US" sz="1400" dirty="0"/>
          </a:p>
        </p:txBody>
      </p:sp>
      <p:sp>
        <p:nvSpPr>
          <p:cNvPr id="57" name="Text 55"/>
          <p:cNvSpPr txBox="1"/>
          <p:nvPr/>
        </p:nvSpPr>
        <p:spPr>
          <a:xfrm>
            <a:off x="9347721" y="4360169"/>
            <a:ext cx="559308" cy="220827"/>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 ν)V</a:t>
            </a:r>
            <a:endParaRPr lang="en-US" dirty="0"/>
          </a:p>
        </p:txBody>
      </p:sp>
      <p:sp>
        <p:nvSpPr>
          <p:cNvPr id="58" name="Shape 56"/>
          <p:cNvSpPr/>
          <p:nvPr/>
        </p:nvSpPr>
        <p:spPr>
          <a:xfrm>
            <a:off x="548640" y="4992624"/>
            <a:ext cx="5440680" cy="1024128"/>
          </a:xfrm>
          <a:prstGeom prst="roundRect">
            <a:avLst>
              <a:gd name="adj" fmla="val 7143"/>
            </a:avLst>
          </a:prstGeom>
          <a:solidFill>
            <a:srgbClr val="2A3573"/>
          </a:solidFill>
          <a:ln/>
        </p:spPr>
      </p:sp>
      <p:sp>
        <p:nvSpPr>
          <p:cNvPr id="59" name="Text 57"/>
          <p:cNvSpPr txBox="1"/>
          <p:nvPr/>
        </p:nvSpPr>
        <p:spPr>
          <a:xfrm>
            <a:off x="777240" y="5084064"/>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Lame's equations</a:t>
            </a:r>
            <a:endParaRPr lang="en-US" sz="1400" dirty="0"/>
          </a:p>
        </p:txBody>
      </p:sp>
      <p:sp>
        <p:nvSpPr>
          <p:cNvPr id="60" name="Text 58"/>
          <p:cNvSpPr txBox="1"/>
          <p:nvPr/>
        </p:nvSpPr>
        <p:spPr>
          <a:xfrm>
            <a:off x="2012517" y="5530723"/>
            <a:ext cx="87371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σr = A −</a:t>
            </a:r>
            <a:endParaRPr lang="en-US" dirty="0"/>
          </a:p>
        </p:txBody>
      </p:sp>
      <p:sp>
        <p:nvSpPr>
          <p:cNvPr id="61" name="Text 59"/>
          <p:cNvSpPr txBox="1"/>
          <p:nvPr/>
        </p:nvSpPr>
        <p:spPr>
          <a:xfrm>
            <a:off x="2935072" y="5468381"/>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B</a:t>
            </a:r>
            <a:endParaRPr lang="en-US" sz="1400" dirty="0"/>
          </a:p>
        </p:txBody>
      </p:sp>
      <p:sp>
        <p:nvSpPr>
          <p:cNvPr id="62" name="Shape 60"/>
          <p:cNvSpPr/>
          <p:nvPr/>
        </p:nvSpPr>
        <p:spPr>
          <a:xfrm>
            <a:off x="2971648" y="5648249"/>
            <a:ext cx="217322" cy="0"/>
          </a:xfrm>
          <a:prstGeom prst="line">
            <a:avLst/>
          </a:prstGeom>
          <a:noFill/>
          <a:ln w="15875">
            <a:solidFill>
              <a:srgbClr val="FFFFFF"/>
            </a:solidFill>
            <a:prstDash val="solid"/>
          </a:ln>
        </p:spPr>
      </p:sp>
      <p:sp>
        <p:nvSpPr>
          <p:cNvPr id="63" name="Text 61"/>
          <p:cNvSpPr txBox="1"/>
          <p:nvPr/>
        </p:nvSpPr>
        <p:spPr>
          <a:xfrm>
            <a:off x="2935072" y="5669280"/>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r²</a:t>
            </a:r>
            <a:endParaRPr lang="en-US" sz="1400" dirty="0"/>
          </a:p>
        </p:txBody>
      </p:sp>
      <p:sp>
        <p:nvSpPr>
          <p:cNvPr id="64" name="Text 62"/>
          <p:cNvSpPr txBox="1"/>
          <p:nvPr/>
        </p:nvSpPr>
        <p:spPr>
          <a:xfrm>
            <a:off x="3289554" y="5553583"/>
            <a:ext cx="1089660" cy="194818"/>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  σθ = A +</a:t>
            </a:r>
            <a:endParaRPr lang="en-US" dirty="0"/>
          </a:p>
        </p:txBody>
      </p:sp>
      <p:sp>
        <p:nvSpPr>
          <p:cNvPr id="65" name="Text 63"/>
          <p:cNvSpPr txBox="1"/>
          <p:nvPr/>
        </p:nvSpPr>
        <p:spPr>
          <a:xfrm>
            <a:off x="4443222" y="5468381"/>
            <a:ext cx="290474"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B</a:t>
            </a:r>
            <a:endParaRPr lang="en-US" sz="1400" dirty="0"/>
          </a:p>
        </p:txBody>
      </p:sp>
      <p:sp>
        <p:nvSpPr>
          <p:cNvPr id="66" name="Shape 64"/>
          <p:cNvSpPr/>
          <p:nvPr/>
        </p:nvSpPr>
        <p:spPr>
          <a:xfrm>
            <a:off x="4479798" y="5648249"/>
            <a:ext cx="217322" cy="0"/>
          </a:xfrm>
          <a:prstGeom prst="line">
            <a:avLst/>
          </a:prstGeom>
          <a:noFill/>
          <a:ln w="15875">
            <a:solidFill>
              <a:srgbClr val="FFFFFF"/>
            </a:solidFill>
            <a:prstDash val="solid"/>
          </a:ln>
        </p:spPr>
      </p:sp>
      <p:sp>
        <p:nvSpPr>
          <p:cNvPr id="67" name="Text 65"/>
          <p:cNvSpPr txBox="1"/>
          <p:nvPr/>
        </p:nvSpPr>
        <p:spPr>
          <a:xfrm>
            <a:off x="4443222" y="5669280"/>
            <a:ext cx="290474"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r²</a:t>
            </a:r>
            <a:endParaRPr lang="en-US" sz="1400" dirty="0"/>
          </a:p>
        </p:txBody>
      </p:sp>
      <p:sp>
        <p:nvSpPr>
          <p:cNvPr id="68" name="Shape 66"/>
          <p:cNvSpPr/>
          <p:nvPr/>
        </p:nvSpPr>
        <p:spPr>
          <a:xfrm>
            <a:off x="6135624" y="4992624"/>
            <a:ext cx="5440680" cy="1024128"/>
          </a:xfrm>
          <a:prstGeom prst="roundRect">
            <a:avLst>
              <a:gd name="adj" fmla="val 7143"/>
            </a:avLst>
          </a:prstGeom>
          <a:solidFill>
            <a:srgbClr val="2A3573"/>
          </a:solidFill>
          <a:ln/>
        </p:spPr>
      </p:sp>
      <p:sp>
        <p:nvSpPr>
          <p:cNvPr id="69" name="Text 67"/>
          <p:cNvSpPr txBox="1"/>
          <p:nvPr/>
        </p:nvSpPr>
        <p:spPr>
          <a:xfrm>
            <a:off x="6364224" y="5084064"/>
            <a:ext cx="4983480" cy="256032"/>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Thick cyl. (internal P)</a:t>
            </a:r>
            <a:endParaRPr lang="en-US" sz="1400" dirty="0"/>
          </a:p>
        </p:txBody>
      </p:sp>
      <p:sp>
        <p:nvSpPr>
          <p:cNvPr id="70" name="Text 68"/>
          <p:cNvSpPr txBox="1"/>
          <p:nvPr/>
        </p:nvSpPr>
        <p:spPr>
          <a:xfrm>
            <a:off x="7863840" y="5553583"/>
            <a:ext cx="1154125" cy="74549"/>
          </a:xfrm>
          <a:prstGeom prst="rect">
            <a:avLst/>
          </a:prstGeom>
          <a:noFill/>
          <a:ln/>
        </p:spPr>
        <p:txBody>
          <a:bodyPr wrap="square" lIns="0" tIns="0" rIns="0" bIns="0" rtlCol="0" anchor="ctr"/>
          <a:lstStyle/>
          <a:p>
            <a:pPr marL="0" indent="0" algn="ctr">
              <a:buNone/>
            </a:pPr>
            <a:r>
              <a:rPr lang="en-US" b="1" dirty="0">
                <a:solidFill>
                  <a:srgbClr val="FFFFFF"/>
                </a:solidFill>
                <a:latin typeface="Cambria Math" pitchFamily="34" charset="0"/>
                <a:ea typeface="Cambria Math" pitchFamily="34" charset="-122"/>
                <a:cs typeface="Cambria Math" pitchFamily="34" charset="-120"/>
              </a:rPr>
              <a:t>σθ(max) =</a:t>
            </a:r>
            <a:endParaRPr lang="en-US" dirty="0"/>
          </a:p>
        </p:txBody>
      </p:sp>
      <p:sp>
        <p:nvSpPr>
          <p:cNvPr id="71" name="Text 69"/>
          <p:cNvSpPr txBox="1"/>
          <p:nvPr/>
        </p:nvSpPr>
        <p:spPr>
          <a:xfrm>
            <a:off x="9081973" y="5468381"/>
            <a:ext cx="777850" cy="159751"/>
          </a:xfrm>
          <a:prstGeom prst="rect">
            <a:avLst/>
          </a:prstGeom>
          <a:noFill/>
          <a:ln/>
        </p:spPr>
        <p:txBody>
          <a:bodyPr wrap="square" lIns="0" tIns="0" rIns="0" bIns="0" rtlCol="0" anchor="b"/>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P(a²+b²)</a:t>
            </a:r>
            <a:endParaRPr lang="en-US" sz="1400" dirty="0"/>
          </a:p>
        </p:txBody>
      </p:sp>
      <p:sp>
        <p:nvSpPr>
          <p:cNvPr id="72" name="Shape 70"/>
          <p:cNvSpPr/>
          <p:nvPr/>
        </p:nvSpPr>
        <p:spPr>
          <a:xfrm>
            <a:off x="9118549" y="5648249"/>
            <a:ext cx="704698" cy="0"/>
          </a:xfrm>
          <a:prstGeom prst="line">
            <a:avLst/>
          </a:prstGeom>
          <a:noFill/>
          <a:ln w="15875">
            <a:solidFill>
              <a:srgbClr val="FFFFFF"/>
            </a:solidFill>
            <a:prstDash val="solid"/>
          </a:ln>
        </p:spPr>
      </p:sp>
      <p:sp>
        <p:nvSpPr>
          <p:cNvPr id="73" name="Text 71"/>
          <p:cNvSpPr txBox="1"/>
          <p:nvPr/>
        </p:nvSpPr>
        <p:spPr>
          <a:xfrm>
            <a:off x="9081973" y="5669280"/>
            <a:ext cx="777850" cy="159751"/>
          </a:xfrm>
          <a:prstGeom prst="rect">
            <a:avLst/>
          </a:prstGeom>
          <a:noFill/>
          <a:ln/>
        </p:spPr>
        <p:txBody>
          <a:bodyPr wrap="square" lIns="0" tIns="0" rIns="0" bIns="0" rtlCol="0" anchor="t"/>
          <a:lstStyle/>
          <a:p>
            <a:pPr marL="0" indent="0" algn="ctr">
              <a:buNone/>
            </a:pPr>
            <a:r>
              <a:rPr lang="en-US" sz="1400" b="1" dirty="0">
                <a:solidFill>
                  <a:srgbClr val="FFFFFF"/>
                </a:solidFill>
                <a:latin typeface="Cambria Math" pitchFamily="34" charset="0"/>
                <a:ea typeface="Cambria Math" pitchFamily="34" charset="-122"/>
                <a:cs typeface="Cambria Math" pitchFamily="34" charset="-120"/>
              </a:rPr>
              <a:t>b²−a²</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6E5D917-C513-B327-4DB5-90384736F7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4CCAD35-6AC7-2973-980A-2B5B0646D94F}"/>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26F3A363-6087-D3C8-DCBE-173F6C7FAC94}"/>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1</a:t>
            </a:r>
            <a:endParaRPr lang="en-US" sz="2800" dirty="0"/>
          </a:p>
        </p:txBody>
      </p:sp>
      <mc:AlternateContent xmlns:mc="http://schemas.openxmlformats.org/markup-compatibility/2006">
        <mc:Choice xmlns:a14="http://schemas.microsoft.com/office/drawing/2010/main" Requires="a14">
          <p:sp>
            <p:nvSpPr>
              <p:cNvPr id="80" name="TextBox 79">
                <a:extLst>
                  <a:ext uri="{FF2B5EF4-FFF2-40B4-BE49-F238E27FC236}">
                    <a16:creationId xmlns:a16="http://schemas.microsoft.com/office/drawing/2014/main" id="{429A7FA0-AB2F-5929-B9BE-3F41317B036D}"/>
                  </a:ext>
                </a:extLst>
              </p:cNvPr>
              <p:cNvSpPr txBox="1"/>
              <p:nvPr/>
            </p:nvSpPr>
            <p:spPr>
              <a:xfrm>
                <a:off x="446003" y="1674301"/>
                <a:ext cx="11040447" cy="923330"/>
              </a:xfrm>
              <a:prstGeom prst="rect">
                <a:avLst/>
              </a:prstGeom>
              <a:noFill/>
            </p:spPr>
            <p:txBody>
              <a:bodyPr wrap="square">
                <a:spAutoFit/>
              </a:bodyPr>
              <a:lstStyle/>
              <a:p>
                <a:r>
                  <a:rPr lang="en-IN" dirty="0">
                    <a:effectLst/>
                    <a:latin typeface="Cambria" panose="02040503050406030204" pitchFamily="18" charset="0"/>
                    <a:ea typeface="Cambria" panose="02040503050406030204" pitchFamily="18" charset="0"/>
                  </a:rPr>
                  <a:t>A thin gas cylinder with an internal radius of </a:t>
                </a:r>
                <a14:m>
                  <m:oMath xmlns:m="http://schemas.openxmlformats.org/officeDocument/2006/math">
                    <m:r>
                      <a:rPr lang="en-IN" smtClean="0">
                        <a:latin typeface="Cambria Math" panose="02040503050406030204" pitchFamily="18" charset="0"/>
                      </a:rPr>
                      <m:t>100</m:t>
                    </m:r>
                    <m:r>
                      <m:rPr>
                        <m:nor/>
                      </m:rPr>
                      <a:rPr lang="en-IN" i="0">
                        <a:latin typeface="Cambria" panose="02040503050406030204" pitchFamily="18" charset="0"/>
                        <a:ea typeface="Cambria" panose="02040503050406030204" pitchFamily="18" charset="0"/>
                      </a:rPr>
                      <m:t> mm</m:t>
                    </m:r>
                    <m:r>
                      <m:rPr>
                        <m:nor/>
                      </m:rPr>
                      <a:rPr lang="en-US" b="0" i="0" smtClean="0">
                        <a:latin typeface="Cambria" panose="02040503050406030204" pitchFamily="18" charset="0"/>
                        <a:ea typeface="Cambria" panose="02040503050406030204" pitchFamily="18" charset="0"/>
                      </a:rPr>
                      <m:t> </m:t>
                    </m:r>
                  </m:oMath>
                </a14:m>
                <a:r>
                  <a:rPr lang="en-IN" dirty="0">
                    <a:effectLst/>
                    <a:latin typeface="Cambria" panose="02040503050406030204" pitchFamily="18" charset="0"/>
                    <a:ea typeface="Cambria" panose="02040503050406030204" pitchFamily="18" charset="0"/>
                  </a:rPr>
                  <a:t>is subject to an internal pressure of </a:t>
                </a:r>
                <a14:m>
                  <m:oMath xmlns:m="http://schemas.openxmlformats.org/officeDocument/2006/math">
                    <m:r>
                      <a:rPr lang="en-IN" smtClean="0">
                        <a:latin typeface="Cambria Math" panose="02040503050406030204" pitchFamily="18" charset="0"/>
                      </a:rPr>
                      <m:t>10</m:t>
                    </m:r>
                    <m:r>
                      <m:rPr>
                        <m:nor/>
                      </m:rPr>
                      <a:rPr lang="en-IN" i="0">
                        <a:latin typeface="Cambria" panose="02040503050406030204" pitchFamily="18" charset="0"/>
                        <a:ea typeface="Cambria" panose="02040503050406030204" pitchFamily="18" charset="0"/>
                      </a:rPr>
                      <m:t> MPa</m:t>
                    </m:r>
                  </m:oMath>
                </a14:m>
                <a:r>
                  <a:rPr lang="en-IN" dirty="0">
                    <a:effectLst/>
                    <a:latin typeface="Cambria" panose="02040503050406030204" pitchFamily="18" charset="0"/>
                    <a:ea typeface="Cambria" panose="02040503050406030204" pitchFamily="18" charset="0"/>
                  </a:rPr>
                  <a:t>. The maximum permissible working stress is restricted to </a:t>
                </a:r>
                <a14:m>
                  <m:oMath xmlns:m="http://schemas.openxmlformats.org/officeDocument/2006/math">
                    <m:r>
                      <a:rPr lang="en-IN" smtClean="0">
                        <a:latin typeface="Cambria Math" panose="02040503050406030204" pitchFamily="18" charset="0"/>
                      </a:rPr>
                      <m:t>100</m:t>
                    </m:r>
                    <m:r>
                      <m:rPr>
                        <m:nor/>
                      </m:rPr>
                      <a:rPr lang="en-IN" i="0">
                        <a:latin typeface="Cambria" panose="02040503050406030204" pitchFamily="18" charset="0"/>
                        <a:ea typeface="Cambria" panose="02040503050406030204" pitchFamily="18" charset="0"/>
                      </a:rPr>
                      <m:t> MPa</m:t>
                    </m:r>
                  </m:oMath>
                </a14:m>
                <a:r>
                  <a:rPr lang="en-IN" dirty="0">
                    <a:effectLst/>
                    <a:latin typeface="Cambria" panose="02040503050406030204" pitchFamily="18" charset="0"/>
                    <a:ea typeface="Cambria" panose="02040503050406030204" pitchFamily="18" charset="0"/>
                  </a:rPr>
                  <a:t>. The minimum cylinder wall thickness (in </a:t>
                </a:r>
                <a14:m>
                  <m:oMath xmlns:m="http://schemas.openxmlformats.org/officeDocument/2006/math">
                    <m:r>
                      <m:rPr>
                        <m:nor/>
                      </m:rPr>
                      <a:rPr lang="en-IN" i="0" smtClean="0">
                        <a:latin typeface="Cambria" panose="02040503050406030204" pitchFamily="18" charset="0"/>
                        <a:ea typeface="Cambria" panose="02040503050406030204" pitchFamily="18" charset="0"/>
                      </a:rPr>
                      <m:t>mm</m:t>
                    </m:r>
                  </m:oMath>
                </a14:m>
                <a:r>
                  <a:rPr lang="en-IN" dirty="0">
                    <a:effectLst/>
                    <a:latin typeface="Cambria" panose="02040503050406030204" pitchFamily="18" charset="0"/>
                    <a:ea typeface="Cambria" panose="02040503050406030204" pitchFamily="18" charset="0"/>
                  </a:rPr>
                  <a:t>) for safe design must be ________ kPa.</a:t>
                </a:r>
                <a:endParaRPr lang="en-IN" dirty="0">
                  <a:latin typeface="Cambria" panose="02040503050406030204" pitchFamily="18" charset="0"/>
                  <a:ea typeface="Cambria" panose="02040503050406030204" pitchFamily="18" charset="0"/>
                </a:endParaRPr>
              </a:p>
            </p:txBody>
          </p:sp>
        </mc:Choice>
        <mc:Fallback>
          <p:sp>
            <p:nvSpPr>
              <p:cNvPr id="80" name="TextBox 79">
                <a:extLst>
                  <a:ext uri="{FF2B5EF4-FFF2-40B4-BE49-F238E27FC236}">
                    <a16:creationId xmlns:a16="http://schemas.microsoft.com/office/drawing/2014/main" id="{429A7FA0-AB2F-5929-B9BE-3F41317B036D}"/>
                  </a:ext>
                </a:extLst>
              </p:cNvPr>
              <p:cNvSpPr txBox="1">
                <a:spLocks noRot="1" noChangeAspect="1" noMove="1" noResize="1" noEditPoints="1" noAdjustHandles="1" noChangeArrowheads="1" noChangeShapeType="1" noTextEdit="1"/>
              </p:cNvSpPr>
              <p:nvPr/>
            </p:nvSpPr>
            <p:spPr>
              <a:xfrm>
                <a:off x="446003" y="1674301"/>
                <a:ext cx="11040447" cy="923330"/>
              </a:xfrm>
              <a:prstGeom prst="rect">
                <a:avLst/>
              </a:prstGeom>
              <a:blipFill>
                <a:blip r:embed="rId3"/>
                <a:stretch>
                  <a:fillRect l="-442" t="-4636" b="-9272"/>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F073D60E-7D24-3683-0901-C3DCA578A587}"/>
              </a:ext>
            </a:extLst>
          </p:cNvPr>
          <p:cNvSpPr txBox="1"/>
          <p:nvPr/>
        </p:nvSpPr>
        <p:spPr>
          <a:xfrm>
            <a:off x="2432958" y="3215856"/>
            <a:ext cx="6097554" cy="1200329"/>
          </a:xfrm>
          <a:prstGeom prst="rect">
            <a:avLst/>
          </a:prstGeom>
          <a:noFill/>
        </p:spPr>
        <p:txBody>
          <a:bodyPr wrap="square">
            <a:spAutoFit/>
          </a:bodyPr>
          <a:lstStyle/>
          <a:p>
            <a:pPr marL="342900" indent="-342900">
              <a:buAutoNum type="alphaLcParenR"/>
            </a:pPr>
            <a:r>
              <a:rPr lang="en-IN" sz="1800" b="0" i="0" dirty="0">
                <a:solidFill>
                  <a:schemeClr val="tx1"/>
                </a:solidFill>
                <a:effectLst/>
                <a:latin typeface="Cambria" panose="02040503050406030204" pitchFamily="18" charset="0"/>
                <a:ea typeface="Cambria" panose="02040503050406030204" pitchFamily="18" charset="0"/>
              </a:rPr>
              <a:t>10 mm</a:t>
            </a:r>
          </a:p>
          <a:p>
            <a:pPr marL="342900" indent="-342900">
              <a:buAutoNum type="alphaLcParenR"/>
            </a:pPr>
            <a:r>
              <a:rPr lang="en-IN" dirty="0">
                <a:latin typeface="Cambria" panose="02040503050406030204" pitchFamily="18" charset="0"/>
                <a:ea typeface="Cambria" panose="02040503050406030204" pitchFamily="18" charset="0"/>
              </a:rPr>
              <a:t>12 mm</a:t>
            </a:r>
          </a:p>
          <a:p>
            <a:pPr marL="342900" indent="-342900">
              <a:buAutoNum type="alphaLcParenR"/>
            </a:pPr>
            <a:r>
              <a:rPr lang="en-IN" dirty="0">
                <a:latin typeface="Cambria" panose="02040503050406030204" pitchFamily="18" charset="0"/>
                <a:ea typeface="Cambria" panose="02040503050406030204" pitchFamily="18" charset="0"/>
              </a:rPr>
              <a:t>8 mm</a:t>
            </a:r>
          </a:p>
          <a:p>
            <a:pPr marL="342900" indent="-342900">
              <a:buAutoNum type="alphaLcParenR"/>
            </a:pPr>
            <a:r>
              <a:rPr lang="en-IN" dirty="0">
                <a:latin typeface="Cambria" panose="02040503050406030204" pitchFamily="18" charset="0"/>
                <a:ea typeface="Cambria" panose="02040503050406030204" pitchFamily="18" charset="0"/>
              </a:rPr>
              <a:t>15 mm</a:t>
            </a:r>
          </a:p>
        </p:txBody>
      </p:sp>
    </p:spTree>
    <p:extLst>
      <p:ext uri="{BB962C8B-B14F-4D97-AF65-F5344CB8AC3E}">
        <p14:creationId xmlns:p14="http://schemas.microsoft.com/office/powerpoint/2010/main" val="3804266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3EA8-D8A2-1D18-13CB-9C0AAE591C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7782A5-E74A-09BD-D9E7-563D99654808}"/>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3B38EE54-0ED1-20C7-1432-921EF0FB8316}"/>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2</a:t>
            </a:r>
            <a:endParaRPr lang="en-US" sz="2800" dirty="0"/>
          </a:p>
        </p:txBody>
      </p:sp>
      <p:sp>
        <p:nvSpPr>
          <p:cNvPr id="7" name="TextBox 6">
            <a:extLst>
              <a:ext uri="{FF2B5EF4-FFF2-40B4-BE49-F238E27FC236}">
                <a16:creationId xmlns:a16="http://schemas.microsoft.com/office/drawing/2014/main" id="{3AA384D6-D5B5-B580-2F99-12617BD45DED}"/>
              </a:ext>
            </a:extLst>
          </p:cNvPr>
          <p:cNvSpPr txBox="1"/>
          <p:nvPr/>
        </p:nvSpPr>
        <p:spPr>
          <a:xfrm>
            <a:off x="447869" y="1679911"/>
            <a:ext cx="11597951" cy="646331"/>
          </a:xfrm>
          <a:prstGeom prst="rect">
            <a:avLst/>
          </a:prstGeom>
          <a:noFill/>
        </p:spPr>
        <p:txBody>
          <a:bodyPr wrap="square">
            <a:spAutoFit/>
          </a:bodyPr>
          <a:lstStyle/>
          <a:p>
            <a:r>
              <a:rPr lang="en-IN">
                <a:latin typeface="Cambria" panose="02040503050406030204" pitchFamily="18" charset="0"/>
                <a:ea typeface="Cambria" panose="02040503050406030204" pitchFamily="18" charset="0"/>
              </a:rPr>
              <a:t>A thin cylinder of 100mm internal diameter and 5mm thickness is subjected to an internal pressure of 10 MPa and a torque of 2000 Nm. Calculate the magnitudes of the principal stresses.</a:t>
            </a:r>
            <a:endParaRPr lang="en-IN" dirty="0">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A5161CEB-6CB1-F166-7976-0294C91C5F2B}"/>
              </a:ext>
            </a:extLst>
          </p:cNvPr>
          <p:cNvSpPr txBox="1"/>
          <p:nvPr/>
        </p:nvSpPr>
        <p:spPr>
          <a:xfrm>
            <a:off x="2750198" y="3091533"/>
            <a:ext cx="6097554" cy="1200329"/>
          </a:xfrm>
          <a:prstGeom prst="rect">
            <a:avLst/>
          </a:prstGeom>
          <a:noFill/>
        </p:spPr>
        <p:txBody>
          <a:bodyPr wrap="square">
            <a:spAutoFit/>
          </a:bodyPr>
          <a:lstStyle/>
          <a:p>
            <a:pPr marL="342900" marR="0" lvl="0" indent="-342900" algn="l">
              <a:lnSpc>
                <a:spcPct val="100000"/>
              </a:lnSpc>
              <a:buFont typeface="+mj-lt"/>
              <a:buAutoNum type="alphaLcParenR"/>
            </a:pPr>
            <a:r>
              <a:rPr lang="en-IN" sz="1800" b="0" i="0" spc="0" dirty="0">
                <a:solidFill>
                  <a:schemeClr val="tx1"/>
                </a:solidFill>
                <a:effectLst/>
                <a:latin typeface="Cambria" panose="02040503050406030204" pitchFamily="18" charset="0"/>
                <a:ea typeface="Cambria" panose="02040503050406030204" pitchFamily="18" charset="0"/>
                <a:cs typeface="Rubik" pitchFamily="2" charset="-79"/>
              </a:rPr>
              <a:t>109.75 &amp; 40.25 MPa</a:t>
            </a:r>
          </a:p>
          <a:p>
            <a:pPr marL="342900" marR="0" lvl="0" indent="-342900" algn="l">
              <a:lnSpc>
                <a:spcPct val="100000"/>
              </a:lnSpc>
              <a:buFont typeface="+mj-lt"/>
              <a:buAutoNum type="alphaLcParenR"/>
            </a:pPr>
            <a:r>
              <a:rPr lang="en-IN" sz="1800" b="0" i="0" spc="0" dirty="0">
                <a:solidFill>
                  <a:schemeClr val="tx1"/>
                </a:solidFill>
                <a:effectLst/>
                <a:latin typeface="Cambria" panose="02040503050406030204" pitchFamily="18" charset="0"/>
                <a:ea typeface="Cambria" panose="02040503050406030204" pitchFamily="18" charset="0"/>
                <a:cs typeface="Rubik" pitchFamily="2" charset="-79"/>
              </a:rPr>
              <a:t>19.75 &amp; 40.25 MPa</a:t>
            </a:r>
          </a:p>
          <a:p>
            <a:pPr marL="342900" marR="0" lvl="0" indent="-342900" algn="l">
              <a:lnSpc>
                <a:spcPct val="100000"/>
              </a:lnSpc>
              <a:buFont typeface="+mj-lt"/>
              <a:buAutoNum type="alphaLcParenR"/>
            </a:pPr>
            <a:r>
              <a:rPr lang="en-IN" sz="1800" b="0" i="0" spc="0" dirty="0">
                <a:solidFill>
                  <a:schemeClr val="tx1"/>
                </a:solidFill>
                <a:effectLst/>
                <a:latin typeface="Cambria" panose="02040503050406030204" pitchFamily="18" charset="0"/>
                <a:ea typeface="Cambria" panose="02040503050406030204" pitchFamily="18" charset="0"/>
                <a:cs typeface="Rubik" pitchFamily="2" charset="-79"/>
              </a:rPr>
              <a:t>101.75 &amp; 41.25 MPa</a:t>
            </a:r>
          </a:p>
          <a:p>
            <a:pPr marL="342900" marR="0" lvl="0" indent="-342900" algn="l">
              <a:lnSpc>
                <a:spcPct val="100000"/>
              </a:lnSpc>
              <a:buFont typeface="+mj-lt"/>
              <a:buAutoNum type="alphaLcParenR"/>
            </a:pPr>
            <a:r>
              <a:rPr lang="en-IN" sz="1800" b="0" i="0" spc="0" dirty="0">
                <a:solidFill>
                  <a:schemeClr val="tx1"/>
                </a:solidFill>
                <a:effectLst/>
                <a:latin typeface="Cambria" panose="02040503050406030204" pitchFamily="18" charset="0"/>
                <a:ea typeface="Cambria" panose="02040503050406030204" pitchFamily="18" charset="0"/>
                <a:cs typeface="Rubik" pitchFamily="2" charset="-79"/>
              </a:rPr>
              <a:t>19.75 &amp; 44.25 MPa</a:t>
            </a:r>
            <a:endParaRPr lang="en-IN" sz="1500" b="0" i="0" spc="0" dirty="0">
              <a:solidFill>
                <a:srgbClr val="EB586F"/>
              </a:solidFill>
              <a:effectLst/>
              <a:latin typeface="Cambria" panose="02040503050406030204" pitchFamily="18" charset="0"/>
              <a:ea typeface="Cambria" panose="02040503050406030204" pitchFamily="18" charset="0"/>
              <a:cs typeface="Rubik" pitchFamily="2" charset="-79"/>
            </a:endParaRPr>
          </a:p>
        </p:txBody>
      </p:sp>
    </p:spTree>
    <p:extLst>
      <p:ext uri="{BB962C8B-B14F-4D97-AF65-F5344CB8AC3E}">
        <p14:creationId xmlns:p14="http://schemas.microsoft.com/office/powerpoint/2010/main" val="3680559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6647-3358-8617-F2FD-2408B5E285D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81471B-5051-CA4D-64CB-5F412813804D}"/>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46BF7175-D917-378E-6E9A-0F7CD1ECD0B6}"/>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3</a:t>
            </a:r>
            <a:endParaRPr lang="en-US" sz="2800" dirty="0"/>
          </a:p>
        </p:txBody>
      </p:sp>
      <p:sp>
        <p:nvSpPr>
          <p:cNvPr id="7" name="TextBox 6">
            <a:extLst>
              <a:ext uri="{FF2B5EF4-FFF2-40B4-BE49-F238E27FC236}">
                <a16:creationId xmlns:a16="http://schemas.microsoft.com/office/drawing/2014/main" id="{430DCA0D-5F52-DEA4-5222-FB7E7A69F66B}"/>
              </a:ext>
            </a:extLst>
          </p:cNvPr>
          <p:cNvSpPr txBox="1"/>
          <p:nvPr/>
        </p:nvSpPr>
        <p:spPr>
          <a:xfrm>
            <a:off x="452844" y="1676258"/>
            <a:ext cx="11211664" cy="1200329"/>
          </a:xfrm>
          <a:prstGeom prst="rect">
            <a:avLst/>
          </a:prstGeom>
          <a:noFill/>
        </p:spPr>
        <p:txBody>
          <a:bodyPr wrap="square">
            <a:spAutoFit/>
          </a:bodyPr>
          <a:lstStyle/>
          <a:p>
            <a:pPr algn="just"/>
            <a:r>
              <a:rPr lang="en-US" dirty="0">
                <a:latin typeface="Cambria" panose="02040503050406030204" pitchFamily="18" charset="0"/>
                <a:ea typeface="Cambria" panose="02040503050406030204" pitchFamily="18" charset="0"/>
              </a:rPr>
              <a:t>A thin-walled cylindrical pressure vessel has mean wall thickness of t and nominal radius of r. The Poisson's ratio of the wall material is 1/3. When it was subjected to some internal pressure, its nominal perimeter in the cylindrical portion increased by 0.1% and the corresponding wall thickness became t. The corresponding change in the wall thickness of the cylindrical portion, i.e. 100 x (t- t)/t, is ______________%.(round off to 3 decimal places).</a:t>
            </a:r>
            <a:endParaRPr lang="en-IN"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18C1E425-6433-BC1E-2A64-CC5E02F9F333}"/>
              </a:ext>
            </a:extLst>
          </p:cNvPr>
          <p:cNvSpPr txBox="1"/>
          <p:nvPr/>
        </p:nvSpPr>
        <p:spPr>
          <a:xfrm>
            <a:off x="2471478" y="3296451"/>
            <a:ext cx="2107821" cy="1200329"/>
          </a:xfrm>
          <a:prstGeom prst="rect">
            <a:avLst/>
          </a:prstGeom>
          <a:noFill/>
        </p:spPr>
        <p:txBody>
          <a:bodyPr wrap="none" rtlCol="0">
            <a:spAutoFit/>
          </a:bodyPr>
          <a:lstStyle/>
          <a:p>
            <a:pPr marL="342900" indent="-342900">
              <a:buAutoNum type="alphaLcParenR"/>
            </a:pPr>
            <a:r>
              <a:rPr lang="en-IN" dirty="0">
                <a:latin typeface="Cambria" panose="02040503050406030204" pitchFamily="18" charset="0"/>
                <a:ea typeface="Cambria" panose="02040503050406030204" pitchFamily="18" charset="0"/>
              </a:rPr>
              <a:t>-0.062 to -0.058</a:t>
            </a:r>
          </a:p>
          <a:p>
            <a:pPr marL="342900" indent="-342900">
              <a:buAutoNum type="alphaLcParenR"/>
            </a:pPr>
            <a:r>
              <a:rPr lang="en-IN" dirty="0">
                <a:latin typeface="Cambria" panose="02040503050406030204" pitchFamily="18" charset="0"/>
                <a:ea typeface="Cambria" panose="02040503050406030204" pitchFamily="18" charset="0"/>
              </a:rPr>
              <a:t> 0.062 to 0.058</a:t>
            </a:r>
          </a:p>
          <a:p>
            <a:pPr marL="342900" indent="-342900">
              <a:buAutoNum type="alphaLcParenR"/>
            </a:pPr>
            <a:r>
              <a:rPr lang="en-IN" dirty="0">
                <a:latin typeface="Cambria" panose="02040503050406030204" pitchFamily="18" charset="0"/>
                <a:ea typeface="Cambria" panose="02040503050406030204" pitchFamily="18" charset="0"/>
              </a:rPr>
              <a:t>-0.038 to -0.046</a:t>
            </a:r>
          </a:p>
          <a:p>
            <a:pPr marL="342900" indent="-342900">
              <a:buFontTx/>
              <a:buAutoNum type="alphaLcParenR"/>
            </a:pPr>
            <a:r>
              <a:rPr lang="en-IN" dirty="0">
                <a:latin typeface="Cambria" panose="02040503050406030204" pitchFamily="18" charset="0"/>
                <a:ea typeface="Cambria" panose="02040503050406030204" pitchFamily="18" charset="0"/>
              </a:rPr>
              <a:t> 0.038 to 0.046</a:t>
            </a:r>
          </a:p>
        </p:txBody>
      </p:sp>
    </p:spTree>
    <p:extLst>
      <p:ext uri="{BB962C8B-B14F-4D97-AF65-F5344CB8AC3E}">
        <p14:creationId xmlns:p14="http://schemas.microsoft.com/office/powerpoint/2010/main" val="975147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4F9F-8182-E6EE-9EA4-47AAAAB9D1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9A660C6-B164-A270-FF7D-09BB1C608CD3}"/>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2CF91538-6F63-8785-824D-256254AD767A}"/>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4</a:t>
            </a:r>
            <a:endParaRPr lang="en-US" sz="2800" dirty="0"/>
          </a:p>
        </p:txBody>
      </p:sp>
      <p:sp>
        <p:nvSpPr>
          <p:cNvPr id="7" name="TextBox 6">
            <a:extLst>
              <a:ext uri="{FF2B5EF4-FFF2-40B4-BE49-F238E27FC236}">
                <a16:creationId xmlns:a16="http://schemas.microsoft.com/office/drawing/2014/main" id="{81C48E76-8574-CA69-01E5-8A0BEB3B0429}"/>
              </a:ext>
            </a:extLst>
          </p:cNvPr>
          <p:cNvSpPr txBox="1"/>
          <p:nvPr/>
        </p:nvSpPr>
        <p:spPr>
          <a:xfrm>
            <a:off x="435739" y="1716492"/>
            <a:ext cx="7887167" cy="2031325"/>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The figure shows a thin-walled open-top cylindrical vessel of radius r and wall thickness t. The vessel is held along the brim and contains a constant-density liquid to height h from the base. Neglect atmospheric pressure, the weight of the vessel and bending stresses in the vessel walls.</a:t>
            </a:r>
          </a:p>
          <a:p>
            <a:pPr algn="just"/>
            <a:endParaRPr lang="en-IN" dirty="0">
              <a:latin typeface="Cambria" panose="02040503050406030204" pitchFamily="18" charset="0"/>
              <a:ea typeface="Cambria" panose="02040503050406030204" pitchFamily="18" charset="0"/>
            </a:endParaRPr>
          </a:p>
          <a:p>
            <a:pPr algn="just"/>
            <a:r>
              <a:rPr lang="en-IN" dirty="0">
                <a:latin typeface="Cambria" panose="02040503050406030204" pitchFamily="18" charset="0"/>
                <a:ea typeface="Cambria" panose="02040503050406030204" pitchFamily="18" charset="0"/>
              </a:rPr>
              <a:t>Which one of the plots depicts qualitatively CORRECT dependence of the magnitudes of axial wall stress (σ1) and circumferential wall stress (σ2) on y?</a:t>
            </a:r>
          </a:p>
        </p:txBody>
      </p:sp>
      <p:pic>
        <p:nvPicPr>
          <p:cNvPr id="5" name="Picture 4">
            <a:extLst>
              <a:ext uri="{FF2B5EF4-FFF2-40B4-BE49-F238E27FC236}">
                <a16:creationId xmlns:a16="http://schemas.microsoft.com/office/drawing/2014/main" id="{17CE3002-337F-D1F2-775F-CB9772A89919}"/>
              </a:ext>
            </a:extLst>
          </p:cNvPr>
          <p:cNvPicPr>
            <a:picLocks noChangeAspect="1"/>
          </p:cNvPicPr>
          <p:nvPr/>
        </p:nvPicPr>
        <p:blipFill>
          <a:blip r:embed="rId3"/>
          <a:stretch>
            <a:fillRect/>
          </a:stretch>
        </p:blipFill>
        <p:spPr>
          <a:xfrm>
            <a:off x="6965181" y="4902325"/>
            <a:ext cx="1944268" cy="1600133"/>
          </a:xfrm>
          <a:prstGeom prst="rect">
            <a:avLst/>
          </a:prstGeom>
        </p:spPr>
      </p:pic>
      <p:pic>
        <p:nvPicPr>
          <p:cNvPr id="8" name="Picture 7">
            <a:extLst>
              <a:ext uri="{FF2B5EF4-FFF2-40B4-BE49-F238E27FC236}">
                <a16:creationId xmlns:a16="http://schemas.microsoft.com/office/drawing/2014/main" id="{8B93735B-F049-BDCD-2C94-A9788EB22D25}"/>
              </a:ext>
            </a:extLst>
          </p:cNvPr>
          <p:cNvPicPr>
            <a:picLocks noChangeAspect="1"/>
          </p:cNvPicPr>
          <p:nvPr/>
        </p:nvPicPr>
        <p:blipFill>
          <a:blip r:embed="rId4"/>
          <a:stretch>
            <a:fillRect/>
          </a:stretch>
        </p:blipFill>
        <p:spPr>
          <a:xfrm>
            <a:off x="4856460" y="4902326"/>
            <a:ext cx="1895459" cy="1609245"/>
          </a:xfrm>
          <a:prstGeom prst="rect">
            <a:avLst/>
          </a:prstGeom>
        </p:spPr>
      </p:pic>
      <p:pic>
        <p:nvPicPr>
          <p:cNvPr id="10" name="Picture 9">
            <a:extLst>
              <a:ext uri="{FF2B5EF4-FFF2-40B4-BE49-F238E27FC236}">
                <a16:creationId xmlns:a16="http://schemas.microsoft.com/office/drawing/2014/main" id="{247082CF-6FE8-A40A-34DF-031867682E38}"/>
              </a:ext>
            </a:extLst>
          </p:cNvPr>
          <p:cNvPicPr>
            <a:picLocks noChangeAspect="1"/>
          </p:cNvPicPr>
          <p:nvPr/>
        </p:nvPicPr>
        <p:blipFill>
          <a:blip r:embed="rId5"/>
          <a:stretch>
            <a:fillRect/>
          </a:stretch>
        </p:blipFill>
        <p:spPr>
          <a:xfrm>
            <a:off x="8705390" y="1585073"/>
            <a:ext cx="3050870" cy="2876971"/>
          </a:xfrm>
          <a:prstGeom prst="rect">
            <a:avLst/>
          </a:prstGeom>
        </p:spPr>
      </p:pic>
      <p:pic>
        <p:nvPicPr>
          <p:cNvPr id="12" name="Picture 11">
            <a:extLst>
              <a:ext uri="{FF2B5EF4-FFF2-40B4-BE49-F238E27FC236}">
                <a16:creationId xmlns:a16="http://schemas.microsoft.com/office/drawing/2014/main" id="{106D50C7-0C4F-97DE-B40D-D39109FDBFFC}"/>
              </a:ext>
            </a:extLst>
          </p:cNvPr>
          <p:cNvPicPr>
            <a:picLocks noChangeAspect="1"/>
          </p:cNvPicPr>
          <p:nvPr/>
        </p:nvPicPr>
        <p:blipFill>
          <a:blip r:embed="rId6"/>
          <a:stretch>
            <a:fillRect/>
          </a:stretch>
        </p:blipFill>
        <p:spPr>
          <a:xfrm>
            <a:off x="2697317" y="4893214"/>
            <a:ext cx="1945882" cy="1609245"/>
          </a:xfrm>
          <a:prstGeom prst="rect">
            <a:avLst/>
          </a:prstGeom>
        </p:spPr>
      </p:pic>
      <p:pic>
        <p:nvPicPr>
          <p:cNvPr id="14" name="Picture 13">
            <a:extLst>
              <a:ext uri="{FF2B5EF4-FFF2-40B4-BE49-F238E27FC236}">
                <a16:creationId xmlns:a16="http://schemas.microsoft.com/office/drawing/2014/main" id="{B1EAF70C-66B7-E1EE-93EA-8DF43C8E294D}"/>
              </a:ext>
            </a:extLst>
          </p:cNvPr>
          <p:cNvPicPr>
            <a:picLocks noChangeAspect="1"/>
          </p:cNvPicPr>
          <p:nvPr/>
        </p:nvPicPr>
        <p:blipFill>
          <a:blip r:embed="rId7"/>
          <a:stretch>
            <a:fillRect/>
          </a:stretch>
        </p:blipFill>
        <p:spPr>
          <a:xfrm>
            <a:off x="536436" y="4893214"/>
            <a:ext cx="1948238" cy="1609245"/>
          </a:xfrm>
          <a:prstGeom prst="rect">
            <a:avLst/>
          </a:prstGeom>
        </p:spPr>
      </p:pic>
      <p:sp>
        <p:nvSpPr>
          <p:cNvPr id="15" name="TextBox 14">
            <a:extLst>
              <a:ext uri="{FF2B5EF4-FFF2-40B4-BE49-F238E27FC236}">
                <a16:creationId xmlns:a16="http://schemas.microsoft.com/office/drawing/2014/main" id="{E2117B53-BCB8-D4C7-2068-F84687722826}"/>
              </a:ext>
            </a:extLst>
          </p:cNvPr>
          <p:cNvSpPr txBox="1"/>
          <p:nvPr/>
        </p:nvSpPr>
        <p:spPr>
          <a:xfrm>
            <a:off x="158620" y="4982547"/>
            <a:ext cx="6949338"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a)                                         b)                                     c)                                     d)</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37484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F67F6-FD23-6DB7-67FD-31804C6C294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11C029-7504-CE45-0B12-1B7D9555F873}"/>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900B73E5-9005-0C28-7E02-57FEA0E8C076}"/>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5</a:t>
            </a:r>
            <a:endParaRPr lang="en-US" sz="2800" dirty="0"/>
          </a:p>
        </p:txBody>
      </p:sp>
      <p:sp>
        <p:nvSpPr>
          <p:cNvPr id="7" name="TextBox 6">
            <a:extLst>
              <a:ext uri="{FF2B5EF4-FFF2-40B4-BE49-F238E27FC236}">
                <a16:creationId xmlns:a16="http://schemas.microsoft.com/office/drawing/2014/main" id="{636E4EA7-8F25-93A4-47FF-42C0EDCA6C65}"/>
              </a:ext>
            </a:extLst>
          </p:cNvPr>
          <p:cNvSpPr txBox="1"/>
          <p:nvPr/>
        </p:nvSpPr>
        <p:spPr>
          <a:xfrm>
            <a:off x="429207" y="1721416"/>
            <a:ext cx="11355355" cy="1200329"/>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The figure shows a thin cylindrical pressure vessel constructed by welding plates together along a line that makes an angle a = 60° with the horizontal. The closed vessel has a wall thickness of 10 mm and diameter of 2 m. When subjected to an internal pressure of 200 kPa, the magnitude of the normal stress acting on the weld is _______________MPa (rounded off to 1 decimal place).</a:t>
            </a:r>
          </a:p>
        </p:txBody>
      </p:sp>
      <p:sp>
        <p:nvSpPr>
          <p:cNvPr id="5" name="TextBox 4">
            <a:extLst>
              <a:ext uri="{FF2B5EF4-FFF2-40B4-BE49-F238E27FC236}">
                <a16:creationId xmlns:a16="http://schemas.microsoft.com/office/drawing/2014/main" id="{7E2BE506-F6F3-4DAB-29CD-62835B50202F}"/>
              </a:ext>
            </a:extLst>
          </p:cNvPr>
          <p:cNvSpPr txBox="1"/>
          <p:nvPr/>
        </p:nvSpPr>
        <p:spPr>
          <a:xfrm>
            <a:off x="2703546" y="3337269"/>
            <a:ext cx="6097554" cy="1754326"/>
          </a:xfrm>
          <a:prstGeom prst="rect">
            <a:avLst/>
          </a:prstGeom>
          <a:noFill/>
        </p:spPr>
        <p:txBody>
          <a:bodyPr wrap="square">
            <a:spAutoFit/>
          </a:bodyPr>
          <a:lstStyle/>
          <a:p>
            <a:pPr marL="342900" indent="-342900">
              <a:buFontTx/>
              <a:buAutoNum type="alphaLcParenR"/>
            </a:pPr>
            <a:r>
              <a:rPr lang="en-IN" sz="1800" b="0" i="0" dirty="0">
                <a:solidFill>
                  <a:schemeClr val="tx1"/>
                </a:solidFill>
                <a:effectLst/>
                <a:latin typeface="Cambria" panose="02040503050406030204" pitchFamily="18" charset="0"/>
                <a:ea typeface="Cambria" panose="02040503050406030204" pitchFamily="18" charset="0"/>
              </a:rPr>
              <a:t>12.3 - </a:t>
            </a:r>
            <a:r>
              <a:rPr lang="en-IN" dirty="0">
                <a:latin typeface="Cambria" panose="02040503050406030204" pitchFamily="18" charset="0"/>
                <a:ea typeface="Cambria" panose="02040503050406030204" pitchFamily="18" charset="0"/>
              </a:rPr>
              <a:t>12.7</a:t>
            </a:r>
            <a:endParaRPr lang="en-IN" sz="1800" b="0" i="0" dirty="0">
              <a:solidFill>
                <a:schemeClr val="tx1"/>
              </a:solidFill>
              <a:effectLst/>
              <a:latin typeface="Cambria" panose="02040503050406030204" pitchFamily="18" charset="0"/>
              <a:ea typeface="Cambria" panose="02040503050406030204" pitchFamily="18" charset="0"/>
            </a:endParaRPr>
          </a:p>
          <a:p>
            <a:pPr marL="342900" indent="-342900">
              <a:buAutoNum type="alphaLcParenR"/>
            </a:pPr>
            <a:r>
              <a:rPr lang="en-IN" sz="1800" b="0" i="0" dirty="0">
                <a:solidFill>
                  <a:schemeClr val="tx1"/>
                </a:solidFill>
                <a:effectLst/>
                <a:latin typeface="Cambria" panose="02040503050406030204" pitchFamily="18" charset="0"/>
                <a:ea typeface="Cambria" panose="02040503050406030204" pitchFamily="18" charset="0"/>
              </a:rPr>
              <a:t>12.</a:t>
            </a:r>
            <a:r>
              <a:rPr lang="en-IN" dirty="0">
                <a:latin typeface="Cambria" panose="02040503050406030204" pitchFamily="18" charset="0"/>
                <a:ea typeface="Cambria" panose="02040503050406030204" pitchFamily="18" charset="0"/>
              </a:rPr>
              <a:t>0</a:t>
            </a:r>
            <a:r>
              <a:rPr lang="en-IN" sz="1800" b="0" i="0" dirty="0">
                <a:solidFill>
                  <a:schemeClr val="tx1"/>
                </a:solidFill>
                <a:effectLst/>
                <a:latin typeface="Cambria" panose="02040503050406030204" pitchFamily="18" charset="0"/>
                <a:ea typeface="Cambria" panose="02040503050406030204" pitchFamily="18" charset="0"/>
              </a:rPr>
              <a:t> - 12.2</a:t>
            </a:r>
          </a:p>
          <a:p>
            <a:pPr marL="342900" indent="-342900">
              <a:buAutoNum type="alphaLcParenR"/>
            </a:pPr>
            <a:r>
              <a:rPr lang="en-IN" dirty="0">
                <a:latin typeface="Cambria" panose="02040503050406030204" pitchFamily="18" charset="0"/>
                <a:ea typeface="Cambria" panose="02040503050406030204" pitchFamily="18" charset="0"/>
              </a:rPr>
              <a:t>11.5 – 11.7</a:t>
            </a:r>
          </a:p>
          <a:p>
            <a:pPr marL="342900" indent="-342900">
              <a:buAutoNum type="alphaLcParenR"/>
            </a:pPr>
            <a:r>
              <a:rPr lang="en-IN" sz="1800" b="0" i="0" dirty="0">
                <a:solidFill>
                  <a:schemeClr val="tx1"/>
                </a:solidFill>
                <a:effectLst/>
                <a:latin typeface="Cambria" panose="02040503050406030204" pitchFamily="18" charset="0"/>
                <a:ea typeface="Cambria" panose="02040503050406030204" pitchFamily="18" charset="0"/>
              </a:rPr>
              <a:t>13.3 – 13.5</a:t>
            </a:r>
          </a:p>
          <a:p>
            <a:pPr marL="342900" indent="-342900">
              <a:buAutoNum type="alphaLcParenR"/>
            </a:pPr>
            <a:endParaRPr lang="en-IN" sz="1800" b="0" i="0" dirty="0">
              <a:solidFill>
                <a:schemeClr val="tx1"/>
              </a:solidFill>
              <a:effectLst/>
              <a:latin typeface="Cambria" panose="02040503050406030204" pitchFamily="18" charset="0"/>
              <a:ea typeface="Cambria" panose="02040503050406030204" pitchFamily="18" charset="0"/>
            </a:endParaRPr>
          </a:p>
          <a:p>
            <a:pPr marL="342900" indent="-342900">
              <a:buAutoNum type="alphaLcParenR"/>
            </a:pPr>
            <a:endParaRPr lang="en-IN" dirty="0">
              <a:latin typeface="Cambria" panose="02040503050406030204" pitchFamily="18" charset="0"/>
              <a:ea typeface="Cambria" panose="02040503050406030204" pitchFamily="18" charset="0"/>
            </a:endParaRPr>
          </a:p>
        </p:txBody>
      </p:sp>
      <p:pic>
        <p:nvPicPr>
          <p:cNvPr id="6" name="Picture 5" descr="GATE ME 2024 Strength of Materials - Thin Cylinders Question 4 English">
            <a:extLst>
              <a:ext uri="{FF2B5EF4-FFF2-40B4-BE49-F238E27FC236}">
                <a16:creationId xmlns:a16="http://schemas.microsoft.com/office/drawing/2014/main" id="{01910E7F-F510-5C02-AD73-AE4CEA230EE2}"/>
              </a:ext>
            </a:extLst>
          </p:cNvPr>
          <p:cNvPicPr>
            <a:picLocks noChangeAspect="1"/>
          </p:cNvPicPr>
          <p:nvPr/>
        </p:nvPicPr>
        <p:blipFill>
          <a:blip r:embed="rId3"/>
          <a:stretch>
            <a:fillRect/>
          </a:stretch>
        </p:blipFill>
        <p:spPr>
          <a:xfrm>
            <a:off x="6547913" y="3497509"/>
            <a:ext cx="4734973" cy="2102328"/>
          </a:xfrm>
          <a:prstGeom prst="rect">
            <a:avLst/>
          </a:prstGeom>
        </p:spPr>
      </p:pic>
    </p:spTree>
    <p:extLst>
      <p:ext uri="{BB962C8B-B14F-4D97-AF65-F5344CB8AC3E}">
        <p14:creationId xmlns:p14="http://schemas.microsoft.com/office/powerpoint/2010/main" val="1720430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BCED-E9E4-AF42-9028-E3ABA91B48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000520-EBAE-E326-5304-49A79BCECDAC}"/>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C8B20B52-832D-6155-1867-22FEDE8C5793}"/>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6</a:t>
            </a:r>
            <a:endParaRPr lang="en-US" sz="2800" dirty="0"/>
          </a:p>
        </p:txBody>
      </p:sp>
      <p:sp>
        <p:nvSpPr>
          <p:cNvPr id="8" name="TextBox 7">
            <a:extLst>
              <a:ext uri="{FF2B5EF4-FFF2-40B4-BE49-F238E27FC236}">
                <a16:creationId xmlns:a16="http://schemas.microsoft.com/office/drawing/2014/main" id="{54BE094A-7694-6C44-0E90-8DB278B9B7A7}"/>
              </a:ext>
            </a:extLst>
          </p:cNvPr>
          <p:cNvSpPr txBox="1"/>
          <p:nvPr/>
        </p:nvSpPr>
        <p:spPr>
          <a:xfrm>
            <a:off x="457199" y="1749403"/>
            <a:ext cx="11262050" cy="1200329"/>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A cylindrical pressure vessel made of steel has diameter of 3 m and wall thickness of 15 mm. For steel, Young's modulus and Poisson's ratio are 210 </a:t>
            </a:r>
            <a:r>
              <a:rPr lang="en-IN" dirty="0" err="1">
                <a:latin typeface="Cambria" panose="02040503050406030204" pitchFamily="18" charset="0"/>
                <a:ea typeface="Cambria" panose="02040503050406030204" pitchFamily="18" charset="0"/>
              </a:rPr>
              <a:t>GPa</a:t>
            </a:r>
            <a:r>
              <a:rPr lang="en-IN" dirty="0">
                <a:latin typeface="Cambria" panose="02040503050406030204" pitchFamily="18" charset="0"/>
                <a:ea typeface="Cambria" panose="02040503050406030204" pitchFamily="18" charset="0"/>
              </a:rPr>
              <a:t> and 0.3, respectively. The cylinder is designed such that the allowable normal strain at the outer cylindrical surface is equal to 0.00034. The permissible pressure in the tank is ___________kPa (rounded off to 1 decimal place).</a:t>
            </a:r>
          </a:p>
        </p:txBody>
      </p:sp>
      <p:sp>
        <p:nvSpPr>
          <p:cNvPr id="5" name="TextBox 4">
            <a:extLst>
              <a:ext uri="{FF2B5EF4-FFF2-40B4-BE49-F238E27FC236}">
                <a16:creationId xmlns:a16="http://schemas.microsoft.com/office/drawing/2014/main" id="{AE84978C-9324-A699-59C1-118441F4017B}"/>
              </a:ext>
            </a:extLst>
          </p:cNvPr>
          <p:cNvSpPr txBox="1"/>
          <p:nvPr/>
        </p:nvSpPr>
        <p:spPr>
          <a:xfrm>
            <a:off x="2741333" y="3372617"/>
            <a:ext cx="6097554" cy="1200329"/>
          </a:xfrm>
          <a:prstGeom prst="rect">
            <a:avLst/>
          </a:prstGeom>
          <a:noFill/>
        </p:spPr>
        <p:txBody>
          <a:bodyPr wrap="square">
            <a:spAutoFit/>
          </a:bodyPr>
          <a:lstStyle/>
          <a:p>
            <a:pPr marL="342900" indent="-342900">
              <a:buAutoNum type="alphaLcParenR"/>
            </a:pPr>
            <a:r>
              <a:rPr lang="en-IN" sz="1800" b="0" i="0" dirty="0">
                <a:solidFill>
                  <a:schemeClr val="tx1"/>
                </a:solidFill>
                <a:effectLst/>
                <a:latin typeface="Cambria" panose="02040503050406030204" pitchFamily="18" charset="0"/>
                <a:ea typeface="Cambria" panose="02040503050406030204" pitchFamily="18" charset="0"/>
              </a:rPr>
              <a:t>840</a:t>
            </a:r>
          </a:p>
          <a:p>
            <a:pPr marL="342900" indent="-342900">
              <a:buAutoNum type="alphaLcParenR"/>
            </a:pPr>
            <a:r>
              <a:rPr lang="en-IN" dirty="0">
                <a:latin typeface="Cambria" panose="02040503050406030204" pitchFamily="18" charset="0"/>
                <a:ea typeface="Cambria" panose="02040503050406030204" pitchFamily="18" charset="0"/>
              </a:rPr>
              <a:t>820</a:t>
            </a:r>
          </a:p>
          <a:p>
            <a:pPr marL="342900" indent="-342900">
              <a:buAutoNum type="alphaLcParenR"/>
            </a:pPr>
            <a:r>
              <a:rPr lang="en-IN" dirty="0">
                <a:latin typeface="Cambria" panose="02040503050406030204" pitchFamily="18" charset="0"/>
                <a:ea typeface="Cambria" panose="02040503050406030204" pitchFamily="18" charset="0"/>
              </a:rPr>
              <a:t>760</a:t>
            </a:r>
          </a:p>
          <a:p>
            <a:pPr marL="342900" indent="-342900">
              <a:buAutoNum type="alphaLcParenR"/>
            </a:pPr>
            <a:r>
              <a:rPr lang="en-IN" dirty="0">
                <a:latin typeface="Cambria" panose="02040503050406030204" pitchFamily="18" charset="0"/>
                <a:ea typeface="Cambria" panose="02040503050406030204" pitchFamily="18" charset="0"/>
              </a:rPr>
              <a:t>880</a:t>
            </a:r>
          </a:p>
        </p:txBody>
      </p:sp>
    </p:spTree>
    <p:extLst>
      <p:ext uri="{BB962C8B-B14F-4D97-AF65-F5344CB8AC3E}">
        <p14:creationId xmlns:p14="http://schemas.microsoft.com/office/powerpoint/2010/main" val="1102884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D573C-0A1B-6927-A992-402E871FD4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D6A944-DB65-E02C-A4FA-3E9F70AA0A42}"/>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19E85F2D-8F7A-E170-40B9-461456EF4DDC}"/>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7</a:t>
            </a:r>
            <a:endParaRPr lang="en-US" sz="2800" dirty="0"/>
          </a:p>
        </p:txBody>
      </p:sp>
      <p:sp>
        <p:nvSpPr>
          <p:cNvPr id="6" name="TextBox 5">
            <a:extLst>
              <a:ext uri="{FF2B5EF4-FFF2-40B4-BE49-F238E27FC236}">
                <a16:creationId xmlns:a16="http://schemas.microsoft.com/office/drawing/2014/main" id="{00AD4197-4CAA-7DFA-F5AD-EA8C31F58DEA}"/>
              </a:ext>
            </a:extLst>
          </p:cNvPr>
          <p:cNvSpPr txBox="1"/>
          <p:nvPr/>
        </p:nvSpPr>
        <p:spPr>
          <a:xfrm>
            <a:off x="473995" y="1730660"/>
            <a:ext cx="11235924" cy="1200329"/>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A cylindrical container of radius R = 1m, wall thickness 1mm is filled with water </a:t>
            </a:r>
            <a:r>
              <a:rPr lang="en-IN" dirty="0" err="1">
                <a:latin typeface="Cambria" panose="02040503050406030204" pitchFamily="18" charset="0"/>
                <a:ea typeface="Cambria" panose="02040503050406030204" pitchFamily="18" charset="0"/>
              </a:rPr>
              <a:t>upto</a:t>
            </a:r>
            <a:r>
              <a:rPr lang="en-IN" dirty="0">
                <a:latin typeface="Cambria" panose="02040503050406030204" pitchFamily="18" charset="0"/>
                <a:ea typeface="Cambria" panose="02040503050406030204" pitchFamily="18" charset="0"/>
              </a:rPr>
              <a:t> a depth of 2m and suspended along with its upper rim. The density of water is 1000kg/m^3 and acceleration due to gravity is 10 m/s^2. The self weight of the cylinder is negligible. The formula for hoop stress in a thin walled cylinder can be used at all points along the height of the cylindrical container.</a:t>
            </a:r>
          </a:p>
        </p:txBody>
      </p:sp>
      <p:sp>
        <p:nvSpPr>
          <p:cNvPr id="5" name="TextBox 4">
            <a:extLst>
              <a:ext uri="{FF2B5EF4-FFF2-40B4-BE49-F238E27FC236}">
                <a16:creationId xmlns:a16="http://schemas.microsoft.com/office/drawing/2014/main" id="{EF715F52-EC6D-6581-6901-0C3ABE7BE799}"/>
              </a:ext>
            </a:extLst>
          </p:cNvPr>
          <p:cNvSpPr txBox="1"/>
          <p:nvPr/>
        </p:nvSpPr>
        <p:spPr>
          <a:xfrm>
            <a:off x="473995" y="3104043"/>
            <a:ext cx="5777515" cy="646331"/>
          </a:xfrm>
          <a:prstGeom prst="rect">
            <a:avLst/>
          </a:prstGeom>
          <a:noFill/>
        </p:spPr>
        <p:txBody>
          <a:bodyPr wrap="square">
            <a:spAutoFit/>
          </a:bodyPr>
          <a:lstStyle/>
          <a:p>
            <a:pPr algn="just"/>
            <a:r>
              <a:rPr lang="en-IN" sz="1800" b="0" i="0" dirty="0">
                <a:solidFill>
                  <a:schemeClr val="tx1"/>
                </a:solidFill>
                <a:effectLst/>
                <a:latin typeface="Cambria" panose="02040503050406030204" pitchFamily="18" charset="0"/>
                <a:ea typeface="Cambria" panose="02040503050406030204" pitchFamily="18" charset="0"/>
              </a:rPr>
              <a:t>The axial and circumferential stress  (</a:t>
            </a:r>
            <a:r>
              <a:rPr lang="en-IN" dirty="0" err="1"/>
              <a:t>σa</a:t>
            </a:r>
            <a:r>
              <a:rPr lang="en-IN" dirty="0"/>
              <a:t>, </a:t>
            </a:r>
            <a:r>
              <a:rPr lang="en-IN" dirty="0" err="1"/>
              <a:t>σc</a:t>
            </a:r>
            <a:r>
              <a:rPr lang="en-IN" dirty="0"/>
              <a:t>)</a:t>
            </a:r>
            <a:r>
              <a:rPr lang="en-IN" sz="1800" b="0" i="0" dirty="0">
                <a:solidFill>
                  <a:schemeClr val="tx1"/>
                </a:solidFill>
                <a:effectLst/>
                <a:latin typeface="Cambria" panose="02040503050406030204" pitchFamily="18" charset="0"/>
                <a:ea typeface="Cambria" panose="02040503050406030204" pitchFamily="18" charset="0"/>
              </a:rPr>
              <a:t> experienced by the cylinder wall a mid-depth (1m as shown) are</a:t>
            </a:r>
            <a:endParaRPr lang="en-IN"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6B0CAC74-9FC5-49B2-9A12-5D30DD83ED1A}"/>
              </a:ext>
            </a:extLst>
          </p:cNvPr>
          <p:cNvPicPr>
            <a:picLocks noChangeAspect="1"/>
          </p:cNvPicPr>
          <p:nvPr/>
        </p:nvPicPr>
        <p:blipFill>
          <a:blip r:embed="rId3"/>
          <a:stretch>
            <a:fillRect/>
          </a:stretch>
        </p:blipFill>
        <p:spPr>
          <a:xfrm>
            <a:off x="6583244" y="3104043"/>
            <a:ext cx="5029636" cy="3406435"/>
          </a:xfrm>
          <a:prstGeom prst="rect">
            <a:avLst/>
          </a:prstGeom>
        </p:spPr>
      </p:pic>
      <p:sp>
        <p:nvSpPr>
          <p:cNvPr id="9" name="TextBox 8">
            <a:extLst>
              <a:ext uri="{FF2B5EF4-FFF2-40B4-BE49-F238E27FC236}">
                <a16:creationId xmlns:a16="http://schemas.microsoft.com/office/drawing/2014/main" id="{5C7E8B1D-292B-A8E9-593D-D8473142F890}"/>
              </a:ext>
            </a:extLst>
          </p:cNvPr>
          <p:cNvSpPr txBox="1"/>
          <p:nvPr/>
        </p:nvSpPr>
        <p:spPr>
          <a:xfrm>
            <a:off x="1385802" y="4207095"/>
            <a:ext cx="1797608" cy="1200329"/>
          </a:xfrm>
          <a:prstGeom prst="rect">
            <a:avLst/>
          </a:prstGeom>
          <a:noFill/>
        </p:spPr>
        <p:txBody>
          <a:bodyPr wrap="none" rtlCol="0">
            <a:spAutoFit/>
          </a:bodyPr>
          <a:lstStyle/>
          <a:p>
            <a:pPr marL="342900" indent="-342900">
              <a:buAutoNum type="alphaLcParenR"/>
            </a:pPr>
            <a:r>
              <a:rPr lang="en-US" dirty="0">
                <a:latin typeface="Cambria" panose="02040503050406030204" pitchFamily="18" charset="0"/>
                <a:ea typeface="Cambria" panose="02040503050406030204" pitchFamily="18" charset="0"/>
              </a:rPr>
              <a:t>(10, 5) MPa</a:t>
            </a:r>
          </a:p>
          <a:p>
            <a:pPr marL="342900" indent="-342900">
              <a:buAutoNum type="alphaLcParenR"/>
            </a:pPr>
            <a:r>
              <a:rPr lang="en-US" dirty="0">
                <a:latin typeface="Cambria" panose="02040503050406030204" pitchFamily="18" charset="0"/>
                <a:ea typeface="Cambria" panose="02040503050406030204" pitchFamily="18" charset="0"/>
              </a:rPr>
              <a:t>(5, 10) MPa</a:t>
            </a:r>
          </a:p>
          <a:p>
            <a:pPr marL="342900" indent="-342900">
              <a:buAutoNum type="alphaLcParenR"/>
            </a:pPr>
            <a:r>
              <a:rPr lang="en-US" dirty="0">
                <a:latin typeface="Cambria" panose="02040503050406030204" pitchFamily="18" charset="0"/>
                <a:ea typeface="Cambria" panose="02040503050406030204" pitchFamily="18" charset="0"/>
              </a:rPr>
              <a:t>(5, 5) MPa</a:t>
            </a:r>
          </a:p>
          <a:p>
            <a:pPr marL="342900" indent="-342900">
              <a:buAutoNum type="alphaLcParenR"/>
            </a:pPr>
            <a:r>
              <a:rPr lang="en-US" dirty="0">
                <a:latin typeface="Cambria" panose="02040503050406030204" pitchFamily="18" charset="0"/>
                <a:ea typeface="Cambria" panose="02040503050406030204" pitchFamily="18" charset="0"/>
              </a:rPr>
              <a:t>(10, 10) MPa</a:t>
            </a:r>
          </a:p>
        </p:txBody>
      </p:sp>
    </p:spTree>
    <p:extLst>
      <p:ext uri="{BB962C8B-B14F-4D97-AF65-F5344CB8AC3E}">
        <p14:creationId xmlns:p14="http://schemas.microsoft.com/office/powerpoint/2010/main" val="2399159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118A-09E1-2E97-920F-BC9BE0E40B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05596F4-F9D7-195A-C9DB-AB246E7834D0}"/>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2AF39054-C59A-D030-1E44-79743E611BAD}"/>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8</a:t>
            </a:r>
            <a:endParaRPr lang="en-US" sz="2800" dirty="0"/>
          </a:p>
        </p:txBody>
      </p:sp>
      <p:sp>
        <p:nvSpPr>
          <p:cNvPr id="5" name="TextBox 4">
            <a:extLst>
              <a:ext uri="{FF2B5EF4-FFF2-40B4-BE49-F238E27FC236}">
                <a16:creationId xmlns:a16="http://schemas.microsoft.com/office/drawing/2014/main" id="{1B38395B-6B4A-DD7B-2267-11D5B3769089}"/>
              </a:ext>
            </a:extLst>
          </p:cNvPr>
          <p:cNvSpPr txBox="1"/>
          <p:nvPr/>
        </p:nvSpPr>
        <p:spPr>
          <a:xfrm>
            <a:off x="473995" y="1730660"/>
            <a:ext cx="11235924" cy="1200329"/>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A cylindrical container of radius R = 1m, wall thickness 1mm is filled with water </a:t>
            </a:r>
            <a:r>
              <a:rPr lang="en-IN" dirty="0" err="1">
                <a:latin typeface="Cambria" panose="02040503050406030204" pitchFamily="18" charset="0"/>
                <a:ea typeface="Cambria" panose="02040503050406030204" pitchFamily="18" charset="0"/>
              </a:rPr>
              <a:t>upto</a:t>
            </a:r>
            <a:r>
              <a:rPr lang="en-IN" dirty="0">
                <a:latin typeface="Cambria" panose="02040503050406030204" pitchFamily="18" charset="0"/>
                <a:ea typeface="Cambria" panose="02040503050406030204" pitchFamily="18" charset="0"/>
              </a:rPr>
              <a:t> a depth of 2m and suspended along with its upper rim. The density of water is 1000kg/m^3 and acceleration due to gravity is 10 m/s^2. The self weight of the cylinder is negligible. The formula for hoop stress in a thin walled cylinder can be used at all points along the height of the cylindrical container.</a:t>
            </a:r>
          </a:p>
        </p:txBody>
      </p:sp>
      <p:sp>
        <p:nvSpPr>
          <p:cNvPr id="6" name="TextBox 5">
            <a:extLst>
              <a:ext uri="{FF2B5EF4-FFF2-40B4-BE49-F238E27FC236}">
                <a16:creationId xmlns:a16="http://schemas.microsoft.com/office/drawing/2014/main" id="{97FDBA3B-CD69-8DDF-77B0-7EDF72A7AF9E}"/>
              </a:ext>
            </a:extLst>
          </p:cNvPr>
          <p:cNvSpPr txBox="1"/>
          <p:nvPr/>
        </p:nvSpPr>
        <p:spPr>
          <a:xfrm>
            <a:off x="473995" y="3132851"/>
            <a:ext cx="5721532" cy="923330"/>
          </a:xfrm>
          <a:prstGeom prst="rect">
            <a:avLst/>
          </a:prstGeom>
          <a:noFill/>
        </p:spPr>
        <p:txBody>
          <a:bodyPr wrap="square">
            <a:spAutoFit/>
          </a:bodyPr>
          <a:lstStyle/>
          <a:p>
            <a:pPr algn="just"/>
            <a:r>
              <a:rPr lang="en-IN" sz="1800" b="0" i="0" dirty="0">
                <a:solidFill>
                  <a:schemeClr val="tx1"/>
                </a:solidFill>
                <a:effectLst/>
                <a:latin typeface="Cambria" panose="02040503050406030204" pitchFamily="18" charset="0"/>
                <a:ea typeface="Cambria" panose="02040503050406030204" pitchFamily="18" charset="0"/>
              </a:rPr>
              <a:t>If the Young's modulus and Poisson's ratio of the container material are 100GPa and 0.3, respectively. The axial strain in the cylinder wall at mid height is</a:t>
            </a:r>
            <a:endParaRPr lang="en-IN"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466418D6-7C54-4F4D-04E1-92DB9E58A4F0}"/>
              </a:ext>
            </a:extLst>
          </p:cNvPr>
          <p:cNvPicPr>
            <a:picLocks noChangeAspect="1"/>
          </p:cNvPicPr>
          <p:nvPr/>
        </p:nvPicPr>
        <p:blipFill>
          <a:blip r:embed="rId3"/>
          <a:stretch>
            <a:fillRect/>
          </a:stretch>
        </p:blipFill>
        <p:spPr>
          <a:xfrm>
            <a:off x="6583244" y="3104043"/>
            <a:ext cx="5029636" cy="3406435"/>
          </a:xfrm>
          <a:prstGeom prst="rect">
            <a:avLst/>
          </a:prstGeom>
        </p:spPr>
      </p:pic>
      <p:sp>
        <p:nvSpPr>
          <p:cNvPr id="11" name="TextBox 10">
            <a:extLst>
              <a:ext uri="{FF2B5EF4-FFF2-40B4-BE49-F238E27FC236}">
                <a16:creationId xmlns:a16="http://schemas.microsoft.com/office/drawing/2014/main" id="{F66F0C1B-110C-123F-0EC2-E10AE35FF109}"/>
              </a:ext>
            </a:extLst>
          </p:cNvPr>
          <p:cNvSpPr txBox="1"/>
          <p:nvPr/>
        </p:nvSpPr>
        <p:spPr>
          <a:xfrm>
            <a:off x="1352939" y="4516017"/>
            <a:ext cx="1592103" cy="1477328"/>
          </a:xfrm>
          <a:prstGeom prst="rect">
            <a:avLst/>
          </a:prstGeom>
          <a:noFill/>
        </p:spPr>
        <p:txBody>
          <a:bodyPr wrap="none" rtlCol="0">
            <a:spAutoFit/>
          </a:bodyPr>
          <a:lstStyle/>
          <a:p>
            <a:pPr marL="342900" indent="-342900">
              <a:buAutoNum type="alphaLcParenR"/>
            </a:pPr>
            <a:r>
              <a:rPr lang="en-US" dirty="0">
                <a:latin typeface="Cambria" panose="02040503050406030204" pitchFamily="18" charset="0"/>
                <a:ea typeface="Cambria" panose="02040503050406030204" pitchFamily="18" charset="0"/>
              </a:rPr>
              <a:t>2 x 10^-5</a:t>
            </a:r>
          </a:p>
          <a:p>
            <a:pPr marL="342900" indent="-342900">
              <a:buFontTx/>
              <a:buAutoNum type="alphaLcParenR"/>
            </a:pPr>
            <a:r>
              <a:rPr lang="en-US" dirty="0">
                <a:latin typeface="Cambria" panose="02040503050406030204" pitchFamily="18" charset="0"/>
                <a:ea typeface="Cambria" panose="02040503050406030204" pitchFamily="18" charset="0"/>
              </a:rPr>
              <a:t>8 x 10^-5</a:t>
            </a:r>
            <a:endParaRPr lang="en-IN" dirty="0">
              <a:latin typeface="Cambria" panose="02040503050406030204" pitchFamily="18" charset="0"/>
              <a:ea typeface="Cambria" panose="02040503050406030204" pitchFamily="18" charset="0"/>
            </a:endParaRPr>
          </a:p>
          <a:p>
            <a:pPr marL="342900" indent="-342900">
              <a:buFontTx/>
              <a:buAutoNum type="alphaLcParenR"/>
            </a:pPr>
            <a:r>
              <a:rPr lang="en-US" dirty="0">
                <a:latin typeface="Cambria" panose="02040503050406030204" pitchFamily="18" charset="0"/>
                <a:ea typeface="Cambria" panose="02040503050406030204" pitchFamily="18" charset="0"/>
              </a:rPr>
              <a:t>12 x 10^-5</a:t>
            </a:r>
            <a:endParaRPr lang="en-IN" dirty="0">
              <a:latin typeface="Cambria" panose="02040503050406030204" pitchFamily="18" charset="0"/>
              <a:ea typeface="Cambria" panose="02040503050406030204" pitchFamily="18" charset="0"/>
            </a:endParaRPr>
          </a:p>
          <a:p>
            <a:pPr marL="342900" indent="-342900">
              <a:buFontTx/>
              <a:buAutoNum type="alphaLcParenR"/>
            </a:pPr>
            <a:r>
              <a:rPr lang="en-US" dirty="0">
                <a:latin typeface="Cambria" panose="02040503050406030204" pitchFamily="18" charset="0"/>
                <a:ea typeface="Cambria" panose="02040503050406030204" pitchFamily="18" charset="0"/>
              </a:rPr>
              <a:t>6 x 10^-5</a:t>
            </a:r>
            <a:endParaRPr lang="en-IN" dirty="0">
              <a:latin typeface="Cambria" panose="02040503050406030204" pitchFamily="18" charset="0"/>
              <a:ea typeface="Cambria" panose="02040503050406030204" pitchFamily="18" charset="0"/>
            </a:endParaRPr>
          </a:p>
          <a:p>
            <a:pPr marL="342900" indent="-342900">
              <a:buAutoNum type="alphaLcParenR"/>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28463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3BC7E-27CB-FC02-4A44-D573D54F4D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9B0C8F-1A2F-9FB8-5FC5-E0C767813D8A}"/>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3F1E5B2F-760E-F6D6-AE34-305C87589593}"/>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9</a:t>
            </a:r>
            <a:endParaRPr lang="en-US" sz="2800" dirty="0"/>
          </a:p>
        </p:txBody>
      </p:sp>
      <p:sp>
        <p:nvSpPr>
          <p:cNvPr id="5" name="TextBox 4">
            <a:extLst>
              <a:ext uri="{FF2B5EF4-FFF2-40B4-BE49-F238E27FC236}">
                <a16:creationId xmlns:a16="http://schemas.microsoft.com/office/drawing/2014/main" id="{8C5B7579-A698-9C47-8B63-C8DB9734D25D}"/>
              </a:ext>
            </a:extLst>
          </p:cNvPr>
          <p:cNvSpPr txBox="1"/>
          <p:nvPr/>
        </p:nvSpPr>
        <p:spPr>
          <a:xfrm>
            <a:off x="473995" y="1687582"/>
            <a:ext cx="11217262" cy="646331"/>
          </a:xfrm>
          <a:prstGeom prst="rect">
            <a:avLst/>
          </a:prstGeom>
          <a:noFill/>
        </p:spPr>
        <p:txBody>
          <a:bodyPr wrap="square">
            <a:spAutoFit/>
          </a:bodyPr>
          <a:lstStyle/>
          <a:p>
            <a:pPr algn="just"/>
            <a:r>
              <a:rPr lang="en-IN" sz="1800" b="0" i="0" dirty="0">
                <a:solidFill>
                  <a:schemeClr val="tx1"/>
                </a:solidFill>
                <a:effectLst/>
                <a:latin typeface="Cambria" panose="02040503050406030204" pitchFamily="18" charset="0"/>
                <a:ea typeface="Cambria" panose="02040503050406030204" pitchFamily="18" charset="0"/>
              </a:rPr>
              <a:t>A long thin walled cylindrical shell, closed at both the ends, is subjected to an internal pressure. The ratio of the hoop stress (circumferential stress) to longitudinal stress developed in the shell is</a:t>
            </a:r>
            <a:endParaRPr lang="en-IN"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86B55A6A-EFAA-E562-7C94-44B146FBC87B}"/>
              </a:ext>
            </a:extLst>
          </p:cNvPr>
          <p:cNvSpPr txBox="1"/>
          <p:nvPr/>
        </p:nvSpPr>
        <p:spPr>
          <a:xfrm>
            <a:off x="1623528" y="3051111"/>
            <a:ext cx="869149" cy="1323439"/>
          </a:xfrm>
          <a:prstGeom prst="rect">
            <a:avLst/>
          </a:prstGeom>
          <a:noFill/>
        </p:spPr>
        <p:txBody>
          <a:bodyPr wrap="none" rtlCol="0">
            <a:spAutoFit/>
          </a:bodyPr>
          <a:lstStyle/>
          <a:p>
            <a:pPr marL="342900" indent="-342900">
              <a:buAutoNum type="alphaLcParenR"/>
            </a:pPr>
            <a:r>
              <a:rPr lang="en-US" sz="2000" dirty="0">
                <a:latin typeface="Cambria" panose="02040503050406030204" pitchFamily="18" charset="0"/>
                <a:ea typeface="Cambria" panose="02040503050406030204" pitchFamily="18" charset="0"/>
              </a:rPr>
              <a:t>0.5</a:t>
            </a:r>
          </a:p>
          <a:p>
            <a:pPr marL="342900" indent="-342900">
              <a:buAutoNum type="alphaLcParenR"/>
            </a:pPr>
            <a:r>
              <a:rPr lang="en-US" sz="2000" dirty="0">
                <a:latin typeface="Cambria" panose="02040503050406030204" pitchFamily="18" charset="0"/>
                <a:ea typeface="Cambria" panose="02040503050406030204" pitchFamily="18" charset="0"/>
              </a:rPr>
              <a:t>1</a:t>
            </a:r>
          </a:p>
          <a:p>
            <a:pPr marL="342900" indent="-342900">
              <a:buAutoNum type="alphaLcParenR"/>
            </a:pPr>
            <a:r>
              <a:rPr lang="en-US" sz="2000" dirty="0">
                <a:latin typeface="Cambria" panose="02040503050406030204" pitchFamily="18" charset="0"/>
                <a:ea typeface="Cambria" panose="02040503050406030204" pitchFamily="18" charset="0"/>
              </a:rPr>
              <a:t>2</a:t>
            </a:r>
          </a:p>
          <a:p>
            <a:pPr marL="342900" indent="-342900">
              <a:buAutoNum type="alphaLcParenR"/>
            </a:pPr>
            <a:r>
              <a:rPr lang="en-US" sz="2000" dirty="0">
                <a:latin typeface="Cambria" panose="02040503050406030204" pitchFamily="18" charset="0"/>
                <a:ea typeface="Cambria" panose="02040503050406030204" pitchFamily="18" charset="0"/>
              </a:rPr>
              <a:t>4</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2652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134A8-8097-8ED2-AD0C-D709E646C7D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15811B5-1F29-1C3F-2C7F-548EA80BE917}"/>
              </a:ext>
            </a:extLst>
          </p:cNvPr>
          <p:cNvSpPr/>
          <p:nvPr/>
        </p:nvSpPr>
        <p:spPr>
          <a:xfrm>
            <a:off x="0" y="0"/>
            <a:ext cx="12192000" cy="1234440"/>
          </a:xfrm>
          <a:prstGeom prst="rect">
            <a:avLst/>
          </a:prstGeom>
          <a:gradFill>
            <a:gsLst>
              <a:gs pos="0">
                <a:srgbClr val="002060"/>
              </a:gs>
              <a:gs pos="100000">
                <a:srgbClr val="000E2A"/>
              </a:gs>
            </a:gsLst>
            <a:lin ang="2700000" scaled="0"/>
          </a:gradFill>
          <a:ln/>
        </p:spPr>
      </p:sp>
      <p:sp>
        <p:nvSpPr>
          <p:cNvPr id="4" name="Text 2">
            <a:extLst>
              <a:ext uri="{FF2B5EF4-FFF2-40B4-BE49-F238E27FC236}">
                <a16:creationId xmlns:a16="http://schemas.microsoft.com/office/drawing/2014/main" id="{3B9383B0-D969-DB79-606D-7C9FEA2F31EF}"/>
              </a:ext>
            </a:extLst>
          </p:cNvPr>
          <p:cNvSpPr txBox="1"/>
          <p:nvPr/>
        </p:nvSpPr>
        <p:spPr>
          <a:xfrm>
            <a:off x="548640" y="253043"/>
            <a:ext cx="1106424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GATE QUESTION 10</a:t>
            </a:r>
            <a:endParaRPr lang="en-US" sz="2800" dirty="0"/>
          </a:p>
        </p:txBody>
      </p:sp>
      <p:sp>
        <p:nvSpPr>
          <p:cNvPr id="5" name="TextBox 4">
            <a:extLst>
              <a:ext uri="{FF2B5EF4-FFF2-40B4-BE49-F238E27FC236}">
                <a16:creationId xmlns:a16="http://schemas.microsoft.com/office/drawing/2014/main" id="{ED230A3C-7FAA-A2EF-EC18-9F46A6801732}"/>
              </a:ext>
            </a:extLst>
          </p:cNvPr>
          <p:cNvSpPr txBox="1"/>
          <p:nvPr/>
        </p:nvSpPr>
        <p:spPr>
          <a:xfrm>
            <a:off x="475860" y="1658330"/>
            <a:ext cx="11137019" cy="923330"/>
          </a:xfrm>
          <a:prstGeom prst="rect">
            <a:avLst/>
          </a:prstGeom>
          <a:noFill/>
        </p:spPr>
        <p:txBody>
          <a:bodyPr wrap="square">
            <a:spAutoFit/>
          </a:bodyPr>
          <a:lstStyle/>
          <a:p>
            <a:pPr algn="just"/>
            <a:r>
              <a:rPr lang="en-IN" sz="1800" b="0" i="0" dirty="0">
                <a:solidFill>
                  <a:schemeClr val="tx1"/>
                </a:solidFill>
                <a:effectLst/>
                <a:latin typeface="Cambria" panose="02040503050406030204" pitchFamily="18" charset="0"/>
                <a:ea typeface="Cambria" panose="02040503050406030204" pitchFamily="18" charset="0"/>
              </a:rPr>
              <a:t>A cylindrical tank with closed ends is filled with compressed air at a pressure of 500KPa. The inner radius of the tank is 2m and it has wall thickness of 10mm The magnitude of maximum in-plane shear stress (in MPa) is ________</a:t>
            </a:r>
            <a:endParaRPr lang="en-IN"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7332853B-C5EA-E2FC-D520-EBC78142A14F}"/>
              </a:ext>
            </a:extLst>
          </p:cNvPr>
          <p:cNvSpPr txBox="1"/>
          <p:nvPr/>
        </p:nvSpPr>
        <p:spPr>
          <a:xfrm>
            <a:off x="1595534" y="3030452"/>
            <a:ext cx="816249" cy="1323439"/>
          </a:xfrm>
          <a:prstGeom prst="rect">
            <a:avLst/>
          </a:prstGeom>
          <a:noFill/>
        </p:spPr>
        <p:txBody>
          <a:bodyPr wrap="none" rtlCol="0">
            <a:spAutoFit/>
          </a:bodyPr>
          <a:lstStyle/>
          <a:p>
            <a:pPr marL="342900" indent="-342900">
              <a:buAutoNum type="alphaLcParenR"/>
            </a:pPr>
            <a:r>
              <a:rPr lang="en-IN" sz="2000" dirty="0">
                <a:latin typeface="Cambria" panose="02040503050406030204" pitchFamily="18" charset="0"/>
                <a:ea typeface="Cambria" panose="02040503050406030204" pitchFamily="18" charset="0"/>
              </a:rPr>
              <a:t>25</a:t>
            </a:r>
          </a:p>
          <a:p>
            <a:pPr marL="342900" indent="-342900">
              <a:buAutoNum type="alphaLcParenR"/>
            </a:pPr>
            <a:r>
              <a:rPr lang="en-IN" sz="2000" dirty="0">
                <a:latin typeface="Cambria" panose="02040503050406030204" pitchFamily="18" charset="0"/>
                <a:ea typeface="Cambria" panose="02040503050406030204" pitchFamily="18" charset="0"/>
              </a:rPr>
              <a:t>45</a:t>
            </a:r>
          </a:p>
          <a:p>
            <a:pPr marL="342900" indent="-342900">
              <a:buAutoNum type="alphaLcParenR"/>
            </a:pPr>
            <a:r>
              <a:rPr lang="en-IN" sz="2000" dirty="0">
                <a:latin typeface="Cambria" panose="02040503050406030204" pitchFamily="18" charset="0"/>
                <a:ea typeface="Cambria" panose="02040503050406030204" pitchFamily="18" charset="0"/>
              </a:rPr>
              <a:t>30</a:t>
            </a:r>
          </a:p>
          <a:p>
            <a:pPr marL="342900" indent="-342900">
              <a:buAutoNum type="alphaLcParenR"/>
            </a:pPr>
            <a:r>
              <a:rPr lang="en-IN" sz="2000" dirty="0">
                <a:latin typeface="Cambria" panose="02040503050406030204" pitchFamily="18" charset="0"/>
                <a:ea typeface="Cambria" panose="02040503050406030204" pitchFamily="18" charset="0"/>
              </a:rPr>
              <a:t>10</a:t>
            </a:r>
          </a:p>
        </p:txBody>
      </p:sp>
    </p:spTree>
    <p:extLst>
      <p:ext uri="{BB962C8B-B14F-4D97-AF65-F5344CB8AC3E}">
        <p14:creationId xmlns:p14="http://schemas.microsoft.com/office/powerpoint/2010/main" val="3769733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96</TotalTime>
  <Words>2216</Words>
  <Application>Microsoft Office PowerPoint</Application>
  <PresentationFormat>Widescreen</PresentationFormat>
  <Paragraphs>410</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2204caleb2007@gmail.com</cp:lastModifiedBy>
  <cp:revision>5</cp:revision>
  <dcterms:created xsi:type="dcterms:W3CDTF">2026-08-28T09:06:39Z</dcterms:created>
  <dcterms:modified xsi:type="dcterms:W3CDTF">2026-08-29T14:22:26Z</dcterms:modified>
</cp:coreProperties>
</file>